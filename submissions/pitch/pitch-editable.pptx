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1472cbccd0f46a4" /><Relationship Type="http://schemas.openxmlformats.org/officeDocument/2006/relationships/extended-properties" Target="/docProps/app.xml" Id="Rb24cfcdc1f0b4df9" /><Relationship Type="http://schemas.openxmlformats.org/officeDocument/2006/relationships/officeDocument" Target="/ppt/presentation.xml" Id="Red5905c82b064551" /></Relationships>
</file>

<file path=ppt/presentation.xml><?xml version="1.0" encoding="utf-8"?>
<p:presentation xmlns:p="http://schemas.openxmlformats.org/presentationml/2006/main">
  <p:sldMasterIdLst>
    <p:sldMasterId xmlns:r="http://schemas.openxmlformats.org/officeDocument/2006/relationships" id="2147483648" r:id="Reeb124c1bf334d01"/>
  </p:sldMasterIdLst>
  <p:notesMasterIdLst>
    <p:notesMasterId xmlns:r="http://schemas.openxmlformats.org/officeDocument/2006/relationships" r:id="R95f541fcda6647ba"/>
  </p:notesMasterIdLst>
  <p:sldIdLst>
    <p:sldId xmlns:r="http://schemas.openxmlformats.org/officeDocument/2006/relationships" id="256" r:id="Rd560c23864ba47d3"/>
    <p:sldId xmlns:r="http://schemas.openxmlformats.org/officeDocument/2006/relationships" id="257" r:id="Ra8ff1ba2e7d14078"/>
    <p:sldId xmlns:r="http://schemas.openxmlformats.org/officeDocument/2006/relationships" id="258" r:id="R3a23deec2b544a1c"/>
    <p:sldId xmlns:r="http://schemas.openxmlformats.org/officeDocument/2006/relationships" id="259" r:id="R0fabc190a12e4c46"/>
    <p:sldId xmlns:r="http://schemas.openxmlformats.org/officeDocument/2006/relationships" id="260" r:id="Rf28e243fa24340bc"/>
    <p:sldId xmlns:r="http://schemas.openxmlformats.org/officeDocument/2006/relationships" id="261" r:id="R5b59a9299c9d475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0d652880197426f" /><Relationship Type="http://schemas.openxmlformats.org/officeDocument/2006/relationships/slideMaster" Target="/ppt/slideMasters/slideMaster1.xml" Id="Reeb124c1bf334d01" /><Relationship Type="http://schemas.openxmlformats.org/officeDocument/2006/relationships/notesMaster" Target="/ppt/notesMasters/notesMaster1.xml" Id="R95f541fcda6647ba" /><Relationship Type="http://schemas.openxmlformats.org/officeDocument/2006/relationships/presProps" Target="/ppt/presProps.xml" Id="R6125feebcc0b4b9e" /><Relationship Type="http://schemas.openxmlformats.org/officeDocument/2006/relationships/tableStyles" Target="/ppt/tableStyles.xml" Id="R772d0d354552424c" /><Relationship Type="http://schemas.openxmlformats.org/officeDocument/2006/relationships/slide" Target="/ppt/slides/slide1.xml" Id="Rd560c23864ba47d3" /><Relationship Type="http://schemas.openxmlformats.org/officeDocument/2006/relationships/slide" Target="/ppt/slides/slide2.xml" Id="Ra8ff1ba2e7d14078" /><Relationship Type="http://schemas.openxmlformats.org/officeDocument/2006/relationships/slide" Target="/ppt/slides/slide3.xml" Id="R3a23deec2b544a1c" /><Relationship Type="http://schemas.openxmlformats.org/officeDocument/2006/relationships/slide" Target="/ppt/slides/slide4.xml" Id="R0fabc190a12e4c46" /><Relationship Type="http://schemas.openxmlformats.org/officeDocument/2006/relationships/slide" Target="/ppt/slides/slide5.xml" Id="Rf28e243fa24340bc" /><Relationship Type="http://schemas.openxmlformats.org/officeDocument/2006/relationships/slide" Target="/ppt/slides/slide6.xml" Id="R5b59a9299c9d475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5741c33dc424d6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46ff50784c34e1d" /><Relationship Type="http://schemas.openxmlformats.org/officeDocument/2006/relationships/notesMaster" Target="/ppt/notesMasters/notesMaster1.xml" Id="Raf3ef07ec9d54d81" /></Relationships>
</file>

<file path=ppt/notesSlides/_rels/notesSlide2.xml.rels>&#65279;<?xml version="1.0" encoding="utf-8"?><Relationships xmlns="http://schemas.openxmlformats.org/package/2006/relationships"><Relationship Type="http://schemas.openxmlformats.org/officeDocument/2006/relationships/slide" Target="/ppt/slides/slide2.xml" Id="Rae6b8b5e59d9457a" /><Relationship Type="http://schemas.openxmlformats.org/officeDocument/2006/relationships/notesMaster" Target="/ppt/notesMasters/notesMaster1.xml" Id="Rca0b452cf91943b9" /></Relationships>
</file>

<file path=ppt/notesSlides/_rels/notesSlide3.xml.rels>&#65279;<?xml version="1.0" encoding="utf-8"?><Relationships xmlns="http://schemas.openxmlformats.org/package/2006/relationships"><Relationship Type="http://schemas.openxmlformats.org/officeDocument/2006/relationships/slide" Target="/ppt/slides/slide3.xml" Id="R9d2f318740fe4c8c" /><Relationship Type="http://schemas.openxmlformats.org/officeDocument/2006/relationships/notesMaster" Target="/ppt/notesMasters/notesMaster1.xml" Id="Rdf04b281cd964ab1" /></Relationships>
</file>

<file path=ppt/notesSlides/_rels/notesSlide4.xml.rels>&#65279;<?xml version="1.0" encoding="utf-8"?><Relationships xmlns="http://schemas.openxmlformats.org/package/2006/relationships"><Relationship Type="http://schemas.openxmlformats.org/officeDocument/2006/relationships/slide" Target="/ppt/slides/slide4.xml" Id="R3f02dea8e89c425a" /><Relationship Type="http://schemas.openxmlformats.org/officeDocument/2006/relationships/notesMaster" Target="/ppt/notesMasters/notesMaster1.xml" Id="Rbd48a05768694cf8" /></Relationships>
</file>

<file path=ppt/notesSlides/_rels/notesSlide5.xml.rels>&#65279;<?xml version="1.0" encoding="utf-8"?><Relationships xmlns="http://schemas.openxmlformats.org/package/2006/relationships"><Relationship Type="http://schemas.openxmlformats.org/officeDocument/2006/relationships/slide" Target="/ppt/slides/slide5.xml" Id="R20b523699d1b4e60" /><Relationship Type="http://schemas.openxmlformats.org/officeDocument/2006/relationships/notesMaster" Target="/ppt/notesMasters/notesMaster1.xml" Id="Rcf6d2890620a4638" /></Relationships>
</file>

<file path=ppt/notesSlides/_rels/notesSlide6.xml.rels>&#65279;<?xml version="1.0" encoding="utf-8"?><Relationships xmlns="http://schemas.openxmlformats.org/package/2006/relationships"><Relationship Type="http://schemas.openxmlformats.org/officeDocument/2006/relationships/slide" Target="/ppt/slides/slide6.xml" Id="R03e0bca4edbc4093" /><Relationship Type="http://schemas.openxmlformats.org/officeDocument/2006/relationships/notesMaster" Target="/ppt/notesMasters/notesMaster1.xml" Id="R221fee947ef34c8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a child with mosaic variegated aneuploidy, a plausible medicine is only a starting point. We propose arimoclomol for laboratory testing, with explicit rules for deciding whether it deserves to advance. We have not demonstrated drug rescue or treated this child. Our contribution is a testable proposal, supported by working tools that others can use.</a:t>
            </a:r>
          </a:p>
          <a:p xmlns:a="http://schemas.openxmlformats.org/drawingml/2006/main">
            <a:r>
              <a:t/>
            </a:r>
          </a:p>
          <a:p xmlns:a="http://schemas.openxmlformats.org/drawingml/2006/main">
            <a:r>
              <a:t>Evidence: Track 2 report · PMID 20516114</a:t>
            </a:r>
          </a:p>
          <a:p xmlns:a="http://schemas.openxmlformats.org/drawingml/2006/main">
            <a:r>
              <a:t>submissions/adriamasnou_track2_report.md</a:t>
            </a:r>
          </a:p>
          <a:p xmlns:a="http://schemas.openxmlformats.org/drawingml/2006/main">
            <a:r>
              <a:t>Research proposal. No demonstrated therapeutic rescue or clinical eligibility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identified variants affect the gene that makes Bub R one, a protein involved in chromosome separation. Their phase is inferred. The exact protein consequences remain unmeasured. The missense variant could reduce abundance, impair function, do both, or remain indeterminate. The proposed experiment compares full-length normal and altered protein at matched abundance. An isolated fragment's melting curve cannot settle that question.</a:t>
            </a:r>
          </a:p>
          <a:p xmlns:a="http://schemas.openxmlformats.org/drawingml/2006/main">
            <a:r>
              <a:t/>
            </a:r>
          </a:p>
          <a:p xmlns:a="http://schemas.openxmlformats.org/drawingml/2006/main">
            <a:r>
              <a:t>Evidence: PMIDs 20516114 · 22698286 · 33207204</a:t>
            </a:r>
          </a:p>
          <a:p xmlns:a="http://schemas.openxmlformats.org/drawingml/2006/main">
            <a:r>
              <a:t>submissions/adriamasnou_track2_report.md</a:t>
            </a:r>
          </a:p>
          <a:p xmlns:a="http://schemas.openxmlformats.org/drawingml/2006/main">
            <a:r>
              <a:t>Research proposal. No demonstrated therapeutic rescue or clinical eligibility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protocol has four gates. Gate A establishes the variant's effect using full-length protein at matched abundance. Gate B qualifies measurement, pathway response and exposure. Gate C measures chromosome segregation while separately tracking division and cell fate. Gate D applies prespecified confidence bounds. More protein alone cannot pass. Neither can apparent improvement from stopping division or selectively losing abnormal cells. Failed controls are indeterminate. An interval touching the worthwhile-benefit threshold is inconclusive. Only an interval entirely below that threshold rules out the programme's worthwhile benefit at that exposure. These are proposed research rules, not clinical thresholds.</a:t>
            </a:r>
          </a:p>
          <a:p xmlns:a="http://schemas.openxmlformats.org/drawingml/2006/main">
            <a:r>
              <a:t/>
            </a:r>
          </a:p>
          <a:p xmlns:a="http://schemas.openxmlformats.org/drawingml/2006/main">
            <a:r>
              <a:t>Evidence: Functional rescue plan, gates A-D / proposed experiments</a:t>
            </a:r>
          </a:p>
          <a:p xmlns:a="http://schemas.openxmlformats.org/drawingml/2006/main">
            <a:r>
              <a:t>submissions/functional-rescue-plan.md</a:t>
            </a:r>
          </a:p>
          <a:p xmlns:a="http://schemas.openxmlformats.org/drawingml/2006/main">
            <a:r>
              <a:t>submissions/rescue-decision-validation.md</a:t>
            </a:r>
          </a:p>
          <a:p xmlns:a="http://schemas.openxmlformats.org/drawingml/2006/main">
            <a:r>
              <a:t>Research proposal. No demonstrated therapeutic rescue or clinical eligibility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offline navigator links genes to candidate conditions and shows each source's association role. Twenty-eight selected queries passed, with complete review of every returned source association: forty-seven gene and register-row pairs. This was a developer evaluation using the same source snapshots, not independent clinical validation. All register rows remain visible, including unmapped entries. A match does not establish eligibility. Queries stay on the device.</a:t>
            </a:r>
          </a:p>
          <a:p xmlns:a="http://schemas.openxmlformats.org/drawingml/2006/main">
            <a:r>
              <a:t/>
            </a:r>
          </a:p>
          <a:p xmlns:a="http://schemas.openxmlformats.org/drawingml/2006/main">
            <a:r>
              <a:t>Evidence: Expanded frozen query audit / HFEA register 2026-08-05</a:t>
            </a:r>
          </a:p>
          <a:p xmlns:a="http://schemas.openxmlformats.org/drawingml/2006/main">
            <a:r>
              <a:t>submissions/pgtm-expanded-validation.json</a:t>
            </a:r>
          </a:p>
          <a:p xmlns:a="http://schemas.openxmlformats.org/drawingml/2006/main">
            <a:r>
              <a:t>submissions/pgtm-expanded-validation.md</a:t>
            </a:r>
          </a:p>
          <a:p xmlns:a="http://schemas.openxmlformats.org/drawingml/2006/main">
            <a:r>
              <a:t>submissions/pgtm-navigator.html</a:t>
            </a:r>
          </a:p>
          <a:p xmlns:a="http://schemas.openxmlformats.org/drawingml/2006/main">
            <a:r>
              <a:t>Research proposal. No demonstrated therapeutic rescue or clinical eligibility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implemented these rescue-decision rules as a research software prototype. All forty frozen synthetic cases matched their expected decisions, including protein-only signals, selective killing, missing data and confidence-boundary cases. This verifies software behaviour, not biological rescue. Separately, real Splice A I inference passes six controls. Its checker rejects nine injected failures. Laboratory function, exposure and independent replication remain unmeasured.</a:t>
            </a:r>
          </a:p>
          <a:p xmlns:a="http://schemas.openxmlformats.org/drawingml/2006/main">
            <a:r>
              <a:t/>
            </a:r>
          </a:p>
          <a:p xmlns:a="http://schemas.openxmlformats.org/drawingml/2006/main">
            <a:r>
              <a:t>Evidence: Rescue-decision validation / SpliceAI measured controls and checker</a:t>
            </a:r>
          </a:p>
          <a:p xmlns:a="http://schemas.openxmlformats.org/drawingml/2006/main">
            <a:r>
              <a:t>submissions/rescue-decision-validation.json</a:t>
            </a:r>
          </a:p>
          <a:p xmlns:a="http://schemas.openxmlformats.org/drawingml/2006/main">
            <a:r>
              <a:t>submissions/rescue-decision-validation.md</a:t>
            </a:r>
          </a:p>
          <a:p xmlns:a="http://schemas.openxmlformats.org/drawingml/2006/main">
            <a:r>
              <a:t>canary/measured-results-2026-10-23.txt</a:t>
            </a:r>
          </a:p>
          <a:p xmlns:a="http://schemas.openxmlformats.org/drawingml/2006/main">
            <a:r>
              <a:t>canary/README.md</a:t>
            </a:r>
          </a:p>
          <a:p xmlns:a="http://schemas.openxmlformats.org/drawingml/2006/main">
            <a:r>
              <a:t>Research proposal. No demonstrated therapeutic rescue or clinical eligibility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next step is a laboratory test of full-length variant function and exposure-limited rescue. The proposal says what would advance the candidate and what would stop it. The reusable tools, source trail and plain-language explanation are delivered now. Clinical benefit remains to be earned. That is the standard we want this work judged against.</a:t>
            </a:r>
          </a:p>
          <a:p xmlns:a="http://schemas.openxmlformats.org/drawingml/2006/main">
            <a:r>
              <a:t/>
            </a:r>
          </a:p>
          <a:p xmlns:a="http://schemas.openxmlformats.org/drawingml/2006/main">
            <a:r>
              <a:t>Evidence: adriamasnou · MVA Hackathon 2026</a:t>
            </a:r>
          </a:p>
          <a:p xmlns:a="http://schemas.openxmlformats.org/drawingml/2006/main">
            <a:r>
              <a:t>submissions/adriamasnou_track2_report.md</a:t>
            </a:r>
          </a:p>
          <a:p xmlns:a="http://schemas.openxmlformats.org/drawingml/2006/main">
            <a:r>
              <a:t>Research proposal. No demonstrated therapeutic rescue or clinical eligibility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d6ed755758349f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16a34c3ecf74ea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e5f0fb56a8a4e4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0026e62a9ab42c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9ffd17c16004d8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6566a44b75c417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3213186-2011-41DB-A487-0EA34FA2DC6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40DC243-CE2F-4913-AA7C-DF1253F7078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8BBE07B-D9FA-4E2E-8DA3-723D8382A03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39E13A6-694C-4304-81F8-6A2BF92437F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FFADA0D-8CF7-450B-AF94-0E5F6241B06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B7B5A64-82C4-4C7A-9C7D-70314B487E7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F8E1C51-AADF-4E80-86A4-323C8A57C16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B0B37ED-4236-4024-8F53-6D624FA48D6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0AE6ED9-B877-4D9D-AAD5-8730471BD05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AE38C5F-7D84-48C4-8D8E-05274637D31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c39f0dc187b4226" /><Relationship Type="http://schemas.openxmlformats.org/officeDocument/2006/relationships/slideLayout" Target="/ppt/slideLayouts/slideLayout1.xml" Id="Re7315ada428942d9" /><Relationship Type="http://schemas.openxmlformats.org/officeDocument/2006/relationships/slideLayout" Target="/ppt/slideLayouts/slideLayout2.xml" Id="R66ffaa3d79f04443" /><Relationship Type="http://schemas.openxmlformats.org/officeDocument/2006/relationships/slideLayout" Target="/ppt/slideLayouts/slideLayout3.xml" Id="Rb46e16a7c5a14284" /><Relationship Type="http://schemas.openxmlformats.org/officeDocument/2006/relationships/slideLayout" Target="/ppt/slideLayouts/slideLayout4.xml" Id="R8b489f8505314f22" /><Relationship Type="http://schemas.openxmlformats.org/officeDocument/2006/relationships/slideLayout" Target="/ppt/slideLayouts/slideLayout5.xml" Id="R47f40511c3234458" /><Relationship Type="http://schemas.openxmlformats.org/officeDocument/2006/relationships/slideLayout" Target="/ppt/slideLayouts/slideLayout6.xml" Id="R43741e572024434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7315ada428942d9"/>
    <p:sldLayoutId xmlns:r="http://schemas.openxmlformats.org/officeDocument/2006/relationships" id="2147483650" r:id="R66ffaa3d79f04443"/>
    <p:sldLayoutId xmlns:r="http://schemas.openxmlformats.org/officeDocument/2006/relationships" id="2147483651" r:id="Rb46e16a7c5a14284"/>
    <p:sldLayoutId xmlns:r="http://schemas.openxmlformats.org/officeDocument/2006/relationships" id="2147483652" r:id="R8b489f8505314f22"/>
    <p:sldLayoutId xmlns:r="http://schemas.openxmlformats.org/officeDocument/2006/relationships" id="2147483653" r:id="R47f40511c3234458"/>
    <p:sldLayoutId xmlns:r="http://schemas.openxmlformats.org/officeDocument/2006/relationships" id="2147483654" r:id="R43741e572024434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9891559c7b94cca" /><Relationship Type="http://schemas.openxmlformats.org/officeDocument/2006/relationships/notesSlide" Target="/ppt/notesSlides/notesSlide1.xml" Id="R1501fb0eed644c6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8f510a13cf14b47" /><Relationship Type="http://schemas.openxmlformats.org/officeDocument/2006/relationships/notesSlide" Target="/ppt/notesSlides/notesSlide2.xml" Id="R3791d44e8d3e42c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b3cd0b63c354e27" /><Relationship Type="http://schemas.openxmlformats.org/officeDocument/2006/relationships/notesSlide" Target="/ppt/notesSlides/notesSlide3.xml" Id="R20d1e5c9fd0343e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35a2a0e834c4d05" /><Relationship Type="http://schemas.openxmlformats.org/officeDocument/2006/relationships/image" Target="/ppt/media/image.png" Id="R07645afead084427" /><Relationship Type="http://schemas.openxmlformats.org/officeDocument/2006/relationships/notesSlide" Target="/ppt/notesSlides/notesSlide4.xml" Id="Rd6e1f017d28f464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396c89db81840fc" /><Relationship Type="http://schemas.openxmlformats.org/officeDocument/2006/relationships/notesSlide" Target="/ppt/notesSlides/notesSlide5.xml" Id="R4736667f60b845c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0e959b969434f99" /><Relationship Type="http://schemas.openxmlformats.org/officeDocument/2006/relationships/notesSlide" Target="/ppt/notesSlides/notesSlide6.xml" Id="Rdcbde3a81afb4207" /></Relationships>
</file>

<file path=ppt/slides/slide1.xml><?xml version="1.0" encoding="utf-8"?>
<p:sld xmlns:p="http://schemas.openxmlformats.org/presentationml/2006/main">
  <p:cSld>
    <p:bg>
      <p:bgPr>
        <a:solidFill xmlns:a="http://schemas.openxmlformats.org/drawingml/2006/main">
          <a:srgbClr val="F2F5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17A3B96-022B-40A3-BA0B-3C38097F00E0}"/>
              </a:ext>
            </a:extLst>
          </p:cNvPr>
          <p:cNvSpPr>
            <a:spLocks xmlns:a="http://schemas.openxmlformats.org/drawingml/2006/main" noGrp="1"/>
          </p:cNvSpPr>
          <p:nvPr/>
        </p:nvSpPr>
        <p:spPr>
          <a:xfrm xmlns:a="http://schemas.openxmlformats.org/drawingml/2006/main">
            <a:off x="609600" y="5524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4350" b="1">
                <a:solidFill>
                  <a:srgbClr val="17333E"/>
                </a:solidFill>
                <a:latin typeface="Arial"/>
                <a:ea typeface="Arial"/>
                <a:cs typeface="Arial"/>
              </a:defRPr>
            </a:defPPr>
            <a:lvl1pPr>
              <a:buNone/>
              <a:defRPr sz="4350" b="1">
                <a:solidFill>
                  <a:srgbClr val="17333E"/>
                </a:solidFill>
                <a:latin typeface="Arial"/>
                <a:ea typeface="Arial"/>
                <a:cs typeface="Arial"/>
              </a:defRPr>
            </a:lvl1pPr>
            <a:lvl2pPr>
              <a:buNone/>
              <a:defRPr sz="4350" b="1">
                <a:solidFill>
                  <a:srgbClr val="17333E"/>
                </a:solidFill>
                <a:latin typeface="Arial"/>
                <a:ea typeface="Arial"/>
                <a:cs typeface="Arial"/>
              </a:defRPr>
            </a:lvl2pPr>
            <a:lvl3pPr>
              <a:buNone/>
              <a:defRPr sz="4350" b="1">
                <a:solidFill>
                  <a:srgbClr val="17333E"/>
                </a:solidFill>
                <a:latin typeface="Arial"/>
                <a:ea typeface="Arial"/>
                <a:cs typeface="Arial"/>
              </a:defRPr>
            </a:lvl3pPr>
            <a:lvl4pPr>
              <a:buNone/>
              <a:defRPr sz="4350" b="1">
                <a:solidFill>
                  <a:srgbClr val="17333E"/>
                </a:solidFill>
                <a:latin typeface="Arial"/>
                <a:ea typeface="Arial"/>
                <a:cs typeface="Arial"/>
              </a:defRPr>
            </a:lvl4pPr>
            <a:lvl5pPr>
              <a:buNone/>
              <a:defRPr sz="4350" b="1">
                <a:solidFill>
                  <a:srgbClr val="17333E"/>
                </a:solidFill>
                <a:latin typeface="Arial"/>
                <a:ea typeface="Arial"/>
                <a:cs typeface="Arial"/>
              </a:defRPr>
            </a:lvl5pPr>
            <a:lvl6pPr>
              <a:buNone/>
              <a:defRPr sz="4350" b="1">
                <a:solidFill>
                  <a:srgbClr val="17333E"/>
                </a:solidFill>
                <a:latin typeface="Arial"/>
                <a:ea typeface="Arial"/>
                <a:cs typeface="Arial"/>
              </a:defRPr>
            </a:lvl6pPr>
            <a:lvl7pPr>
              <a:buNone/>
              <a:defRPr sz="4350" b="1">
                <a:solidFill>
                  <a:srgbClr val="17333E"/>
                </a:solidFill>
                <a:latin typeface="Arial"/>
                <a:ea typeface="Arial"/>
                <a:cs typeface="Arial"/>
              </a:defRPr>
            </a:lvl7pPr>
            <a:lvl8pPr>
              <a:buNone/>
              <a:defRPr sz="4350" b="1">
                <a:solidFill>
                  <a:srgbClr val="17333E"/>
                </a:solidFill>
                <a:latin typeface="Arial"/>
                <a:ea typeface="Arial"/>
                <a:cs typeface="Arial"/>
              </a:defRPr>
            </a:lvl8pPr>
            <a:lvl9pPr>
              <a:buNone/>
              <a:defRPr sz="4350" b="1">
                <a:solidFill>
                  <a:srgbClr val="17333E"/>
                </a:solidFill>
                <a:latin typeface="Arial"/>
                <a:ea typeface="Arial"/>
                <a:cs typeface="Arial"/>
              </a:defRPr>
            </a:lvl9pPr>
          </a:lstStyle>
          <a:p xmlns:a="http://schemas.openxmlformats.org/drawingml/2006/main">
            <a:pPr>
              <a:buNone/>
              <a:defRPr sz="4350" b="1">
                <a:solidFill>
                  <a:srgbClr val="17333E"/>
                </a:solidFill>
                <a:latin typeface="Arial"/>
                <a:ea typeface="Arial"/>
                <a:cs typeface="Arial"/>
              </a:defRPr>
            </a:pPr>
            <a:r>
              <a:rPr sz="4350" b="1">
                <a:solidFill>
                  <a:srgbClr val="17333E"/>
                </a:solidFill>
                <a:latin typeface="Arial"/>
                <a:ea typeface="Arial"/>
                <a:cs typeface="Arial"/>
              </a:rPr>
              <a:t>Arimoclomol for BUB1B-MVA</a:t>
            </a:r>
          </a:p>
        </p:txBody>
      </p:sp>
      <p:sp>
        <p:nvSpPr>
          <p:cNvPr id="2" name="">
            <a:extLst xmlns:a="http://schemas.openxmlformats.org/drawingml/2006/main">
              <a:ext uri="{FF2B5EF4-FFF2-40B4-BE49-F238E27FC236}">
                <a16:creationId xmlns:a16="http://schemas.microsoft.com/office/drawing/2014/main" id="{ECB9AD98-87A9-42FB-8C98-9936EA791E7A}"/>
              </a:ext>
            </a:extLst>
          </p:cNvPr>
          <p:cNvSpPr>
            <a:spLocks xmlns:a="http://schemas.openxmlformats.org/drawingml/2006/main" noGrp="1"/>
          </p:cNvSpPr>
          <p:nvPr/>
        </p:nvSpPr>
        <p:spPr>
          <a:xfrm xmlns:a="http://schemas.openxmlformats.org/drawingml/2006/main">
            <a:off x="10953750" y="63436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971"/>
                </a:solidFill>
                <a:latin typeface="Arial"/>
                <a:ea typeface="Arial"/>
                <a:cs typeface="Arial"/>
              </a:defRPr>
            </a:defPPr>
            <a:lvl1pPr>
              <a:buNone/>
              <a:defRPr sz="1350" b="0">
                <a:solidFill>
                  <a:srgbClr val="526971"/>
                </a:solidFill>
                <a:latin typeface="Arial"/>
                <a:ea typeface="Arial"/>
                <a:cs typeface="Arial"/>
              </a:defRPr>
            </a:lvl1pPr>
            <a:lvl2pPr>
              <a:buNone/>
              <a:defRPr sz="1350" b="0">
                <a:solidFill>
                  <a:srgbClr val="526971"/>
                </a:solidFill>
                <a:latin typeface="Arial"/>
                <a:ea typeface="Arial"/>
                <a:cs typeface="Arial"/>
              </a:defRPr>
            </a:lvl2pPr>
            <a:lvl3pPr>
              <a:buNone/>
              <a:defRPr sz="1350" b="0">
                <a:solidFill>
                  <a:srgbClr val="526971"/>
                </a:solidFill>
                <a:latin typeface="Arial"/>
                <a:ea typeface="Arial"/>
                <a:cs typeface="Arial"/>
              </a:defRPr>
            </a:lvl3pPr>
            <a:lvl4pPr>
              <a:buNone/>
              <a:defRPr sz="1350" b="0">
                <a:solidFill>
                  <a:srgbClr val="526971"/>
                </a:solidFill>
                <a:latin typeface="Arial"/>
                <a:ea typeface="Arial"/>
                <a:cs typeface="Arial"/>
              </a:defRPr>
            </a:lvl4pPr>
            <a:lvl5pPr>
              <a:buNone/>
              <a:defRPr sz="1350" b="0">
                <a:solidFill>
                  <a:srgbClr val="526971"/>
                </a:solidFill>
                <a:latin typeface="Arial"/>
                <a:ea typeface="Arial"/>
                <a:cs typeface="Arial"/>
              </a:defRPr>
            </a:lvl5pPr>
            <a:lvl6pPr>
              <a:buNone/>
              <a:defRPr sz="1350" b="0">
                <a:solidFill>
                  <a:srgbClr val="526971"/>
                </a:solidFill>
                <a:latin typeface="Arial"/>
                <a:ea typeface="Arial"/>
                <a:cs typeface="Arial"/>
              </a:defRPr>
            </a:lvl6pPr>
            <a:lvl7pPr>
              <a:buNone/>
              <a:defRPr sz="1350" b="0">
                <a:solidFill>
                  <a:srgbClr val="526971"/>
                </a:solidFill>
                <a:latin typeface="Arial"/>
                <a:ea typeface="Arial"/>
                <a:cs typeface="Arial"/>
              </a:defRPr>
            </a:lvl7pPr>
            <a:lvl8pPr>
              <a:buNone/>
              <a:defRPr sz="1350" b="0">
                <a:solidFill>
                  <a:srgbClr val="526971"/>
                </a:solidFill>
                <a:latin typeface="Arial"/>
                <a:ea typeface="Arial"/>
                <a:cs typeface="Arial"/>
              </a:defRPr>
            </a:lvl8pPr>
            <a:lvl9pPr>
              <a:buNone/>
              <a:defRPr sz="1350" b="0">
                <a:solidFill>
                  <a:srgbClr val="526971"/>
                </a:solidFill>
                <a:latin typeface="Arial"/>
                <a:ea typeface="Arial"/>
                <a:cs typeface="Arial"/>
              </a:defRPr>
            </a:lvl9pPr>
          </a:lstStyle>
          <a:p xmlns:a="http://schemas.openxmlformats.org/drawingml/2006/main">
            <a:pPr>
              <a:buNone/>
              <a:defRPr sz="1350" b="0">
                <a:solidFill>
                  <a:srgbClr val="526971"/>
                </a:solidFill>
                <a:latin typeface="Arial"/>
                <a:ea typeface="Arial"/>
                <a:cs typeface="Arial"/>
              </a:defRPr>
            </a:pPr>
            <a:r>
              <a:rPr sz="1350" b="0">
                <a:solidFill>
                  <a:srgbClr val="526971"/>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4874946E-3960-4519-B30E-EDAD5BCBA488}"/>
              </a:ext>
            </a:extLst>
          </p:cNvPr>
          <p:cNvSpPr>
            <a:spLocks xmlns:a="http://schemas.openxmlformats.org/drawingml/2006/main" noGrp="1"/>
          </p:cNvSpPr>
          <p:nvPr/>
        </p:nvSpPr>
        <p:spPr>
          <a:xfrm xmlns:a="http://schemas.openxmlformats.org/drawingml/2006/main">
            <a:off x="609600" y="634365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26971"/>
                </a:solidFill>
                <a:latin typeface="Arial"/>
                <a:ea typeface="Arial"/>
                <a:cs typeface="Arial"/>
              </a:defRPr>
            </a:defPPr>
            <a:lvl1pPr>
              <a:buNone/>
              <a:defRPr sz="1200" b="0">
                <a:solidFill>
                  <a:srgbClr val="526971"/>
                </a:solidFill>
                <a:latin typeface="Arial"/>
                <a:ea typeface="Arial"/>
                <a:cs typeface="Arial"/>
              </a:defRPr>
            </a:lvl1pPr>
            <a:lvl2pPr>
              <a:buNone/>
              <a:defRPr sz="1200" b="0">
                <a:solidFill>
                  <a:srgbClr val="526971"/>
                </a:solidFill>
                <a:latin typeface="Arial"/>
                <a:ea typeface="Arial"/>
                <a:cs typeface="Arial"/>
              </a:defRPr>
            </a:lvl2pPr>
            <a:lvl3pPr>
              <a:buNone/>
              <a:defRPr sz="1200" b="0">
                <a:solidFill>
                  <a:srgbClr val="526971"/>
                </a:solidFill>
                <a:latin typeface="Arial"/>
                <a:ea typeface="Arial"/>
                <a:cs typeface="Arial"/>
              </a:defRPr>
            </a:lvl3pPr>
            <a:lvl4pPr>
              <a:buNone/>
              <a:defRPr sz="1200" b="0">
                <a:solidFill>
                  <a:srgbClr val="526971"/>
                </a:solidFill>
                <a:latin typeface="Arial"/>
                <a:ea typeface="Arial"/>
                <a:cs typeface="Arial"/>
              </a:defRPr>
            </a:lvl4pPr>
            <a:lvl5pPr>
              <a:buNone/>
              <a:defRPr sz="1200" b="0">
                <a:solidFill>
                  <a:srgbClr val="526971"/>
                </a:solidFill>
                <a:latin typeface="Arial"/>
                <a:ea typeface="Arial"/>
                <a:cs typeface="Arial"/>
              </a:defRPr>
            </a:lvl5pPr>
            <a:lvl6pPr>
              <a:buNone/>
              <a:defRPr sz="1200" b="0">
                <a:solidFill>
                  <a:srgbClr val="526971"/>
                </a:solidFill>
                <a:latin typeface="Arial"/>
                <a:ea typeface="Arial"/>
                <a:cs typeface="Arial"/>
              </a:defRPr>
            </a:lvl6pPr>
            <a:lvl7pPr>
              <a:buNone/>
              <a:defRPr sz="1200" b="0">
                <a:solidFill>
                  <a:srgbClr val="526971"/>
                </a:solidFill>
                <a:latin typeface="Arial"/>
                <a:ea typeface="Arial"/>
                <a:cs typeface="Arial"/>
              </a:defRPr>
            </a:lvl7pPr>
            <a:lvl8pPr>
              <a:buNone/>
              <a:defRPr sz="1200" b="0">
                <a:solidFill>
                  <a:srgbClr val="526971"/>
                </a:solidFill>
                <a:latin typeface="Arial"/>
                <a:ea typeface="Arial"/>
                <a:cs typeface="Arial"/>
              </a:defRPr>
            </a:lvl8pPr>
            <a:lvl9pPr>
              <a:buNone/>
              <a:defRPr sz="1200" b="0">
                <a:solidFill>
                  <a:srgbClr val="526971"/>
                </a:solidFill>
                <a:latin typeface="Arial"/>
                <a:ea typeface="Arial"/>
                <a:cs typeface="Arial"/>
              </a:defRPr>
            </a:lvl9pPr>
          </a:lstStyle>
          <a:p xmlns:a="http://schemas.openxmlformats.org/drawingml/2006/main">
            <a:pPr>
              <a:buNone/>
              <a:defRPr sz="1200" b="0">
                <a:solidFill>
                  <a:srgbClr val="526971"/>
                </a:solidFill>
                <a:latin typeface="Arial"/>
                <a:ea typeface="Arial"/>
                <a:cs typeface="Arial"/>
              </a:defRPr>
            </a:pPr>
            <a:r>
              <a:rPr sz="1200" b="0">
                <a:solidFill>
                  <a:srgbClr val="526971"/>
                </a:solidFill>
                <a:latin typeface="Arial"/>
                <a:ea typeface="Arial"/>
                <a:cs typeface="Arial"/>
              </a:rPr>
              <a:t>Track 2 report  /  PMID 20516114</a:t>
            </a:r>
          </a:p>
        </p:txBody>
      </p:sp>
      <p:sp>
        <p:nvSpPr>
          <p:cNvPr id="4" name="">
            <a:extLst xmlns:a="http://schemas.openxmlformats.org/drawingml/2006/main">
              <a:ext uri="{FF2B5EF4-FFF2-40B4-BE49-F238E27FC236}">
                <a16:creationId xmlns:a16="http://schemas.microsoft.com/office/drawing/2014/main" id="{1407AE52-AAAC-4854-B759-653EACD6BFEF}"/>
              </a:ext>
            </a:extLst>
          </p:cNvPr>
          <p:cNvSpPr>
            <a:spLocks xmlns:a="http://schemas.openxmlformats.org/drawingml/2006/main" noGrp="1"/>
          </p:cNvSpPr>
          <p:nvPr/>
        </p:nvSpPr>
        <p:spPr>
          <a:xfrm xmlns:a="http://schemas.openxmlformats.org/drawingml/2006/main">
            <a:off x="609600" y="18288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76C63"/>
                </a:solidFill>
                <a:latin typeface="Arial"/>
                <a:ea typeface="Arial"/>
                <a:cs typeface="Arial"/>
              </a:defRPr>
            </a:defPPr>
            <a:lvl1pPr>
              <a:buNone/>
              <a:defRPr sz="2550" b="0">
                <a:solidFill>
                  <a:srgbClr val="176C63"/>
                </a:solidFill>
                <a:latin typeface="Arial"/>
                <a:ea typeface="Arial"/>
                <a:cs typeface="Arial"/>
              </a:defRPr>
            </a:lvl1pPr>
            <a:lvl2pPr>
              <a:buNone/>
              <a:defRPr sz="2550" b="0">
                <a:solidFill>
                  <a:srgbClr val="176C63"/>
                </a:solidFill>
                <a:latin typeface="Arial"/>
                <a:ea typeface="Arial"/>
                <a:cs typeface="Arial"/>
              </a:defRPr>
            </a:lvl2pPr>
            <a:lvl3pPr>
              <a:buNone/>
              <a:defRPr sz="2550" b="0">
                <a:solidFill>
                  <a:srgbClr val="176C63"/>
                </a:solidFill>
                <a:latin typeface="Arial"/>
                <a:ea typeface="Arial"/>
                <a:cs typeface="Arial"/>
              </a:defRPr>
            </a:lvl3pPr>
            <a:lvl4pPr>
              <a:buNone/>
              <a:defRPr sz="2550" b="0">
                <a:solidFill>
                  <a:srgbClr val="176C63"/>
                </a:solidFill>
                <a:latin typeface="Arial"/>
                <a:ea typeface="Arial"/>
                <a:cs typeface="Arial"/>
              </a:defRPr>
            </a:lvl4pPr>
            <a:lvl5pPr>
              <a:buNone/>
              <a:defRPr sz="2550" b="0">
                <a:solidFill>
                  <a:srgbClr val="176C63"/>
                </a:solidFill>
                <a:latin typeface="Arial"/>
                <a:ea typeface="Arial"/>
                <a:cs typeface="Arial"/>
              </a:defRPr>
            </a:lvl5pPr>
            <a:lvl6pPr>
              <a:buNone/>
              <a:defRPr sz="2550" b="0">
                <a:solidFill>
                  <a:srgbClr val="176C63"/>
                </a:solidFill>
                <a:latin typeface="Arial"/>
                <a:ea typeface="Arial"/>
                <a:cs typeface="Arial"/>
              </a:defRPr>
            </a:lvl6pPr>
            <a:lvl7pPr>
              <a:buNone/>
              <a:defRPr sz="2550" b="0">
                <a:solidFill>
                  <a:srgbClr val="176C63"/>
                </a:solidFill>
                <a:latin typeface="Arial"/>
                <a:ea typeface="Arial"/>
                <a:cs typeface="Arial"/>
              </a:defRPr>
            </a:lvl7pPr>
            <a:lvl8pPr>
              <a:buNone/>
              <a:defRPr sz="2550" b="0">
                <a:solidFill>
                  <a:srgbClr val="176C63"/>
                </a:solidFill>
                <a:latin typeface="Arial"/>
                <a:ea typeface="Arial"/>
                <a:cs typeface="Arial"/>
              </a:defRPr>
            </a:lvl8pPr>
            <a:lvl9pPr>
              <a:buNone/>
              <a:defRPr sz="2550" b="0">
                <a:solidFill>
                  <a:srgbClr val="176C63"/>
                </a:solidFill>
                <a:latin typeface="Arial"/>
                <a:ea typeface="Arial"/>
                <a:cs typeface="Arial"/>
              </a:defRPr>
            </a:lvl9pPr>
          </a:lstStyle>
          <a:p xmlns:a="http://schemas.openxmlformats.org/drawingml/2006/main">
            <a:pPr>
              <a:buNone/>
              <a:defRPr sz="2550" b="0">
                <a:solidFill>
                  <a:srgbClr val="176C63"/>
                </a:solidFill>
                <a:latin typeface="Arial"/>
                <a:ea typeface="Arial"/>
                <a:cs typeface="Arial"/>
              </a:defRPr>
            </a:pPr>
            <a:r>
              <a:rPr sz="2550" b="0">
                <a:solidFill>
                  <a:srgbClr val="176C63"/>
                </a:solidFill>
                <a:latin typeface="Arial"/>
                <a:ea typeface="Arial"/>
                <a:cs typeface="Arial"/>
              </a:rPr>
              <a:t>Conditional preclinical repurposing proposal</a:t>
            </a:r>
          </a:p>
        </p:txBody>
      </p:sp>
      <p:sp>
        <p:nvSpPr>
          <p:cNvPr id="5" name="">
            <a:extLst xmlns:a="http://schemas.openxmlformats.org/drawingml/2006/main">
              <a:ext uri="{FF2B5EF4-FFF2-40B4-BE49-F238E27FC236}">
                <a16:creationId xmlns:a16="http://schemas.microsoft.com/office/drawing/2014/main" id="{085BDD4C-D27F-4300-918F-8B8E8F2E1993}"/>
              </a:ext>
            </a:extLst>
          </p:cNvPr>
          <p:cNvSpPr>
            <a:spLocks xmlns:a="http://schemas.openxmlformats.org/drawingml/2006/main" noGrp="1"/>
          </p:cNvSpPr>
          <p:nvPr/>
        </p:nvSpPr>
        <p:spPr>
          <a:xfrm xmlns:a="http://schemas.openxmlformats.org/drawingml/2006/main">
            <a:off x="609600" y="3095625"/>
            <a:ext cx="1047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4200" b="1">
                <a:solidFill>
                  <a:srgbClr val="17333E"/>
                </a:solidFill>
                <a:latin typeface="Arial"/>
                <a:ea typeface="Arial"/>
                <a:cs typeface="Arial"/>
              </a:defRPr>
            </a:defPPr>
            <a:lvl1pPr>
              <a:buNone/>
              <a:defRPr sz="4200" b="1">
                <a:solidFill>
                  <a:srgbClr val="17333E"/>
                </a:solidFill>
                <a:latin typeface="Arial"/>
                <a:ea typeface="Arial"/>
                <a:cs typeface="Arial"/>
              </a:defRPr>
            </a:lvl1pPr>
            <a:lvl2pPr>
              <a:buNone/>
              <a:defRPr sz="4200" b="1">
                <a:solidFill>
                  <a:srgbClr val="17333E"/>
                </a:solidFill>
                <a:latin typeface="Arial"/>
                <a:ea typeface="Arial"/>
                <a:cs typeface="Arial"/>
              </a:defRPr>
            </a:lvl2pPr>
            <a:lvl3pPr>
              <a:buNone/>
              <a:defRPr sz="4200" b="1">
                <a:solidFill>
                  <a:srgbClr val="17333E"/>
                </a:solidFill>
                <a:latin typeface="Arial"/>
                <a:ea typeface="Arial"/>
                <a:cs typeface="Arial"/>
              </a:defRPr>
            </a:lvl3pPr>
            <a:lvl4pPr>
              <a:buNone/>
              <a:defRPr sz="4200" b="1">
                <a:solidFill>
                  <a:srgbClr val="17333E"/>
                </a:solidFill>
                <a:latin typeface="Arial"/>
                <a:ea typeface="Arial"/>
                <a:cs typeface="Arial"/>
              </a:defRPr>
            </a:lvl4pPr>
            <a:lvl5pPr>
              <a:buNone/>
              <a:defRPr sz="4200" b="1">
                <a:solidFill>
                  <a:srgbClr val="17333E"/>
                </a:solidFill>
                <a:latin typeface="Arial"/>
                <a:ea typeface="Arial"/>
                <a:cs typeface="Arial"/>
              </a:defRPr>
            </a:lvl5pPr>
            <a:lvl6pPr>
              <a:buNone/>
              <a:defRPr sz="4200" b="1">
                <a:solidFill>
                  <a:srgbClr val="17333E"/>
                </a:solidFill>
                <a:latin typeface="Arial"/>
                <a:ea typeface="Arial"/>
                <a:cs typeface="Arial"/>
              </a:defRPr>
            </a:lvl6pPr>
            <a:lvl7pPr>
              <a:buNone/>
              <a:defRPr sz="4200" b="1">
                <a:solidFill>
                  <a:srgbClr val="17333E"/>
                </a:solidFill>
                <a:latin typeface="Arial"/>
                <a:ea typeface="Arial"/>
                <a:cs typeface="Arial"/>
              </a:defRPr>
            </a:lvl7pPr>
            <a:lvl8pPr>
              <a:buNone/>
              <a:defRPr sz="4200" b="1">
                <a:solidFill>
                  <a:srgbClr val="17333E"/>
                </a:solidFill>
                <a:latin typeface="Arial"/>
                <a:ea typeface="Arial"/>
                <a:cs typeface="Arial"/>
              </a:defRPr>
            </a:lvl8pPr>
            <a:lvl9pPr>
              <a:buNone/>
              <a:defRPr sz="4200" b="1">
                <a:solidFill>
                  <a:srgbClr val="17333E"/>
                </a:solidFill>
                <a:latin typeface="Arial"/>
                <a:ea typeface="Arial"/>
                <a:cs typeface="Arial"/>
              </a:defRPr>
            </a:lvl9pPr>
          </a:lstStyle>
          <a:p xmlns:a="http://schemas.openxmlformats.org/drawingml/2006/main">
            <a:pPr>
              <a:buNone/>
              <a:defRPr sz="4200" b="1">
                <a:solidFill>
                  <a:srgbClr val="17333E"/>
                </a:solidFill>
                <a:latin typeface="Arial"/>
                <a:ea typeface="Arial"/>
                <a:cs typeface="Arial"/>
              </a:defRPr>
            </a:pPr>
            <a:r>
              <a:rPr sz="4200" b="1">
                <a:solidFill>
                  <a:srgbClr val="17333E"/>
                </a:solidFill>
                <a:latin typeface="Arial"/>
                <a:ea typeface="Arial"/>
                <a:cs typeface="Arial"/>
              </a:rPr>
              <a:t>Can this candidate restore</a:t>
            </a:r>
          </a:p>
          <a:p xmlns:a="http://schemas.openxmlformats.org/drawingml/2006/main">
            <a:pPr>
              <a:buNone/>
              <a:defRPr sz="4200" b="1">
                <a:solidFill>
                  <a:srgbClr val="17333E"/>
                </a:solidFill>
                <a:latin typeface="Arial"/>
                <a:ea typeface="Arial"/>
                <a:cs typeface="Arial"/>
              </a:defRPr>
            </a:pPr>
            <a:r>
              <a:rPr sz="4200" b="1">
                <a:solidFill>
                  <a:srgbClr val="17333E"/>
                </a:solidFill>
                <a:latin typeface="Arial"/>
                <a:ea typeface="Arial"/>
                <a:cs typeface="Arial"/>
              </a:rPr>
              <a:t>functional BubR1?</a:t>
            </a:r>
          </a:p>
        </p:txBody>
      </p:sp>
      <p:sp>
        <p:nvSpPr>
          <p:cNvPr id="6" name="">
            <a:extLst xmlns:a="http://schemas.openxmlformats.org/drawingml/2006/main">
              <a:ext uri="{FF2B5EF4-FFF2-40B4-BE49-F238E27FC236}">
                <a16:creationId xmlns:a16="http://schemas.microsoft.com/office/drawing/2014/main" id="{339BB9B3-1F8E-4A65-8F74-8BCFD0EC44FC}"/>
              </a:ext>
            </a:extLst>
          </p:cNvPr>
          <p:cNvSpPr>
            <a:spLocks xmlns:a="http://schemas.openxmlformats.org/drawingml/2006/main" noGrp="1"/>
          </p:cNvSpPr>
          <p:nvPr/>
        </p:nvSpPr>
        <p:spPr>
          <a:xfrm xmlns:a="http://schemas.openxmlformats.org/drawingml/2006/main">
            <a:off x="609600" y="5143500"/>
            <a:ext cx="5715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526971"/>
                </a:solidFill>
                <a:latin typeface="Arial"/>
                <a:ea typeface="Arial"/>
                <a:cs typeface="Arial"/>
              </a:defRPr>
            </a:defPPr>
            <a:lvl1pPr>
              <a:buNone/>
              <a:defRPr sz="1875" b="0">
                <a:solidFill>
                  <a:srgbClr val="526971"/>
                </a:solidFill>
                <a:latin typeface="Arial"/>
                <a:ea typeface="Arial"/>
                <a:cs typeface="Arial"/>
              </a:defRPr>
            </a:lvl1pPr>
            <a:lvl2pPr>
              <a:buNone/>
              <a:defRPr sz="1875" b="0">
                <a:solidFill>
                  <a:srgbClr val="526971"/>
                </a:solidFill>
                <a:latin typeface="Arial"/>
                <a:ea typeface="Arial"/>
                <a:cs typeface="Arial"/>
              </a:defRPr>
            </a:lvl2pPr>
            <a:lvl3pPr>
              <a:buNone/>
              <a:defRPr sz="1875" b="0">
                <a:solidFill>
                  <a:srgbClr val="526971"/>
                </a:solidFill>
                <a:latin typeface="Arial"/>
                <a:ea typeface="Arial"/>
                <a:cs typeface="Arial"/>
              </a:defRPr>
            </a:lvl3pPr>
            <a:lvl4pPr>
              <a:buNone/>
              <a:defRPr sz="1875" b="0">
                <a:solidFill>
                  <a:srgbClr val="526971"/>
                </a:solidFill>
                <a:latin typeface="Arial"/>
                <a:ea typeface="Arial"/>
                <a:cs typeface="Arial"/>
              </a:defRPr>
            </a:lvl4pPr>
            <a:lvl5pPr>
              <a:buNone/>
              <a:defRPr sz="1875" b="0">
                <a:solidFill>
                  <a:srgbClr val="526971"/>
                </a:solidFill>
                <a:latin typeface="Arial"/>
                <a:ea typeface="Arial"/>
                <a:cs typeface="Arial"/>
              </a:defRPr>
            </a:lvl5pPr>
            <a:lvl6pPr>
              <a:buNone/>
              <a:defRPr sz="1875" b="0">
                <a:solidFill>
                  <a:srgbClr val="526971"/>
                </a:solidFill>
                <a:latin typeface="Arial"/>
                <a:ea typeface="Arial"/>
                <a:cs typeface="Arial"/>
              </a:defRPr>
            </a:lvl6pPr>
            <a:lvl7pPr>
              <a:buNone/>
              <a:defRPr sz="1875" b="0">
                <a:solidFill>
                  <a:srgbClr val="526971"/>
                </a:solidFill>
                <a:latin typeface="Arial"/>
                <a:ea typeface="Arial"/>
                <a:cs typeface="Arial"/>
              </a:defRPr>
            </a:lvl7pPr>
            <a:lvl8pPr>
              <a:buNone/>
              <a:defRPr sz="1875" b="0">
                <a:solidFill>
                  <a:srgbClr val="526971"/>
                </a:solidFill>
                <a:latin typeface="Arial"/>
                <a:ea typeface="Arial"/>
                <a:cs typeface="Arial"/>
              </a:defRPr>
            </a:lvl8pPr>
            <a:lvl9pPr>
              <a:buNone/>
              <a:defRPr sz="1875" b="0">
                <a:solidFill>
                  <a:srgbClr val="526971"/>
                </a:solidFill>
                <a:latin typeface="Arial"/>
                <a:ea typeface="Arial"/>
                <a:cs typeface="Arial"/>
              </a:defRPr>
            </a:lvl9pPr>
          </a:lstStyle>
          <a:p xmlns:a="http://schemas.openxmlformats.org/drawingml/2006/main">
            <a:pPr>
              <a:buNone/>
              <a:defRPr sz="1875" b="0">
                <a:solidFill>
                  <a:srgbClr val="526971"/>
                </a:solidFill>
                <a:latin typeface="Arial"/>
                <a:ea typeface="Arial"/>
                <a:cs typeface="Arial"/>
              </a:defRPr>
            </a:pPr>
            <a:r>
              <a:rPr sz="1875" b="0">
                <a:solidFill>
                  <a:srgbClr val="526971"/>
                </a:solidFill>
                <a:latin typeface="Arial"/>
                <a:ea typeface="Arial"/>
                <a:cs typeface="Arial"/>
              </a:rPr>
              <a:t>adriamasnou</a:t>
            </a:r>
          </a:p>
          <a:p xmlns:a="http://schemas.openxmlformats.org/drawingml/2006/main">
            <a:pPr>
              <a:buNone/>
              <a:defRPr sz="1875" b="0">
                <a:solidFill>
                  <a:srgbClr val="526971"/>
                </a:solidFill>
                <a:latin typeface="Arial"/>
                <a:ea typeface="Arial"/>
                <a:cs typeface="Arial"/>
              </a:defRPr>
            </a:pPr>
            <a:r>
              <a:rPr sz="1875" b="0">
                <a:solidFill>
                  <a:srgbClr val="526971"/>
                </a:solidFill>
                <a:latin typeface="Arial"/>
                <a:ea typeface="Arial"/>
                <a:cs typeface="Arial"/>
              </a:rPr>
              <a:t>MVA Hackathon 2026</a:t>
            </a:r>
          </a:p>
        </p:txBody>
      </p:sp>
      <p:sp>
        <p:nvSpPr>
          <p:cNvPr id="7" name="">
            <a:extLst xmlns:a="http://schemas.openxmlformats.org/drawingml/2006/main">
              <a:ext uri="{FF2B5EF4-FFF2-40B4-BE49-F238E27FC236}">
                <a16:creationId xmlns:a16="http://schemas.microsoft.com/office/drawing/2014/main" id="{71391C01-CB57-442A-A030-D71E22945752}"/>
              </a:ext>
            </a:extLst>
          </p:cNvPr>
          <p:cNvSpPr>
            <a:spLocks xmlns:a="http://schemas.openxmlformats.org/drawingml/2006/main" noGrp="1"/>
          </p:cNvSpPr>
          <p:nvPr/>
        </p:nvSpPr>
        <p:spPr>
          <a:xfrm xmlns:a="http://schemas.openxmlformats.org/drawingml/2006/main">
            <a:off x="7429500" y="5143500"/>
            <a:ext cx="4095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526971"/>
                </a:solidFill>
                <a:latin typeface="Arial"/>
                <a:ea typeface="Arial"/>
                <a:cs typeface="Arial"/>
              </a:defRPr>
            </a:defPPr>
            <a:lvl1pPr>
              <a:buNone/>
              <a:defRPr sz="1875" b="0">
                <a:solidFill>
                  <a:srgbClr val="526971"/>
                </a:solidFill>
                <a:latin typeface="Arial"/>
                <a:ea typeface="Arial"/>
                <a:cs typeface="Arial"/>
              </a:defRPr>
            </a:lvl1pPr>
            <a:lvl2pPr>
              <a:buNone/>
              <a:defRPr sz="1875" b="0">
                <a:solidFill>
                  <a:srgbClr val="526971"/>
                </a:solidFill>
                <a:latin typeface="Arial"/>
                <a:ea typeface="Arial"/>
                <a:cs typeface="Arial"/>
              </a:defRPr>
            </a:lvl2pPr>
            <a:lvl3pPr>
              <a:buNone/>
              <a:defRPr sz="1875" b="0">
                <a:solidFill>
                  <a:srgbClr val="526971"/>
                </a:solidFill>
                <a:latin typeface="Arial"/>
                <a:ea typeface="Arial"/>
                <a:cs typeface="Arial"/>
              </a:defRPr>
            </a:lvl3pPr>
            <a:lvl4pPr>
              <a:buNone/>
              <a:defRPr sz="1875" b="0">
                <a:solidFill>
                  <a:srgbClr val="526971"/>
                </a:solidFill>
                <a:latin typeface="Arial"/>
                <a:ea typeface="Arial"/>
                <a:cs typeface="Arial"/>
              </a:defRPr>
            </a:lvl4pPr>
            <a:lvl5pPr>
              <a:buNone/>
              <a:defRPr sz="1875" b="0">
                <a:solidFill>
                  <a:srgbClr val="526971"/>
                </a:solidFill>
                <a:latin typeface="Arial"/>
                <a:ea typeface="Arial"/>
                <a:cs typeface="Arial"/>
              </a:defRPr>
            </a:lvl5pPr>
            <a:lvl6pPr>
              <a:buNone/>
              <a:defRPr sz="1875" b="0">
                <a:solidFill>
                  <a:srgbClr val="526971"/>
                </a:solidFill>
                <a:latin typeface="Arial"/>
                <a:ea typeface="Arial"/>
                <a:cs typeface="Arial"/>
              </a:defRPr>
            </a:lvl6pPr>
            <a:lvl7pPr>
              <a:buNone/>
              <a:defRPr sz="1875" b="0">
                <a:solidFill>
                  <a:srgbClr val="526971"/>
                </a:solidFill>
                <a:latin typeface="Arial"/>
                <a:ea typeface="Arial"/>
                <a:cs typeface="Arial"/>
              </a:defRPr>
            </a:lvl7pPr>
            <a:lvl8pPr>
              <a:buNone/>
              <a:defRPr sz="1875" b="0">
                <a:solidFill>
                  <a:srgbClr val="526971"/>
                </a:solidFill>
                <a:latin typeface="Arial"/>
                <a:ea typeface="Arial"/>
                <a:cs typeface="Arial"/>
              </a:defRPr>
            </a:lvl8pPr>
            <a:lvl9pPr>
              <a:buNone/>
              <a:defRPr sz="1875" b="0">
                <a:solidFill>
                  <a:srgbClr val="526971"/>
                </a:solidFill>
                <a:latin typeface="Arial"/>
                <a:ea typeface="Arial"/>
                <a:cs typeface="Arial"/>
              </a:defRPr>
            </a:lvl9pPr>
          </a:lstStyle>
          <a:p xmlns:a="http://schemas.openxmlformats.org/drawingml/2006/main">
            <a:pPr>
              <a:buNone/>
              <a:defRPr sz="1875" b="0">
                <a:solidFill>
                  <a:srgbClr val="526971"/>
                </a:solidFill>
                <a:latin typeface="Arial"/>
                <a:ea typeface="Arial"/>
                <a:cs typeface="Arial"/>
              </a:defRPr>
            </a:pPr>
            <a:r>
              <a:rPr sz="1875" b="0">
                <a:solidFill>
                  <a:srgbClr val="526971"/>
                </a:solidFill>
                <a:latin typeface="Arial"/>
                <a:ea typeface="Arial"/>
                <a:cs typeface="Arial"/>
              </a:rPr>
              <a:t>No drug rescue experiment</a:t>
            </a:r>
          </a:p>
          <a:p xmlns:a="http://schemas.openxmlformats.org/drawingml/2006/main">
            <a:pPr>
              <a:buNone/>
              <a:defRPr sz="1875" b="0">
                <a:solidFill>
                  <a:srgbClr val="526971"/>
                </a:solidFill>
                <a:latin typeface="Arial"/>
                <a:ea typeface="Arial"/>
                <a:cs typeface="Arial"/>
              </a:defRPr>
            </a:pPr>
            <a:r>
              <a:rPr sz="1875" b="0">
                <a:solidFill>
                  <a:srgbClr val="526971"/>
                </a:solidFill>
                <a:latin typeface="Arial"/>
                <a:ea typeface="Arial"/>
                <a:cs typeface="Arial"/>
              </a:rPr>
              <a:t>has been performed.</a:t>
            </a:r>
          </a:p>
        </p:txBody>
      </p:sp>
    </p:spTree>
    <p:extLst>
      <p:ext uri="{BB962C8B-B14F-4D97-AF65-F5344CB8AC3E}">
        <p14:creationId xmlns:p14="http://schemas.microsoft.com/office/powerpoint/2010/main" val="772576204"/>
      </p:ext>
    </p:extLst>
  </p:cSld>
</p:sld>
</file>

<file path=ppt/slides/slide2.xml><?xml version="1.0" encoding="utf-8"?>
<p:sld xmlns:p="http://schemas.openxmlformats.org/presentationml/2006/main">
  <p:cSld>
    <p:bg>
      <p:bgPr>
        <a:solidFill xmlns:a="http://schemas.openxmlformats.org/drawingml/2006/main">
          <a:srgbClr val="F2F5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EF24068-485B-453A-BA0B-C91F5B5B342E}"/>
              </a:ext>
            </a:extLst>
          </p:cNvPr>
          <p:cNvSpPr>
            <a:spLocks xmlns:a="http://schemas.openxmlformats.org/drawingml/2006/main" noGrp="1"/>
          </p:cNvSpPr>
          <p:nvPr/>
        </p:nvSpPr>
        <p:spPr>
          <a:xfrm xmlns:a="http://schemas.openxmlformats.org/drawingml/2006/main">
            <a:off x="609600" y="5524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750" b="1">
                <a:solidFill>
                  <a:srgbClr val="17333E"/>
                </a:solidFill>
                <a:latin typeface="Arial"/>
                <a:ea typeface="Arial"/>
                <a:cs typeface="Arial"/>
              </a:defRPr>
            </a:defPPr>
            <a:lvl1pPr>
              <a:buNone/>
              <a:defRPr sz="3750" b="1">
                <a:solidFill>
                  <a:srgbClr val="17333E"/>
                </a:solidFill>
                <a:latin typeface="Arial"/>
                <a:ea typeface="Arial"/>
                <a:cs typeface="Arial"/>
              </a:defRPr>
            </a:lvl1pPr>
            <a:lvl2pPr>
              <a:buNone/>
              <a:defRPr sz="3750" b="1">
                <a:solidFill>
                  <a:srgbClr val="17333E"/>
                </a:solidFill>
                <a:latin typeface="Arial"/>
                <a:ea typeface="Arial"/>
                <a:cs typeface="Arial"/>
              </a:defRPr>
            </a:lvl2pPr>
            <a:lvl3pPr>
              <a:buNone/>
              <a:defRPr sz="3750" b="1">
                <a:solidFill>
                  <a:srgbClr val="17333E"/>
                </a:solidFill>
                <a:latin typeface="Arial"/>
                <a:ea typeface="Arial"/>
                <a:cs typeface="Arial"/>
              </a:defRPr>
            </a:lvl3pPr>
            <a:lvl4pPr>
              <a:buNone/>
              <a:defRPr sz="3750" b="1">
                <a:solidFill>
                  <a:srgbClr val="17333E"/>
                </a:solidFill>
                <a:latin typeface="Arial"/>
                <a:ea typeface="Arial"/>
                <a:cs typeface="Arial"/>
              </a:defRPr>
            </a:lvl4pPr>
            <a:lvl5pPr>
              <a:buNone/>
              <a:defRPr sz="3750" b="1">
                <a:solidFill>
                  <a:srgbClr val="17333E"/>
                </a:solidFill>
                <a:latin typeface="Arial"/>
                <a:ea typeface="Arial"/>
                <a:cs typeface="Arial"/>
              </a:defRPr>
            </a:lvl5pPr>
            <a:lvl6pPr>
              <a:buNone/>
              <a:defRPr sz="3750" b="1">
                <a:solidFill>
                  <a:srgbClr val="17333E"/>
                </a:solidFill>
                <a:latin typeface="Arial"/>
                <a:ea typeface="Arial"/>
                <a:cs typeface="Arial"/>
              </a:defRPr>
            </a:lvl6pPr>
            <a:lvl7pPr>
              <a:buNone/>
              <a:defRPr sz="3750" b="1">
                <a:solidFill>
                  <a:srgbClr val="17333E"/>
                </a:solidFill>
                <a:latin typeface="Arial"/>
                <a:ea typeface="Arial"/>
                <a:cs typeface="Arial"/>
              </a:defRPr>
            </a:lvl7pPr>
            <a:lvl8pPr>
              <a:buNone/>
              <a:defRPr sz="3750" b="1">
                <a:solidFill>
                  <a:srgbClr val="17333E"/>
                </a:solidFill>
                <a:latin typeface="Arial"/>
                <a:ea typeface="Arial"/>
                <a:cs typeface="Arial"/>
              </a:defRPr>
            </a:lvl8pPr>
            <a:lvl9pPr>
              <a:buNone/>
              <a:defRPr sz="3750" b="1">
                <a:solidFill>
                  <a:srgbClr val="17333E"/>
                </a:solidFill>
                <a:latin typeface="Arial"/>
                <a:ea typeface="Arial"/>
                <a:cs typeface="Arial"/>
              </a:defRPr>
            </a:lvl9pPr>
          </a:lstStyle>
          <a:p xmlns:a="http://schemas.openxmlformats.org/drawingml/2006/main">
            <a:pPr>
              <a:buNone/>
              <a:defRPr sz="3750" b="1">
                <a:solidFill>
                  <a:srgbClr val="17333E"/>
                </a:solidFill>
                <a:latin typeface="Arial"/>
                <a:ea typeface="Arial"/>
                <a:cs typeface="Arial"/>
              </a:defRPr>
            </a:pPr>
            <a:r>
              <a:rPr sz="3750" b="1">
                <a:solidFill>
                  <a:srgbClr val="17333E"/>
                </a:solidFill>
                <a:latin typeface="Arial"/>
                <a:ea typeface="Arial"/>
                <a:cs typeface="Arial"/>
              </a:rPr>
              <a:t>Variant abundance and function</a:t>
            </a:r>
          </a:p>
        </p:txBody>
      </p:sp>
      <p:sp>
        <p:nvSpPr>
          <p:cNvPr id="2" name="">
            <a:extLst xmlns:a="http://schemas.openxmlformats.org/drawingml/2006/main">
              <a:ext uri="{FF2B5EF4-FFF2-40B4-BE49-F238E27FC236}">
                <a16:creationId xmlns:a16="http://schemas.microsoft.com/office/drawing/2014/main" id="{5E469EE0-D3B8-4537-8948-1FE59B00D213}"/>
              </a:ext>
            </a:extLst>
          </p:cNvPr>
          <p:cNvSpPr>
            <a:spLocks xmlns:a="http://schemas.openxmlformats.org/drawingml/2006/main" noGrp="1"/>
          </p:cNvSpPr>
          <p:nvPr/>
        </p:nvSpPr>
        <p:spPr>
          <a:xfrm xmlns:a="http://schemas.openxmlformats.org/drawingml/2006/main">
            <a:off x="10953750" y="63436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971"/>
                </a:solidFill>
                <a:latin typeface="Arial"/>
                <a:ea typeface="Arial"/>
                <a:cs typeface="Arial"/>
              </a:defRPr>
            </a:defPPr>
            <a:lvl1pPr>
              <a:buNone/>
              <a:defRPr sz="1350" b="0">
                <a:solidFill>
                  <a:srgbClr val="526971"/>
                </a:solidFill>
                <a:latin typeface="Arial"/>
                <a:ea typeface="Arial"/>
                <a:cs typeface="Arial"/>
              </a:defRPr>
            </a:lvl1pPr>
            <a:lvl2pPr>
              <a:buNone/>
              <a:defRPr sz="1350" b="0">
                <a:solidFill>
                  <a:srgbClr val="526971"/>
                </a:solidFill>
                <a:latin typeface="Arial"/>
                <a:ea typeface="Arial"/>
                <a:cs typeface="Arial"/>
              </a:defRPr>
            </a:lvl2pPr>
            <a:lvl3pPr>
              <a:buNone/>
              <a:defRPr sz="1350" b="0">
                <a:solidFill>
                  <a:srgbClr val="526971"/>
                </a:solidFill>
                <a:latin typeface="Arial"/>
                <a:ea typeface="Arial"/>
                <a:cs typeface="Arial"/>
              </a:defRPr>
            </a:lvl3pPr>
            <a:lvl4pPr>
              <a:buNone/>
              <a:defRPr sz="1350" b="0">
                <a:solidFill>
                  <a:srgbClr val="526971"/>
                </a:solidFill>
                <a:latin typeface="Arial"/>
                <a:ea typeface="Arial"/>
                <a:cs typeface="Arial"/>
              </a:defRPr>
            </a:lvl4pPr>
            <a:lvl5pPr>
              <a:buNone/>
              <a:defRPr sz="1350" b="0">
                <a:solidFill>
                  <a:srgbClr val="526971"/>
                </a:solidFill>
                <a:latin typeface="Arial"/>
                <a:ea typeface="Arial"/>
                <a:cs typeface="Arial"/>
              </a:defRPr>
            </a:lvl5pPr>
            <a:lvl6pPr>
              <a:buNone/>
              <a:defRPr sz="1350" b="0">
                <a:solidFill>
                  <a:srgbClr val="526971"/>
                </a:solidFill>
                <a:latin typeface="Arial"/>
                <a:ea typeface="Arial"/>
                <a:cs typeface="Arial"/>
              </a:defRPr>
            </a:lvl6pPr>
            <a:lvl7pPr>
              <a:buNone/>
              <a:defRPr sz="1350" b="0">
                <a:solidFill>
                  <a:srgbClr val="526971"/>
                </a:solidFill>
                <a:latin typeface="Arial"/>
                <a:ea typeface="Arial"/>
                <a:cs typeface="Arial"/>
              </a:defRPr>
            </a:lvl7pPr>
            <a:lvl8pPr>
              <a:buNone/>
              <a:defRPr sz="1350" b="0">
                <a:solidFill>
                  <a:srgbClr val="526971"/>
                </a:solidFill>
                <a:latin typeface="Arial"/>
                <a:ea typeface="Arial"/>
                <a:cs typeface="Arial"/>
              </a:defRPr>
            </a:lvl8pPr>
            <a:lvl9pPr>
              <a:buNone/>
              <a:defRPr sz="1350" b="0">
                <a:solidFill>
                  <a:srgbClr val="526971"/>
                </a:solidFill>
                <a:latin typeface="Arial"/>
                <a:ea typeface="Arial"/>
                <a:cs typeface="Arial"/>
              </a:defRPr>
            </a:lvl9pPr>
          </a:lstStyle>
          <a:p xmlns:a="http://schemas.openxmlformats.org/drawingml/2006/main">
            <a:pPr>
              <a:buNone/>
              <a:defRPr sz="1350" b="0">
                <a:solidFill>
                  <a:srgbClr val="526971"/>
                </a:solidFill>
                <a:latin typeface="Arial"/>
                <a:ea typeface="Arial"/>
                <a:cs typeface="Arial"/>
              </a:defRPr>
            </a:pPr>
            <a:r>
              <a:rPr sz="1350" b="0">
                <a:solidFill>
                  <a:srgbClr val="526971"/>
                </a:solidFill>
                <a:latin typeface="Arial"/>
                <a:ea typeface="Arial"/>
                <a:cs typeface="Arial"/>
              </a:rPr>
              <a:t>2/6</a:t>
            </a:r>
          </a:p>
        </p:txBody>
      </p:sp>
      <p:sp>
        <p:nvSpPr>
          <p:cNvPr id="3" name="">
            <a:extLst xmlns:a="http://schemas.openxmlformats.org/drawingml/2006/main">
              <a:ext uri="{FF2B5EF4-FFF2-40B4-BE49-F238E27FC236}">
                <a16:creationId xmlns:a16="http://schemas.microsoft.com/office/drawing/2014/main" id="{6B396105-0B19-44D9-B46D-593526F3547B}"/>
              </a:ext>
            </a:extLst>
          </p:cNvPr>
          <p:cNvSpPr>
            <a:spLocks xmlns:a="http://schemas.openxmlformats.org/drawingml/2006/main" noGrp="1"/>
          </p:cNvSpPr>
          <p:nvPr/>
        </p:nvSpPr>
        <p:spPr>
          <a:xfrm xmlns:a="http://schemas.openxmlformats.org/drawingml/2006/main">
            <a:off x="609600" y="634365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26971"/>
                </a:solidFill>
                <a:latin typeface="Arial"/>
                <a:ea typeface="Arial"/>
                <a:cs typeface="Arial"/>
              </a:defRPr>
            </a:defPPr>
            <a:lvl1pPr>
              <a:buNone/>
              <a:defRPr sz="1200" b="0">
                <a:solidFill>
                  <a:srgbClr val="526971"/>
                </a:solidFill>
                <a:latin typeface="Arial"/>
                <a:ea typeface="Arial"/>
                <a:cs typeface="Arial"/>
              </a:defRPr>
            </a:lvl1pPr>
            <a:lvl2pPr>
              <a:buNone/>
              <a:defRPr sz="1200" b="0">
                <a:solidFill>
                  <a:srgbClr val="526971"/>
                </a:solidFill>
                <a:latin typeface="Arial"/>
                <a:ea typeface="Arial"/>
                <a:cs typeface="Arial"/>
              </a:defRPr>
            </a:lvl2pPr>
            <a:lvl3pPr>
              <a:buNone/>
              <a:defRPr sz="1200" b="0">
                <a:solidFill>
                  <a:srgbClr val="526971"/>
                </a:solidFill>
                <a:latin typeface="Arial"/>
                <a:ea typeface="Arial"/>
                <a:cs typeface="Arial"/>
              </a:defRPr>
            </a:lvl3pPr>
            <a:lvl4pPr>
              <a:buNone/>
              <a:defRPr sz="1200" b="0">
                <a:solidFill>
                  <a:srgbClr val="526971"/>
                </a:solidFill>
                <a:latin typeface="Arial"/>
                <a:ea typeface="Arial"/>
                <a:cs typeface="Arial"/>
              </a:defRPr>
            </a:lvl4pPr>
            <a:lvl5pPr>
              <a:buNone/>
              <a:defRPr sz="1200" b="0">
                <a:solidFill>
                  <a:srgbClr val="526971"/>
                </a:solidFill>
                <a:latin typeface="Arial"/>
                <a:ea typeface="Arial"/>
                <a:cs typeface="Arial"/>
              </a:defRPr>
            </a:lvl5pPr>
            <a:lvl6pPr>
              <a:buNone/>
              <a:defRPr sz="1200" b="0">
                <a:solidFill>
                  <a:srgbClr val="526971"/>
                </a:solidFill>
                <a:latin typeface="Arial"/>
                <a:ea typeface="Arial"/>
                <a:cs typeface="Arial"/>
              </a:defRPr>
            </a:lvl6pPr>
            <a:lvl7pPr>
              <a:buNone/>
              <a:defRPr sz="1200" b="0">
                <a:solidFill>
                  <a:srgbClr val="526971"/>
                </a:solidFill>
                <a:latin typeface="Arial"/>
                <a:ea typeface="Arial"/>
                <a:cs typeface="Arial"/>
              </a:defRPr>
            </a:lvl7pPr>
            <a:lvl8pPr>
              <a:buNone/>
              <a:defRPr sz="1200" b="0">
                <a:solidFill>
                  <a:srgbClr val="526971"/>
                </a:solidFill>
                <a:latin typeface="Arial"/>
                <a:ea typeface="Arial"/>
                <a:cs typeface="Arial"/>
              </a:defRPr>
            </a:lvl8pPr>
            <a:lvl9pPr>
              <a:buNone/>
              <a:defRPr sz="1200" b="0">
                <a:solidFill>
                  <a:srgbClr val="526971"/>
                </a:solidFill>
                <a:latin typeface="Arial"/>
                <a:ea typeface="Arial"/>
                <a:cs typeface="Arial"/>
              </a:defRPr>
            </a:lvl9pPr>
          </a:lstStyle>
          <a:p xmlns:a="http://schemas.openxmlformats.org/drawingml/2006/main">
            <a:pPr>
              <a:buNone/>
              <a:defRPr sz="1200" b="0">
                <a:solidFill>
                  <a:srgbClr val="526971"/>
                </a:solidFill>
                <a:latin typeface="Arial"/>
                <a:ea typeface="Arial"/>
                <a:cs typeface="Arial"/>
              </a:defRPr>
            </a:pPr>
            <a:r>
              <a:rPr sz="1200" b="0">
                <a:solidFill>
                  <a:srgbClr val="526971"/>
                </a:solidFill>
                <a:latin typeface="Arial"/>
                <a:ea typeface="Arial"/>
                <a:cs typeface="Arial"/>
              </a:rPr>
              <a:t>PMIDs 20516114  /  22698286  /  33207204</a:t>
            </a:r>
          </a:p>
        </p:txBody>
      </p:sp>
      <p:sp>
        <p:nvSpPr>
          <p:cNvPr id="4" name="">
            <a:extLst xmlns:a="http://schemas.openxmlformats.org/drawingml/2006/main">
              <a:ext uri="{FF2B5EF4-FFF2-40B4-BE49-F238E27FC236}">
                <a16:creationId xmlns:a16="http://schemas.microsoft.com/office/drawing/2014/main" id="{A1333F4C-A57F-41CB-9A55-725EB7BCB806}"/>
              </a:ext>
            </a:extLst>
          </p:cNvPr>
          <p:cNvSpPr>
            <a:spLocks xmlns:a="http://schemas.openxmlformats.org/drawingml/2006/main" noGrp="1"/>
          </p:cNvSpPr>
          <p:nvPr/>
        </p:nvSpPr>
        <p:spPr>
          <a:xfrm xmlns:a="http://schemas.openxmlformats.org/drawingml/2006/main">
            <a:off x="609600" y="16192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526971"/>
                </a:solidFill>
                <a:latin typeface="Arial"/>
                <a:ea typeface="Arial"/>
                <a:cs typeface="Arial"/>
              </a:defRPr>
            </a:defPPr>
            <a:lvl1pPr>
              <a:buNone/>
              <a:defRPr sz="2250" b="0">
                <a:solidFill>
                  <a:srgbClr val="526971"/>
                </a:solidFill>
                <a:latin typeface="Arial"/>
                <a:ea typeface="Arial"/>
                <a:cs typeface="Arial"/>
              </a:defRPr>
            </a:lvl1pPr>
            <a:lvl2pPr>
              <a:buNone/>
              <a:defRPr sz="2250" b="0">
                <a:solidFill>
                  <a:srgbClr val="526971"/>
                </a:solidFill>
                <a:latin typeface="Arial"/>
                <a:ea typeface="Arial"/>
                <a:cs typeface="Arial"/>
              </a:defRPr>
            </a:lvl2pPr>
            <a:lvl3pPr>
              <a:buNone/>
              <a:defRPr sz="2250" b="0">
                <a:solidFill>
                  <a:srgbClr val="526971"/>
                </a:solidFill>
                <a:latin typeface="Arial"/>
                <a:ea typeface="Arial"/>
                <a:cs typeface="Arial"/>
              </a:defRPr>
            </a:lvl3pPr>
            <a:lvl4pPr>
              <a:buNone/>
              <a:defRPr sz="2250" b="0">
                <a:solidFill>
                  <a:srgbClr val="526971"/>
                </a:solidFill>
                <a:latin typeface="Arial"/>
                <a:ea typeface="Arial"/>
                <a:cs typeface="Arial"/>
              </a:defRPr>
            </a:lvl4pPr>
            <a:lvl5pPr>
              <a:buNone/>
              <a:defRPr sz="2250" b="0">
                <a:solidFill>
                  <a:srgbClr val="526971"/>
                </a:solidFill>
                <a:latin typeface="Arial"/>
                <a:ea typeface="Arial"/>
                <a:cs typeface="Arial"/>
              </a:defRPr>
            </a:lvl5pPr>
            <a:lvl6pPr>
              <a:buNone/>
              <a:defRPr sz="2250" b="0">
                <a:solidFill>
                  <a:srgbClr val="526971"/>
                </a:solidFill>
                <a:latin typeface="Arial"/>
                <a:ea typeface="Arial"/>
                <a:cs typeface="Arial"/>
              </a:defRPr>
            </a:lvl6pPr>
            <a:lvl7pPr>
              <a:buNone/>
              <a:defRPr sz="2250" b="0">
                <a:solidFill>
                  <a:srgbClr val="526971"/>
                </a:solidFill>
                <a:latin typeface="Arial"/>
                <a:ea typeface="Arial"/>
                <a:cs typeface="Arial"/>
              </a:defRPr>
            </a:lvl7pPr>
            <a:lvl8pPr>
              <a:buNone/>
              <a:defRPr sz="2250" b="0">
                <a:solidFill>
                  <a:srgbClr val="526971"/>
                </a:solidFill>
                <a:latin typeface="Arial"/>
                <a:ea typeface="Arial"/>
                <a:cs typeface="Arial"/>
              </a:defRPr>
            </a:lvl8pPr>
            <a:lvl9pPr>
              <a:buNone/>
              <a:defRPr sz="2250" b="0">
                <a:solidFill>
                  <a:srgbClr val="526971"/>
                </a:solidFill>
                <a:latin typeface="Arial"/>
                <a:ea typeface="Arial"/>
                <a:cs typeface="Arial"/>
              </a:defRPr>
            </a:lvl9pPr>
          </a:lstStyle>
          <a:p xmlns:a="http://schemas.openxmlformats.org/drawingml/2006/main">
            <a:pPr>
              <a:buNone/>
              <a:defRPr sz="2250" b="0">
                <a:solidFill>
                  <a:srgbClr val="526971"/>
                </a:solidFill>
                <a:latin typeface="Arial"/>
                <a:ea typeface="Arial"/>
                <a:cs typeface="Arial"/>
              </a:defRPr>
            </a:pPr>
            <a:r>
              <a:rPr sz="2250" b="0">
                <a:solidFill>
                  <a:srgbClr val="526971"/>
                </a:solidFill>
                <a:latin typeface="Arial"/>
                <a:ea typeface="Arial"/>
                <a:cs typeface="Arial"/>
              </a:rPr>
              <a:t>Phase is inferred. N1002K function remains unmeasured.</a:t>
            </a:r>
          </a:p>
        </p:txBody>
      </p:sp>
      <p:sp>
        <p:nvSpPr>
          <p:cNvPr id="5" name="">
            <a:extLst xmlns:a="http://schemas.openxmlformats.org/drawingml/2006/main">
              <a:ext uri="{FF2B5EF4-FFF2-40B4-BE49-F238E27FC236}">
                <a16:creationId xmlns:a16="http://schemas.microsoft.com/office/drawing/2014/main" id="{B990EE14-CCA0-46B4-951C-D8EACDC6FFB4}"/>
              </a:ext>
            </a:extLst>
          </p:cNvPr>
          <p:cNvSpPr>
            <a:spLocks xmlns:a="http://schemas.openxmlformats.org/drawingml/2006/main" noGrp="1"/>
          </p:cNvSpPr>
          <p:nvPr/>
        </p:nvSpPr>
        <p:spPr>
          <a:xfrm xmlns:a="http://schemas.openxmlformats.org/drawingml/2006/main">
            <a:off x="609600" y="2857500"/>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000" b="1">
                <a:solidFill>
                  <a:srgbClr val="176C63"/>
                </a:solidFill>
                <a:latin typeface="Arial"/>
                <a:ea typeface="Arial"/>
                <a:cs typeface="Arial"/>
              </a:defRPr>
            </a:defPPr>
            <a:lvl1pPr>
              <a:buNone/>
              <a:defRPr sz="3000" b="1">
                <a:solidFill>
                  <a:srgbClr val="176C63"/>
                </a:solidFill>
                <a:latin typeface="Arial"/>
                <a:ea typeface="Arial"/>
                <a:cs typeface="Arial"/>
              </a:defRPr>
            </a:lvl1pPr>
            <a:lvl2pPr>
              <a:buNone/>
              <a:defRPr sz="3000" b="1">
                <a:solidFill>
                  <a:srgbClr val="176C63"/>
                </a:solidFill>
                <a:latin typeface="Arial"/>
                <a:ea typeface="Arial"/>
                <a:cs typeface="Arial"/>
              </a:defRPr>
            </a:lvl2pPr>
            <a:lvl3pPr>
              <a:buNone/>
              <a:defRPr sz="3000" b="1">
                <a:solidFill>
                  <a:srgbClr val="176C63"/>
                </a:solidFill>
                <a:latin typeface="Arial"/>
                <a:ea typeface="Arial"/>
                <a:cs typeface="Arial"/>
              </a:defRPr>
            </a:lvl3pPr>
            <a:lvl4pPr>
              <a:buNone/>
              <a:defRPr sz="3000" b="1">
                <a:solidFill>
                  <a:srgbClr val="176C63"/>
                </a:solidFill>
                <a:latin typeface="Arial"/>
                <a:ea typeface="Arial"/>
                <a:cs typeface="Arial"/>
              </a:defRPr>
            </a:lvl4pPr>
            <a:lvl5pPr>
              <a:buNone/>
              <a:defRPr sz="3000" b="1">
                <a:solidFill>
                  <a:srgbClr val="176C63"/>
                </a:solidFill>
                <a:latin typeface="Arial"/>
                <a:ea typeface="Arial"/>
                <a:cs typeface="Arial"/>
              </a:defRPr>
            </a:lvl5pPr>
            <a:lvl6pPr>
              <a:buNone/>
              <a:defRPr sz="3000" b="1">
                <a:solidFill>
                  <a:srgbClr val="176C63"/>
                </a:solidFill>
                <a:latin typeface="Arial"/>
                <a:ea typeface="Arial"/>
                <a:cs typeface="Arial"/>
              </a:defRPr>
            </a:lvl6pPr>
            <a:lvl7pPr>
              <a:buNone/>
              <a:defRPr sz="3000" b="1">
                <a:solidFill>
                  <a:srgbClr val="176C63"/>
                </a:solidFill>
                <a:latin typeface="Arial"/>
                <a:ea typeface="Arial"/>
                <a:cs typeface="Arial"/>
              </a:defRPr>
            </a:lvl7pPr>
            <a:lvl8pPr>
              <a:buNone/>
              <a:defRPr sz="3000" b="1">
                <a:solidFill>
                  <a:srgbClr val="176C63"/>
                </a:solidFill>
                <a:latin typeface="Arial"/>
                <a:ea typeface="Arial"/>
                <a:cs typeface="Arial"/>
              </a:defRPr>
            </a:lvl8pPr>
            <a:lvl9pPr>
              <a:buNone/>
              <a:defRPr sz="3000" b="1">
                <a:solidFill>
                  <a:srgbClr val="176C63"/>
                </a:solidFill>
                <a:latin typeface="Arial"/>
                <a:ea typeface="Arial"/>
                <a:cs typeface="Arial"/>
              </a:defRPr>
            </a:lvl9pPr>
          </a:lstStyle>
          <a:p xmlns:a="http://schemas.openxmlformats.org/drawingml/2006/main">
            <a:pPr>
              <a:buNone/>
              <a:defRPr sz="3000" b="1">
                <a:solidFill>
                  <a:srgbClr val="176C63"/>
                </a:solidFill>
                <a:latin typeface="Arial"/>
                <a:ea typeface="Arial"/>
                <a:cs typeface="Arial"/>
              </a:defRPr>
            </a:pPr>
            <a:r>
              <a:rPr sz="3000" b="1">
                <a:solidFill>
                  <a:srgbClr val="176C63"/>
                </a:solidFill>
                <a:latin typeface="Arial"/>
                <a:ea typeface="Arial"/>
                <a:cs typeface="Arial"/>
              </a:rPr>
              <a:t>Protein amount</a:t>
            </a:r>
          </a:p>
        </p:txBody>
      </p:sp>
      <p:sp>
        <p:nvSpPr>
          <p:cNvPr id="6" name="">
            <a:extLst xmlns:a="http://schemas.openxmlformats.org/drawingml/2006/main">
              <a:ext uri="{FF2B5EF4-FFF2-40B4-BE49-F238E27FC236}">
                <a16:creationId xmlns:a16="http://schemas.microsoft.com/office/drawing/2014/main" id="{F84E5752-C2C0-4AF1-82BF-770FE314AF47}"/>
              </a:ext>
            </a:extLst>
          </p:cNvPr>
          <p:cNvSpPr>
            <a:spLocks xmlns:a="http://schemas.openxmlformats.org/drawingml/2006/main" noGrp="1"/>
          </p:cNvSpPr>
          <p:nvPr/>
        </p:nvSpPr>
        <p:spPr>
          <a:xfrm xmlns:a="http://schemas.openxmlformats.org/drawingml/2006/main">
            <a:off x="609600" y="3619500"/>
            <a:ext cx="4857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7333E"/>
                </a:solidFill>
                <a:latin typeface="Arial"/>
                <a:ea typeface="Arial"/>
                <a:cs typeface="Arial"/>
              </a:defRPr>
            </a:defPPr>
            <a:lvl1pPr>
              <a:buNone/>
              <a:defRPr sz="2550" b="0">
                <a:solidFill>
                  <a:srgbClr val="17333E"/>
                </a:solidFill>
                <a:latin typeface="Arial"/>
                <a:ea typeface="Arial"/>
                <a:cs typeface="Arial"/>
              </a:defRPr>
            </a:lvl1pPr>
            <a:lvl2pPr>
              <a:buNone/>
              <a:defRPr sz="2550" b="0">
                <a:solidFill>
                  <a:srgbClr val="17333E"/>
                </a:solidFill>
                <a:latin typeface="Arial"/>
                <a:ea typeface="Arial"/>
                <a:cs typeface="Arial"/>
              </a:defRPr>
            </a:lvl2pPr>
            <a:lvl3pPr>
              <a:buNone/>
              <a:defRPr sz="2550" b="0">
                <a:solidFill>
                  <a:srgbClr val="17333E"/>
                </a:solidFill>
                <a:latin typeface="Arial"/>
                <a:ea typeface="Arial"/>
                <a:cs typeface="Arial"/>
              </a:defRPr>
            </a:lvl3pPr>
            <a:lvl4pPr>
              <a:buNone/>
              <a:defRPr sz="2550" b="0">
                <a:solidFill>
                  <a:srgbClr val="17333E"/>
                </a:solidFill>
                <a:latin typeface="Arial"/>
                <a:ea typeface="Arial"/>
                <a:cs typeface="Arial"/>
              </a:defRPr>
            </a:lvl4pPr>
            <a:lvl5pPr>
              <a:buNone/>
              <a:defRPr sz="2550" b="0">
                <a:solidFill>
                  <a:srgbClr val="17333E"/>
                </a:solidFill>
                <a:latin typeface="Arial"/>
                <a:ea typeface="Arial"/>
                <a:cs typeface="Arial"/>
              </a:defRPr>
            </a:lvl5pPr>
            <a:lvl6pPr>
              <a:buNone/>
              <a:defRPr sz="2550" b="0">
                <a:solidFill>
                  <a:srgbClr val="17333E"/>
                </a:solidFill>
                <a:latin typeface="Arial"/>
                <a:ea typeface="Arial"/>
                <a:cs typeface="Arial"/>
              </a:defRPr>
            </a:lvl6pPr>
            <a:lvl7pPr>
              <a:buNone/>
              <a:defRPr sz="2550" b="0">
                <a:solidFill>
                  <a:srgbClr val="17333E"/>
                </a:solidFill>
                <a:latin typeface="Arial"/>
                <a:ea typeface="Arial"/>
                <a:cs typeface="Arial"/>
              </a:defRPr>
            </a:lvl7pPr>
            <a:lvl8pPr>
              <a:buNone/>
              <a:defRPr sz="2550" b="0">
                <a:solidFill>
                  <a:srgbClr val="17333E"/>
                </a:solidFill>
                <a:latin typeface="Arial"/>
                <a:ea typeface="Arial"/>
                <a:cs typeface="Arial"/>
              </a:defRPr>
            </a:lvl8pPr>
            <a:lvl9pPr>
              <a:buNone/>
              <a:defRPr sz="2550" b="0">
                <a:solidFill>
                  <a:srgbClr val="17333E"/>
                </a:solidFill>
                <a:latin typeface="Arial"/>
                <a:ea typeface="Arial"/>
                <a:cs typeface="Arial"/>
              </a:defRPr>
            </a:lvl9pPr>
          </a:lstStyle>
          <a:p xmlns:a="http://schemas.openxmlformats.org/drawingml/2006/main">
            <a:pPr>
              <a:buNone/>
              <a:defRPr sz="2550" b="0">
                <a:solidFill>
                  <a:srgbClr val="17333E"/>
                </a:solidFill>
                <a:latin typeface="Arial"/>
                <a:ea typeface="Arial"/>
                <a:cs typeface="Arial"/>
              </a:defRPr>
            </a:pPr>
            <a:r>
              <a:rPr sz="2550" b="0">
                <a:solidFill>
                  <a:srgbClr val="17333E"/>
                </a:solidFill>
                <a:latin typeface="Arial"/>
                <a:ea typeface="Arial"/>
                <a:cs typeface="Arial"/>
              </a:rPr>
              <a:t>Expression, turnover</a:t>
            </a:r>
          </a:p>
          <a:p xmlns:a="http://schemas.openxmlformats.org/drawingml/2006/main">
            <a:pPr>
              <a:buNone/>
              <a:defRPr sz="2550" b="0">
                <a:solidFill>
                  <a:srgbClr val="17333E"/>
                </a:solidFill>
                <a:latin typeface="Arial"/>
                <a:ea typeface="Arial"/>
                <a:cs typeface="Arial"/>
              </a:defRPr>
            </a:pPr>
            <a:r>
              <a:rPr sz="2550" b="0">
                <a:solidFill>
                  <a:srgbClr val="17333E"/>
                </a:solidFill>
                <a:latin typeface="Arial"/>
                <a:ea typeface="Arial"/>
                <a:cs typeface="Arial"/>
              </a:rPr>
              <a:t>and localisation</a:t>
            </a:r>
          </a:p>
        </p:txBody>
      </p:sp>
      <p:sp>
        <p:nvSpPr>
          <p:cNvPr id="7" name="">
            <a:extLst xmlns:a="http://schemas.openxmlformats.org/drawingml/2006/main">
              <a:ext uri="{FF2B5EF4-FFF2-40B4-BE49-F238E27FC236}">
                <a16:creationId xmlns:a16="http://schemas.microsoft.com/office/drawing/2014/main" id="{58436EDB-5D76-491D-830A-A9985FB89D3B}"/>
              </a:ext>
            </a:extLst>
          </p:cNvPr>
          <p:cNvSpPr>
            <a:spLocks xmlns:a="http://schemas.openxmlformats.org/drawingml/2006/main" noGrp="1"/>
          </p:cNvSpPr>
          <p:nvPr/>
        </p:nvSpPr>
        <p:spPr>
          <a:xfrm xmlns:a="http://schemas.openxmlformats.org/drawingml/2006/main">
            <a:off x="6477000" y="2857500"/>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000" b="1">
                <a:solidFill>
                  <a:srgbClr val="176C63"/>
                </a:solidFill>
                <a:latin typeface="Arial"/>
                <a:ea typeface="Arial"/>
                <a:cs typeface="Arial"/>
              </a:defRPr>
            </a:defPPr>
            <a:lvl1pPr>
              <a:buNone/>
              <a:defRPr sz="3000" b="1">
                <a:solidFill>
                  <a:srgbClr val="176C63"/>
                </a:solidFill>
                <a:latin typeface="Arial"/>
                <a:ea typeface="Arial"/>
                <a:cs typeface="Arial"/>
              </a:defRPr>
            </a:lvl1pPr>
            <a:lvl2pPr>
              <a:buNone/>
              <a:defRPr sz="3000" b="1">
                <a:solidFill>
                  <a:srgbClr val="176C63"/>
                </a:solidFill>
                <a:latin typeface="Arial"/>
                <a:ea typeface="Arial"/>
                <a:cs typeface="Arial"/>
              </a:defRPr>
            </a:lvl2pPr>
            <a:lvl3pPr>
              <a:buNone/>
              <a:defRPr sz="3000" b="1">
                <a:solidFill>
                  <a:srgbClr val="176C63"/>
                </a:solidFill>
                <a:latin typeface="Arial"/>
                <a:ea typeface="Arial"/>
                <a:cs typeface="Arial"/>
              </a:defRPr>
            </a:lvl3pPr>
            <a:lvl4pPr>
              <a:buNone/>
              <a:defRPr sz="3000" b="1">
                <a:solidFill>
                  <a:srgbClr val="176C63"/>
                </a:solidFill>
                <a:latin typeface="Arial"/>
                <a:ea typeface="Arial"/>
                <a:cs typeface="Arial"/>
              </a:defRPr>
            </a:lvl4pPr>
            <a:lvl5pPr>
              <a:buNone/>
              <a:defRPr sz="3000" b="1">
                <a:solidFill>
                  <a:srgbClr val="176C63"/>
                </a:solidFill>
                <a:latin typeface="Arial"/>
                <a:ea typeface="Arial"/>
                <a:cs typeface="Arial"/>
              </a:defRPr>
            </a:lvl5pPr>
            <a:lvl6pPr>
              <a:buNone/>
              <a:defRPr sz="3000" b="1">
                <a:solidFill>
                  <a:srgbClr val="176C63"/>
                </a:solidFill>
                <a:latin typeface="Arial"/>
                <a:ea typeface="Arial"/>
                <a:cs typeface="Arial"/>
              </a:defRPr>
            </a:lvl6pPr>
            <a:lvl7pPr>
              <a:buNone/>
              <a:defRPr sz="3000" b="1">
                <a:solidFill>
                  <a:srgbClr val="176C63"/>
                </a:solidFill>
                <a:latin typeface="Arial"/>
                <a:ea typeface="Arial"/>
                <a:cs typeface="Arial"/>
              </a:defRPr>
            </a:lvl7pPr>
            <a:lvl8pPr>
              <a:buNone/>
              <a:defRPr sz="3000" b="1">
                <a:solidFill>
                  <a:srgbClr val="176C63"/>
                </a:solidFill>
                <a:latin typeface="Arial"/>
                <a:ea typeface="Arial"/>
                <a:cs typeface="Arial"/>
              </a:defRPr>
            </a:lvl8pPr>
            <a:lvl9pPr>
              <a:buNone/>
              <a:defRPr sz="3000" b="1">
                <a:solidFill>
                  <a:srgbClr val="176C63"/>
                </a:solidFill>
                <a:latin typeface="Arial"/>
                <a:ea typeface="Arial"/>
                <a:cs typeface="Arial"/>
              </a:defRPr>
            </a:lvl9pPr>
          </a:lstStyle>
          <a:p xmlns:a="http://schemas.openxmlformats.org/drawingml/2006/main">
            <a:pPr>
              <a:buNone/>
              <a:defRPr sz="3000" b="1">
                <a:solidFill>
                  <a:srgbClr val="176C63"/>
                </a:solidFill>
                <a:latin typeface="Arial"/>
                <a:ea typeface="Arial"/>
                <a:cs typeface="Arial"/>
              </a:defRPr>
            </a:pPr>
            <a:r>
              <a:rPr sz="3000" b="1">
                <a:solidFill>
                  <a:srgbClr val="176C63"/>
                </a:solidFill>
                <a:latin typeface="Arial"/>
                <a:ea typeface="Arial"/>
                <a:cs typeface="Arial"/>
              </a:rPr>
              <a:t>Protein function</a:t>
            </a:r>
          </a:p>
        </p:txBody>
      </p:sp>
      <p:sp>
        <p:nvSpPr>
          <p:cNvPr id="8" name="">
            <a:extLst xmlns:a="http://schemas.openxmlformats.org/drawingml/2006/main">
              <a:ext uri="{FF2B5EF4-FFF2-40B4-BE49-F238E27FC236}">
                <a16:creationId xmlns:a16="http://schemas.microsoft.com/office/drawing/2014/main" id="{867C8EAE-E6E3-4FBB-A818-0AA7E21568F2}"/>
              </a:ext>
            </a:extLst>
          </p:cNvPr>
          <p:cNvSpPr>
            <a:spLocks xmlns:a="http://schemas.openxmlformats.org/drawingml/2006/main" noGrp="1"/>
          </p:cNvSpPr>
          <p:nvPr/>
        </p:nvSpPr>
        <p:spPr>
          <a:xfrm xmlns:a="http://schemas.openxmlformats.org/drawingml/2006/main">
            <a:off x="6477000" y="3619500"/>
            <a:ext cx="5048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400" b="0">
                <a:solidFill>
                  <a:srgbClr val="17333E"/>
                </a:solidFill>
                <a:latin typeface="Arial"/>
                <a:ea typeface="Arial"/>
                <a:cs typeface="Arial"/>
              </a:defRPr>
            </a:defPPr>
            <a:lvl1pPr>
              <a:buNone/>
              <a:defRPr sz="2400" b="0">
                <a:solidFill>
                  <a:srgbClr val="17333E"/>
                </a:solidFill>
                <a:latin typeface="Arial"/>
                <a:ea typeface="Arial"/>
                <a:cs typeface="Arial"/>
              </a:defRPr>
            </a:lvl1pPr>
            <a:lvl2pPr>
              <a:buNone/>
              <a:defRPr sz="2400" b="0">
                <a:solidFill>
                  <a:srgbClr val="17333E"/>
                </a:solidFill>
                <a:latin typeface="Arial"/>
                <a:ea typeface="Arial"/>
                <a:cs typeface="Arial"/>
              </a:defRPr>
            </a:lvl2pPr>
            <a:lvl3pPr>
              <a:buNone/>
              <a:defRPr sz="2400" b="0">
                <a:solidFill>
                  <a:srgbClr val="17333E"/>
                </a:solidFill>
                <a:latin typeface="Arial"/>
                <a:ea typeface="Arial"/>
                <a:cs typeface="Arial"/>
              </a:defRPr>
            </a:lvl3pPr>
            <a:lvl4pPr>
              <a:buNone/>
              <a:defRPr sz="2400" b="0">
                <a:solidFill>
                  <a:srgbClr val="17333E"/>
                </a:solidFill>
                <a:latin typeface="Arial"/>
                <a:ea typeface="Arial"/>
                <a:cs typeface="Arial"/>
              </a:defRPr>
            </a:lvl4pPr>
            <a:lvl5pPr>
              <a:buNone/>
              <a:defRPr sz="2400" b="0">
                <a:solidFill>
                  <a:srgbClr val="17333E"/>
                </a:solidFill>
                <a:latin typeface="Arial"/>
                <a:ea typeface="Arial"/>
                <a:cs typeface="Arial"/>
              </a:defRPr>
            </a:lvl5pPr>
            <a:lvl6pPr>
              <a:buNone/>
              <a:defRPr sz="2400" b="0">
                <a:solidFill>
                  <a:srgbClr val="17333E"/>
                </a:solidFill>
                <a:latin typeface="Arial"/>
                <a:ea typeface="Arial"/>
                <a:cs typeface="Arial"/>
              </a:defRPr>
            </a:lvl6pPr>
            <a:lvl7pPr>
              <a:buNone/>
              <a:defRPr sz="2400" b="0">
                <a:solidFill>
                  <a:srgbClr val="17333E"/>
                </a:solidFill>
                <a:latin typeface="Arial"/>
                <a:ea typeface="Arial"/>
                <a:cs typeface="Arial"/>
              </a:defRPr>
            </a:lvl7pPr>
            <a:lvl8pPr>
              <a:buNone/>
              <a:defRPr sz="2400" b="0">
                <a:solidFill>
                  <a:srgbClr val="17333E"/>
                </a:solidFill>
                <a:latin typeface="Arial"/>
                <a:ea typeface="Arial"/>
                <a:cs typeface="Arial"/>
              </a:defRPr>
            </a:lvl8pPr>
            <a:lvl9pPr>
              <a:buNone/>
              <a:defRPr sz="2400" b="0">
                <a:solidFill>
                  <a:srgbClr val="17333E"/>
                </a:solidFill>
                <a:latin typeface="Arial"/>
                <a:ea typeface="Arial"/>
                <a:cs typeface="Arial"/>
              </a:defRPr>
            </a:lvl9pPr>
          </a:lstStyle>
          <a:p xmlns:a="http://schemas.openxmlformats.org/drawingml/2006/main">
            <a:pPr>
              <a:buNone/>
              <a:defRPr sz="2400" b="0">
                <a:solidFill>
                  <a:srgbClr val="17333E"/>
                </a:solidFill>
                <a:latin typeface="Arial"/>
                <a:ea typeface="Arial"/>
                <a:cs typeface="Arial"/>
              </a:defRPr>
            </a:pPr>
            <a:r>
              <a:rPr sz="2400" b="0">
                <a:solidFill>
                  <a:srgbClr val="17333E"/>
                </a:solidFill>
                <a:latin typeface="Arial"/>
                <a:ea typeface="Arial"/>
                <a:cs typeface="Arial"/>
              </a:rPr>
              <a:t>Full-length WT and variant</a:t>
            </a:r>
          </a:p>
          <a:p xmlns:a="http://schemas.openxmlformats.org/drawingml/2006/main">
            <a:pPr>
              <a:buNone/>
              <a:defRPr sz="2400" b="0">
                <a:solidFill>
                  <a:srgbClr val="17333E"/>
                </a:solidFill>
                <a:latin typeface="Arial"/>
                <a:ea typeface="Arial"/>
                <a:cs typeface="Arial"/>
              </a:defRPr>
            </a:pPr>
            <a:r>
              <a:rPr sz="2400" b="0">
                <a:solidFill>
                  <a:srgbClr val="17333E"/>
                </a:solidFill>
                <a:latin typeface="Arial"/>
                <a:ea typeface="Arial"/>
                <a:cs typeface="Arial"/>
              </a:rPr>
              <a:t>compared at matched abundance</a:t>
            </a:r>
          </a:p>
        </p:txBody>
      </p:sp>
      <p:sp>
        <p:nvSpPr>
          <p:cNvPr id="9" name="">
            <a:extLst xmlns:a="http://schemas.openxmlformats.org/drawingml/2006/main">
              <a:ext uri="{FF2B5EF4-FFF2-40B4-BE49-F238E27FC236}">
                <a16:creationId xmlns:a16="http://schemas.microsoft.com/office/drawing/2014/main" id="{D9CF0EAA-4FC0-447E-A776-81F9DCC74B7C}"/>
              </a:ext>
            </a:extLst>
          </p:cNvPr>
          <p:cNvSpPr>
            <a:spLocks xmlns:a="http://schemas.openxmlformats.org/drawingml/2006/main" noGrp="1"/>
          </p:cNvSpPr>
          <p:nvPr/>
        </p:nvSpPr>
        <p:spPr>
          <a:xfrm xmlns:a="http://schemas.openxmlformats.org/drawingml/2006/main">
            <a:off x="609600" y="53340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526971"/>
                </a:solidFill>
                <a:latin typeface="Arial"/>
                <a:ea typeface="Arial"/>
                <a:cs typeface="Arial"/>
              </a:defRPr>
            </a:defPPr>
            <a:lvl1pPr>
              <a:buNone/>
              <a:defRPr sz="2100" b="0">
                <a:solidFill>
                  <a:srgbClr val="526971"/>
                </a:solidFill>
                <a:latin typeface="Arial"/>
                <a:ea typeface="Arial"/>
                <a:cs typeface="Arial"/>
              </a:defRPr>
            </a:lvl1pPr>
            <a:lvl2pPr>
              <a:buNone/>
              <a:defRPr sz="2100" b="0">
                <a:solidFill>
                  <a:srgbClr val="526971"/>
                </a:solidFill>
                <a:latin typeface="Arial"/>
                <a:ea typeface="Arial"/>
                <a:cs typeface="Arial"/>
              </a:defRPr>
            </a:lvl2pPr>
            <a:lvl3pPr>
              <a:buNone/>
              <a:defRPr sz="2100" b="0">
                <a:solidFill>
                  <a:srgbClr val="526971"/>
                </a:solidFill>
                <a:latin typeface="Arial"/>
                <a:ea typeface="Arial"/>
                <a:cs typeface="Arial"/>
              </a:defRPr>
            </a:lvl3pPr>
            <a:lvl4pPr>
              <a:buNone/>
              <a:defRPr sz="2100" b="0">
                <a:solidFill>
                  <a:srgbClr val="526971"/>
                </a:solidFill>
                <a:latin typeface="Arial"/>
                <a:ea typeface="Arial"/>
                <a:cs typeface="Arial"/>
              </a:defRPr>
            </a:lvl4pPr>
            <a:lvl5pPr>
              <a:buNone/>
              <a:defRPr sz="2100" b="0">
                <a:solidFill>
                  <a:srgbClr val="526971"/>
                </a:solidFill>
                <a:latin typeface="Arial"/>
                <a:ea typeface="Arial"/>
                <a:cs typeface="Arial"/>
              </a:defRPr>
            </a:lvl5pPr>
            <a:lvl6pPr>
              <a:buNone/>
              <a:defRPr sz="2100" b="0">
                <a:solidFill>
                  <a:srgbClr val="526971"/>
                </a:solidFill>
                <a:latin typeface="Arial"/>
                <a:ea typeface="Arial"/>
                <a:cs typeface="Arial"/>
              </a:defRPr>
            </a:lvl6pPr>
            <a:lvl7pPr>
              <a:buNone/>
              <a:defRPr sz="2100" b="0">
                <a:solidFill>
                  <a:srgbClr val="526971"/>
                </a:solidFill>
                <a:latin typeface="Arial"/>
                <a:ea typeface="Arial"/>
                <a:cs typeface="Arial"/>
              </a:defRPr>
            </a:lvl7pPr>
            <a:lvl8pPr>
              <a:buNone/>
              <a:defRPr sz="2100" b="0">
                <a:solidFill>
                  <a:srgbClr val="526971"/>
                </a:solidFill>
                <a:latin typeface="Arial"/>
                <a:ea typeface="Arial"/>
                <a:cs typeface="Arial"/>
              </a:defRPr>
            </a:lvl8pPr>
            <a:lvl9pPr>
              <a:buNone/>
              <a:defRPr sz="2100" b="0">
                <a:solidFill>
                  <a:srgbClr val="526971"/>
                </a:solidFill>
                <a:latin typeface="Arial"/>
                <a:ea typeface="Arial"/>
                <a:cs typeface="Arial"/>
              </a:defRPr>
            </a:lvl9pPr>
          </a:lstStyle>
          <a:p xmlns:a="http://schemas.openxmlformats.org/drawingml/2006/main">
            <a:pPr>
              <a:buNone/>
              <a:defRPr sz="2100" b="0">
                <a:solidFill>
                  <a:srgbClr val="526971"/>
                </a:solidFill>
                <a:latin typeface="Arial"/>
                <a:ea typeface="Arial"/>
                <a:cs typeface="Arial"/>
              </a:defRPr>
            </a:pPr>
            <a:r>
              <a:rPr sz="2100" b="0">
                <a:solidFill>
                  <a:srgbClr val="526971"/>
                </a:solidFill>
                <a:latin typeface="Arial"/>
                <a:ea typeface="Arial"/>
                <a:cs typeface="Arial"/>
              </a:rPr>
              <a:t>Possible outcomes: abundance-limited, function-limited, mixed or indeterminate</a:t>
            </a:r>
          </a:p>
        </p:txBody>
      </p:sp>
    </p:spTree>
    <p:extLst>
      <p:ext uri="{BB962C8B-B14F-4D97-AF65-F5344CB8AC3E}">
        <p14:creationId xmlns:p14="http://schemas.microsoft.com/office/powerpoint/2010/main" val="829705835"/>
      </p:ext>
    </p:extLst>
  </p:cSld>
</p:sld>
</file>

<file path=ppt/slides/slide3.xml><?xml version="1.0" encoding="utf-8"?>
<p:sld xmlns:p="http://schemas.openxmlformats.org/presentationml/2006/main">
  <p:cSld>
    <p:bg>
      <p:bgPr>
        <a:solidFill xmlns:a="http://schemas.openxmlformats.org/drawingml/2006/main">
          <a:srgbClr val="F2F5F4"/>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923F183-4C32-42B2-87C4-57C74FFC96A3}"/>
              </a:ext>
            </a:extLst>
          </p:cNvPr>
          <p:cNvSpPr>
            <a:spLocks xmlns:a="http://schemas.openxmlformats.org/drawingml/2006/main" noGrp="1"/>
          </p:cNvSpPr>
          <p:nvPr/>
        </p:nvSpPr>
        <p:spPr>
          <a:xfrm xmlns:a="http://schemas.openxmlformats.org/drawingml/2006/main">
            <a:off x="609600" y="5524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750" b="1">
                <a:solidFill>
                  <a:srgbClr val="17333E"/>
                </a:solidFill>
                <a:latin typeface="Arial"/>
                <a:ea typeface="Arial"/>
                <a:cs typeface="Arial"/>
              </a:defRPr>
            </a:defPPr>
            <a:lvl1pPr>
              <a:buNone/>
              <a:defRPr sz="3750" b="1">
                <a:solidFill>
                  <a:srgbClr val="17333E"/>
                </a:solidFill>
                <a:latin typeface="Arial"/>
                <a:ea typeface="Arial"/>
                <a:cs typeface="Arial"/>
              </a:defRPr>
            </a:lvl1pPr>
            <a:lvl2pPr>
              <a:buNone/>
              <a:defRPr sz="3750" b="1">
                <a:solidFill>
                  <a:srgbClr val="17333E"/>
                </a:solidFill>
                <a:latin typeface="Arial"/>
                <a:ea typeface="Arial"/>
                <a:cs typeface="Arial"/>
              </a:defRPr>
            </a:lvl2pPr>
            <a:lvl3pPr>
              <a:buNone/>
              <a:defRPr sz="3750" b="1">
                <a:solidFill>
                  <a:srgbClr val="17333E"/>
                </a:solidFill>
                <a:latin typeface="Arial"/>
                <a:ea typeface="Arial"/>
                <a:cs typeface="Arial"/>
              </a:defRPr>
            </a:lvl3pPr>
            <a:lvl4pPr>
              <a:buNone/>
              <a:defRPr sz="3750" b="1">
                <a:solidFill>
                  <a:srgbClr val="17333E"/>
                </a:solidFill>
                <a:latin typeface="Arial"/>
                <a:ea typeface="Arial"/>
                <a:cs typeface="Arial"/>
              </a:defRPr>
            </a:lvl4pPr>
            <a:lvl5pPr>
              <a:buNone/>
              <a:defRPr sz="3750" b="1">
                <a:solidFill>
                  <a:srgbClr val="17333E"/>
                </a:solidFill>
                <a:latin typeface="Arial"/>
                <a:ea typeface="Arial"/>
                <a:cs typeface="Arial"/>
              </a:defRPr>
            </a:lvl5pPr>
            <a:lvl6pPr>
              <a:buNone/>
              <a:defRPr sz="3750" b="1">
                <a:solidFill>
                  <a:srgbClr val="17333E"/>
                </a:solidFill>
                <a:latin typeface="Arial"/>
                <a:ea typeface="Arial"/>
                <a:cs typeface="Arial"/>
              </a:defRPr>
            </a:lvl6pPr>
            <a:lvl7pPr>
              <a:buNone/>
              <a:defRPr sz="3750" b="1">
                <a:solidFill>
                  <a:srgbClr val="17333E"/>
                </a:solidFill>
                <a:latin typeface="Arial"/>
                <a:ea typeface="Arial"/>
                <a:cs typeface="Arial"/>
              </a:defRPr>
            </a:lvl7pPr>
            <a:lvl8pPr>
              <a:buNone/>
              <a:defRPr sz="3750" b="1">
                <a:solidFill>
                  <a:srgbClr val="17333E"/>
                </a:solidFill>
                <a:latin typeface="Arial"/>
                <a:ea typeface="Arial"/>
                <a:cs typeface="Arial"/>
              </a:defRPr>
            </a:lvl8pPr>
            <a:lvl9pPr>
              <a:buNone/>
              <a:defRPr sz="3750" b="1">
                <a:solidFill>
                  <a:srgbClr val="17333E"/>
                </a:solidFill>
                <a:latin typeface="Arial"/>
                <a:ea typeface="Arial"/>
                <a:cs typeface="Arial"/>
              </a:defRPr>
            </a:lvl9pPr>
          </a:lstStyle>
          <a:p xmlns:a="http://schemas.openxmlformats.org/drawingml/2006/main">
            <a:pPr>
              <a:buNone/>
              <a:defRPr sz="3750" b="1">
                <a:solidFill>
                  <a:srgbClr val="17333E"/>
                </a:solidFill>
                <a:latin typeface="Arial"/>
                <a:ea typeface="Arial"/>
                <a:cs typeface="Arial"/>
              </a:defRPr>
            </a:pPr>
            <a:r>
              <a:rPr sz="3750" b="1">
                <a:solidFill>
                  <a:srgbClr val="17333E"/>
                </a:solidFill>
                <a:latin typeface="Arial"/>
                <a:ea typeface="Arial"/>
                <a:cs typeface="Arial"/>
              </a:rPr>
              <a:t>Four experimental gates</a:t>
            </a:r>
          </a:p>
        </p:txBody>
      </p:sp>
      <p:sp>
        <p:nvSpPr>
          <p:cNvPr id="2" name="">
            <a:extLst xmlns:a="http://schemas.openxmlformats.org/drawingml/2006/main">
              <a:ext uri="{FF2B5EF4-FFF2-40B4-BE49-F238E27FC236}">
                <a16:creationId xmlns:a16="http://schemas.microsoft.com/office/drawing/2014/main" id="{110A6920-854C-4CCB-B26D-AB01D37A6FCD}"/>
              </a:ext>
            </a:extLst>
          </p:cNvPr>
          <p:cNvSpPr>
            <a:spLocks xmlns:a="http://schemas.openxmlformats.org/drawingml/2006/main" noGrp="1"/>
          </p:cNvSpPr>
          <p:nvPr/>
        </p:nvSpPr>
        <p:spPr>
          <a:xfrm xmlns:a="http://schemas.openxmlformats.org/drawingml/2006/main">
            <a:off x="10953750" y="63436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971"/>
                </a:solidFill>
                <a:latin typeface="Arial"/>
                <a:ea typeface="Arial"/>
                <a:cs typeface="Arial"/>
              </a:defRPr>
            </a:defPPr>
            <a:lvl1pPr>
              <a:buNone/>
              <a:defRPr sz="1350" b="0">
                <a:solidFill>
                  <a:srgbClr val="526971"/>
                </a:solidFill>
                <a:latin typeface="Arial"/>
                <a:ea typeface="Arial"/>
                <a:cs typeface="Arial"/>
              </a:defRPr>
            </a:lvl1pPr>
            <a:lvl2pPr>
              <a:buNone/>
              <a:defRPr sz="1350" b="0">
                <a:solidFill>
                  <a:srgbClr val="526971"/>
                </a:solidFill>
                <a:latin typeface="Arial"/>
                <a:ea typeface="Arial"/>
                <a:cs typeface="Arial"/>
              </a:defRPr>
            </a:lvl2pPr>
            <a:lvl3pPr>
              <a:buNone/>
              <a:defRPr sz="1350" b="0">
                <a:solidFill>
                  <a:srgbClr val="526971"/>
                </a:solidFill>
                <a:latin typeface="Arial"/>
                <a:ea typeface="Arial"/>
                <a:cs typeface="Arial"/>
              </a:defRPr>
            </a:lvl3pPr>
            <a:lvl4pPr>
              <a:buNone/>
              <a:defRPr sz="1350" b="0">
                <a:solidFill>
                  <a:srgbClr val="526971"/>
                </a:solidFill>
                <a:latin typeface="Arial"/>
                <a:ea typeface="Arial"/>
                <a:cs typeface="Arial"/>
              </a:defRPr>
            </a:lvl4pPr>
            <a:lvl5pPr>
              <a:buNone/>
              <a:defRPr sz="1350" b="0">
                <a:solidFill>
                  <a:srgbClr val="526971"/>
                </a:solidFill>
                <a:latin typeface="Arial"/>
                <a:ea typeface="Arial"/>
                <a:cs typeface="Arial"/>
              </a:defRPr>
            </a:lvl5pPr>
            <a:lvl6pPr>
              <a:buNone/>
              <a:defRPr sz="1350" b="0">
                <a:solidFill>
                  <a:srgbClr val="526971"/>
                </a:solidFill>
                <a:latin typeface="Arial"/>
                <a:ea typeface="Arial"/>
                <a:cs typeface="Arial"/>
              </a:defRPr>
            </a:lvl6pPr>
            <a:lvl7pPr>
              <a:buNone/>
              <a:defRPr sz="1350" b="0">
                <a:solidFill>
                  <a:srgbClr val="526971"/>
                </a:solidFill>
                <a:latin typeface="Arial"/>
                <a:ea typeface="Arial"/>
                <a:cs typeface="Arial"/>
              </a:defRPr>
            </a:lvl7pPr>
            <a:lvl8pPr>
              <a:buNone/>
              <a:defRPr sz="1350" b="0">
                <a:solidFill>
                  <a:srgbClr val="526971"/>
                </a:solidFill>
                <a:latin typeface="Arial"/>
                <a:ea typeface="Arial"/>
                <a:cs typeface="Arial"/>
              </a:defRPr>
            </a:lvl8pPr>
            <a:lvl9pPr>
              <a:buNone/>
              <a:defRPr sz="1350" b="0">
                <a:solidFill>
                  <a:srgbClr val="526971"/>
                </a:solidFill>
                <a:latin typeface="Arial"/>
                <a:ea typeface="Arial"/>
                <a:cs typeface="Arial"/>
              </a:defRPr>
            </a:lvl9pPr>
          </a:lstStyle>
          <a:p xmlns:a="http://schemas.openxmlformats.org/drawingml/2006/main">
            <a:pPr>
              <a:buNone/>
              <a:defRPr sz="1350" b="0">
                <a:solidFill>
                  <a:srgbClr val="526971"/>
                </a:solidFill>
                <a:latin typeface="Arial"/>
                <a:ea typeface="Arial"/>
                <a:cs typeface="Arial"/>
              </a:defRPr>
            </a:pPr>
            <a:r>
              <a:rPr sz="1350" b="0">
                <a:solidFill>
                  <a:srgbClr val="526971"/>
                </a:solidFill>
                <a:latin typeface="Arial"/>
                <a:ea typeface="Arial"/>
                <a:cs typeface="Arial"/>
              </a:rPr>
              <a:t>3/6</a:t>
            </a:r>
          </a:p>
        </p:txBody>
      </p:sp>
      <p:sp>
        <p:nvSpPr>
          <p:cNvPr id="3" name="">
            <a:extLst xmlns:a="http://schemas.openxmlformats.org/drawingml/2006/main">
              <a:ext uri="{FF2B5EF4-FFF2-40B4-BE49-F238E27FC236}">
                <a16:creationId xmlns:a16="http://schemas.microsoft.com/office/drawing/2014/main" id="{CAB99C2B-F325-4866-8F68-0995514228EF}"/>
              </a:ext>
            </a:extLst>
          </p:cNvPr>
          <p:cNvSpPr>
            <a:spLocks xmlns:a="http://schemas.openxmlformats.org/drawingml/2006/main" noGrp="1"/>
          </p:cNvSpPr>
          <p:nvPr/>
        </p:nvSpPr>
        <p:spPr>
          <a:xfrm xmlns:a="http://schemas.openxmlformats.org/drawingml/2006/main">
            <a:off x="609600" y="634365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26971"/>
                </a:solidFill>
                <a:latin typeface="Arial"/>
                <a:ea typeface="Arial"/>
                <a:cs typeface="Arial"/>
              </a:defRPr>
            </a:defPPr>
            <a:lvl1pPr>
              <a:buNone/>
              <a:defRPr sz="1200" b="0">
                <a:solidFill>
                  <a:srgbClr val="526971"/>
                </a:solidFill>
                <a:latin typeface="Arial"/>
                <a:ea typeface="Arial"/>
                <a:cs typeface="Arial"/>
              </a:defRPr>
            </a:lvl1pPr>
            <a:lvl2pPr>
              <a:buNone/>
              <a:defRPr sz="1200" b="0">
                <a:solidFill>
                  <a:srgbClr val="526971"/>
                </a:solidFill>
                <a:latin typeface="Arial"/>
                <a:ea typeface="Arial"/>
                <a:cs typeface="Arial"/>
              </a:defRPr>
            </a:lvl2pPr>
            <a:lvl3pPr>
              <a:buNone/>
              <a:defRPr sz="1200" b="0">
                <a:solidFill>
                  <a:srgbClr val="526971"/>
                </a:solidFill>
                <a:latin typeface="Arial"/>
                <a:ea typeface="Arial"/>
                <a:cs typeface="Arial"/>
              </a:defRPr>
            </a:lvl3pPr>
            <a:lvl4pPr>
              <a:buNone/>
              <a:defRPr sz="1200" b="0">
                <a:solidFill>
                  <a:srgbClr val="526971"/>
                </a:solidFill>
                <a:latin typeface="Arial"/>
                <a:ea typeface="Arial"/>
                <a:cs typeface="Arial"/>
              </a:defRPr>
            </a:lvl4pPr>
            <a:lvl5pPr>
              <a:buNone/>
              <a:defRPr sz="1200" b="0">
                <a:solidFill>
                  <a:srgbClr val="526971"/>
                </a:solidFill>
                <a:latin typeface="Arial"/>
                <a:ea typeface="Arial"/>
                <a:cs typeface="Arial"/>
              </a:defRPr>
            </a:lvl5pPr>
            <a:lvl6pPr>
              <a:buNone/>
              <a:defRPr sz="1200" b="0">
                <a:solidFill>
                  <a:srgbClr val="526971"/>
                </a:solidFill>
                <a:latin typeface="Arial"/>
                <a:ea typeface="Arial"/>
                <a:cs typeface="Arial"/>
              </a:defRPr>
            </a:lvl6pPr>
            <a:lvl7pPr>
              <a:buNone/>
              <a:defRPr sz="1200" b="0">
                <a:solidFill>
                  <a:srgbClr val="526971"/>
                </a:solidFill>
                <a:latin typeface="Arial"/>
                <a:ea typeface="Arial"/>
                <a:cs typeface="Arial"/>
              </a:defRPr>
            </a:lvl7pPr>
            <a:lvl8pPr>
              <a:buNone/>
              <a:defRPr sz="1200" b="0">
                <a:solidFill>
                  <a:srgbClr val="526971"/>
                </a:solidFill>
                <a:latin typeface="Arial"/>
                <a:ea typeface="Arial"/>
                <a:cs typeface="Arial"/>
              </a:defRPr>
            </a:lvl8pPr>
            <a:lvl9pPr>
              <a:buNone/>
              <a:defRPr sz="1200" b="0">
                <a:solidFill>
                  <a:srgbClr val="526971"/>
                </a:solidFill>
                <a:latin typeface="Arial"/>
                <a:ea typeface="Arial"/>
                <a:cs typeface="Arial"/>
              </a:defRPr>
            </a:lvl9pPr>
          </a:lstStyle>
          <a:p xmlns:a="http://schemas.openxmlformats.org/drawingml/2006/main">
            <a:pPr>
              <a:buNone/>
              <a:defRPr sz="1200" b="0">
                <a:solidFill>
                  <a:srgbClr val="526971"/>
                </a:solidFill>
                <a:latin typeface="Arial"/>
                <a:ea typeface="Arial"/>
                <a:cs typeface="Arial"/>
              </a:defRPr>
            </a:pPr>
            <a:r>
              <a:rPr sz="1200" b="0">
                <a:solidFill>
                  <a:srgbClr val="526971"/>
                </a:solidFill>
                <a:latin typeface="Arial"/>
                <a:ea typeface="Arial"/>
                <a:cs typeface="Arial"/>
              </a:rPr>
              <a:t>Functional rescue plan, gates A-D / proposed experiments</a:t>
            </a:r>
          </a:p>
        </p:txBody>
      </p:sp>
      <p:sp>
        <p:nvSpPr>
          <p:cNvPr id="4" name="">
            <a:extLst xmlns:a="http://schemas.openxmlformats.org/drawingml/2006/main">
              <a:ext uri="{FF2B5EF4-FFF2-40B4-BE49-F238E27FC236}">
                <a16:creationId xmlns:a16="http://schemas.microsoft.com/office/drawing/2014/main" id="{04DEBED9-26D4-4404-BC2E-550A7786073B}"/>
              </a:ext>
            </a:extLst>
          </p:cNvPr>
          <p:cNvSpPr>
            <a:spLocks xmlns:a="http://schemas.openxmlformats.org/drawingml/2006/main" noGrp="1"/>
          </p:cNvSpPr>
          <p:nvPr/>
        </p:nvSpPr>
        <p:spPr>
          <a:xfrm xmlns:a="http://schemas.openxmlformats.org/drawingml/2006/main">
            <a:off x="609600" y="16859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450" b="1">
                <a:solidFill>
                  <a:srgbClr val="176C63"/>
                </a:solidFill>
                <a:latin typeface="Arial"/>
                <a:ea typeface="Arial"/>
                <a:cs typeface="Arial"/>
              </a:defRPr>
            </a:defPPr>
            <a:lvl1pPr>
              <a:buNone/>
              <a:defRPr sz="3450" b="1">
                <a:solidFill>
                  <a:srgbClr val="176C63"/>
                </a:solidFill>
                <a:latin typeface="Arial"/>
                <a:ea typeface="Arial"/>
                <a:cs typeface="Arial"/>
              </a:defRPr>
            </a:lvl1pPr>
            <a:lvl2pPr>
              <a:buNone/>
              <a:defRPr sz="3450" b="1">
                <a:solidFill>
                  <a:srgbClr val="176C63"/>
                </a:solidFill>
                <a:latin typeface="Arial"/>
                <a:ea typeface="Arial"/>
                <a:cs typeface="Arial"/>
              </a:defRPr>
            </a:lvl2pPr>
            <a:lvl3pPr>
              <a:buNone/>
              <a:defRPr sz="3450" b="1">
                <a:solidFill>
                  <a:srgbClr val="176C63"/>
                </a:solidFill>
                <a:latin typeface="Arial"/>
                <a:ea typeface="Arial"/>
                <a:cs typeface="Arial"/>
              </a:defRPr>
            </a:lvl3pPr>
            <a:lvl4pPr>
              <a:buNone/>
              <a:defRPr sz="3450" b="1">
                <a:solidFill>
                  <a:srgbClr val="176C63"/>
                </a:solidFill>
                <a:latin typeface="Arial"/>
                <a:ea typeface="Arial"/>
                <a:cs typeface="Arial"/>
              </a:defRPr>
            </a:lvl4pPr>
            <a:lvl5pPr>
              <a:buNone/>
              <a:defRPr sz="3450" b="1">
                <a:solidFill>
                  <a:srgbClr val="176C63"/>
                </a:solidFill>
                <a:latin typeface="Arial"/>
                <a:ea typeface="Arial"/>
                <a:cs typeface="Arial"/>
              </a:defRPr>
            </a:lvl5pPr>
            <a:lvl6pPr>
              <a:buNone/>
              <a:defRPr sz="3450" b="1">
                <a:solidFill>
                  <a:srgbClr val="176C63"/>
                </a:solidFill>
                <a:latin typeface="Arial"/>
                <a:ea typeface="Arial"/>
                <a:cs typeface="Arial"/>
              </a:defRPr>
            </a:lvl6pPr>
            <a:lvl7pPr>
              <a:buNone/>
              <a:defRPr sz="3450" b="1">
                <a:solidFill>
                  <a:srgbClr val="176C63"/>
                </a:solidFill>
                <a:latin typeface="Arial"/>
                <a:ea typeface="Arial"/>
                <a:cs typeface="Arial"/>
              </a:defRPr>
            </a:lvl7pPr>
            <a:lvl8pPr>
              <a:buNone/>
              <a:defRPr sz="3450" b="1">
                <a:solidFill>
                  <a:srgbClr val="176C63"/>
                </a:solidFill>
                <a:latin typeface="Arial"/>
                <a:ea typeface="Arial"/>
                <a:cs typeface="Arial"/>
              </a:defRPr>
            </a:lvl8pPr>
            <a:lvl9pPr>
              <a:buNone/>
              <a:defRPr sz="3450" b="1">
                <a:solidFill>
                  <a:srgbClr val="176C63"/>
                </a:solidFill>
                <a:latin typeface="Arial"/>
                <a:ea typeface="Arial"/>
                <a:cs typeface="Arial"/>
              </a:defRPr>
            </a:lvl9pPr>
          </a:lstStyle>
          <a:p xmlns:a="http://schemas.openxmlformats.org/drawingml/2006/main">
            <a:pPr>
              <a:buNone/>
              <a:defRPr sz="3450" b="1">
                <a:solidFill>
                  <a:srgbClr val="176C63"/>
                </a:solidFill>
                <a:latin typeface="Arial"/>
                <a:ea typeface="Arial"/>
                <a:cs typeface="Arial"/>
              </a:defRPr>
            </a:pPr>
            <a:r>
              <a:rPr sz="3450" b="1">
                <a:solidFill>
                  <a:srgbClr val="176C63"/>
                </a:solidFill>
                <a:latin typeface="Arial"/>
                <a:ea typeface="Arial"/>
                <a:cs typeface="Arial"/>
              </a:rPr>
              <a:t>A</a:t>
            </a:r>
          </a:p>
        </p:txBody>
      </p:sp>
      <p:sp>
        <p:nvSpPr>
          <p:cNvPr id="5" name="">
            <a:extLst xmlns:a="http://schemas.openxmlformats.org/drawingml/2006/main">
              <a:ext uri="{FF2B5EF4-FFF2-40B4-BE49-F238E27FC236}">
                <a16:creationId xmlns:a16="http://schemas.microsoft.com/office/drawing/2014/main" id="{EF18561C-2965-41F8-AB12-BBBC0F1A955A}"/>
              </a:ext>
            </a:extLst>
          </p:cNvPr>
          <p:cNvSpPr>
            <a:spLocks xmlns:a="http://schemas.openxmlformats.org/drawingml/2006/main" noGrp="1"/>
          </p:cNvSpPr>
          <p:nvPr/>
        </p:nvSpPr>
        <p:spPr>
          <a:xfrm xmlns:a="http://schemas.openxmlformats.org/drawingml/2006/main">
            <a:off x="1571625" y="1685925"/>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400" b="1">
                <a:solidFill>
                  <a:srgbClr val="17333E"/>
                </a:solidFill>
                <a:latin typeface="Arial"/>
                <a:ea typeface="Arial"/>
                <a:cs typeface="Arial"/>
              </a:defRPr>
            </a:defPPr>
            <a:lvl1pPr>
              <a:buNone/>
              <a:defRPr sz="2550" b="1">
                <a:solidFill>
                  <a:srgbClr val="17333E"/>
                </a:solidFill>
                <a:latin typeface="Arial"/>
                <a:ea typeface="Arial"/>
                <a:cs typeface="Arial"/>
              </a:defRPr>
            </a:lvl1pPr>
            <a:lvl2pPr>
              <a:buNone/>
              <a:defRPr sz="2550" b="1">
                <a:solidFill>
                  <a:srgbClr val="17333E"/>
                </a:solidFill>
                <a:latin typeface="Arial"/>
                <a:ea typeface="Arial"/>
                <a:cs typeface="Arial"/>
              </a:defRPr>
            </a:lvl2pPr>
            <a:lvl3pPr>
              <a:buNone/>
              <a:defRPr sz="2550" b="1">
                <a:solidFill>
                  <a:srgbClr val="17333E"/>
                </a:solidFill>
                <a:latin typeface="Arial"/>
                <a:ea typeface="Arial"/>
                <a:cs typeface="Arial"/>
              </a:defRPr>
            </a:lvl3pPr>
            <a:lvl4pPr>
              <a:buNone/>
              <a:defRPr sz="2550" b="1">
                <a:solidFill>
                  <a:srgbClr val="17333E"/>
                </a:solidFill>
                <a:latin typeface="Arial"/>
                <a:ea typeface="Arial"/>
                <a:cs typeface="Arial"/>
              </a:defRPr>
            </a:lvl4pPr>
            <a:lvl5pPr>
              <a:buNone/>
              <a:defRPr sz="2550" b="1">
                <a:solidFill>
                  <a:srgbClr val="17333E"/>
                </a:solidFill>
                <a:latin typeface="Arial"/>
                <a:ea typeface="Arial"/>
                <a:cs typeface="Arial"/>
              </a:defRPr>
            </a:lvl5pPr>
            <a:lvl6pPr>
              <a:buNone/>
              <a:defRPr sz="2550" b="1">
                <a:solidFill>
                  <a:srgbClr val="17333E"/>
                </a:solidFill>
                <a:latin typeface="Arial"/>
                <a:ea typeface="Arial"/>
                <a:cs typeface="Arial"/>
              </a:defRPr>
            </a:lvl6pPr>
            <a:lvl7pPr>
              <a:buNone/>
              <a:defRPr sz="2550" b="1">
                <a:solidFill>
                  <a:srgbClr val="17333E"/>
                </a:solidFill>
                <a:latin typeface="Arial"/>
                <a:ea typeface="Arial"/>
                <a:cs typeface="Arial"/>
              </a:defRPr>
            </a:lvl7pPr>
            <a:lvl8pPr>
              <a:buNone/>
              <a:defRPr sz="2550" b="1">
                <a:solidFill>
                  <a:srgbClr val="17333E"/>
                </a:solidFill>
                <a:latin typeface="Arial"/>
                <a:ea typeface="Arial"/>
                <a:cs typeface="Arial"/>
              </a:defRPr>
            </a:lvl8pPr>
            <a:lvl9pPr>
              <a:buNone/>
              <a:defRPr sz="2550" b="1">
                <a:solidFill>
                  <a:srgbClr val="17333E"/>
                </a:solidFill>
                <a:latin typeface="Arial"/>
                <a:ea typeface="Arial"/>
                <a:cs typeface="Arial"/>
              </a:defRPr>
            </a:lvl9pPr>
          </a:lstStyle>
          <a:p xmlns:a="http://schemas.openxmlformats.org/drawingml/2006/main">
            <a:pPr>
              <a:buNone/>
              <a:defRPr sz="2400" b="1">
                <a:solidFill>
                  <a:srgbClr val="17333E"/>
                </a:solidFill>
                <a:latin typeface="Arial"/>
                <a:ea typeface="Arial"/>
                <a:cs typeface="Arial"/>
              </a:defRPr>
            </a:pPr>
            <a:r>
              <a:rPr sz="2400" b="1">
                <a:solidFill>
                  <a:srgbClr val="17333E"/>
                </a:solidFill>
                <a:latin typeface="Arial"/>
                <a:ea typeface="Arial"/>
                <a:cs typeface="Arial"/>
              </a:rPr>
              <a:t>Establish the variant's effect</a:t>
            </a:r>
          </a:p>
        </p:txBody>
      </p:sp>
      <p:sp>
        <p:nvSpPr>
          <p:cNvPr id="6" name="">
            <a:extLst xmlns:a="http://schemas.openxmlformats.org/drawingml/2006/main">
              <a:ext uri="{FF2B5EF4-FFF2-40B4-BE49-F238E27FC236}">
                <a16:creationId xmlns:a16="http://schemas.microsoft.com/office/drawing/2014/main" id="{F710CFEC-3A3A-467F-9076-D5B91EF2A020}"/>
              </a:ext>
            </a:extLst>
          </p:cNvPr>
          <p:cNvSpPr>
            <a:spLocks xmlns:a="http://schemas.openxmlformats.org/drawingml/2006/main" noGrp="1"/>
          </p:cNvSpPr>
          <p:nvPr/>
        </p:nvSpPr>
        <p:spPr>
          <a:xfrm xmlns:a="http://schemas.openxmlformats.org/drawingml/2006/main">
            <a:off x="1571625" y="2105025"/>
            <a:ext cx="981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0">
                <a:solidFill>
                  <a:srgbClr val="526971"/>
                </a:solidFill>
                <a:latin typeface="Arial"/>
                <a:ea typeface="Arial"/>
                <a:cs typeface="Arial"/>
              </a:defRPr>
            </a:defPPr>
            <a:lvl1pPr>
              <a:buNone/>
              <a:defRPr sz="2100" b="0">
                <a:solidFill>
                  <a:srgbClr val="526971"/>
                </a:solidFill>
                <a:latin typeface="Arial"/>
                <a:ea typeface="Arial"/>
                <a:cs typeface="Arial"/>
              </a:defRPr>
            </a:lvl1pPr>
            <a:lvl2pPr>
              <a:buNone/>
              <a:defRPr sz="2100" b="0">
                <a:solidFill>
                  <a:srgbClr val="526971"/>
                </a:solidFill>
                <a:latin typeface="Arial"/>
                <a:ea typeface="Arial"/>
                <a:cs typeface="Arial"/>
              </a:defRPr>
            </a:lvl2pPr>
            <a:lvl3pPr>
              <a:buNone/>
              <a:defRPr sz="2100" b="0">
                <a:solidFill>
                  <a:srgbClr val="526971"/>
                </a:solidFill>
                <a:latin typeface="Arial"/>
                <a:ea typeface="Arial"/>
                <a:cs typeface="Arial"/>
              </a:defRPr>
            </a:lvl3pPr>
            <a:lvl4pPr>
              <a:buNone/>
              <a:defRPr sz="2100" b="0">
                <a:solidFill>
                  <a:srgbClr val="526971"/>
                </a:solidFill>
                <a:latin typeface="Arial"/>
                <a:ea typeface="Arial"/>
                <a:cs typeface="Arial"/>
              </a:defRPr>
            </a:lvl4pPr>
            <a:lvl5pPr>
              <a:buNone/>
              <a:defRPr sz="2100" b="0">
                <a:solidFill>
                  <a:srgbClr val="526971"/>
                </a:solidFill>
                <a:latin typeface="Arial"/>
                <a:ea typeface="Arial"/>
                <a:cs typeface="Arial"/>
              </a:defRPr>
            </a:lvl5pPr>
            <a:lvl6pPr>
              <a:buNone/>
              <a:defRPr sz="2100" b="0">
                <a:solidFill>
                  <a:srgbClr val="526971"/>
                </a:solidFill>
                <a:latin typeface="Arial"/>
                <a:ea typeface="Arial"/>
                <a:cs typeface="Arial"/>
              </a:defRPr>
            </a:lvl6pPr>
            <a:lvl7pPr>
              <a:buNone/>
              <a:defRPr sz="2100" b="0">
                <a:solidFill>
                  <a:srgbClr val="526971"/>
                </a:solidFill>
                <a:latin typeface="Arial"/>
                <a:ea typeface="Arial"/>
                <a:cs typeface="Arial"/>
              </a:defRPr>
            </a:lvl7pPr>
            <a:lvl8pPr>
              <a:buNone/>
              <a:defRPr sz="2100" b="0">
                <a:solidFill>
                  <a:srgbClr val="526971"/>
                </a:solidFill>
                <a:latin typeface="Arial"/>
                <a:ea typeface="Arial"/>
                <a:cs typeface="Arial"/>
              </a:defRPr>
            </a:lvl8pPr>
            <a:lvl9pPr>
              <a:buNone/>
              <a:defRPr sz="2100" b="0">
                <a:solidFill>
                  <a:srgbClr val="526971"/>
                </a:solidFill>
                <a:latin typeface="Arial"/>
                <a:ea typeface="Arial"/>
                <a:cs typeface="Arial"/>
              </a:defRPr>
            </a:lvl9pPr>
          </a:lstStyle>
          <a:p xmlns:a="http://schemas.openxmlformats.org/drawingml/2006/main">
            <a:pPr>
              <a:buNone/>
              <a:defRPr sz="1950" b="0">
                <a:solidFill>
                  <a:srgbClr val="526971"/>
                </a:solidFill>
                <a:latin typeface="Arial"/>
                <a:ea typeface="Arial"/>
                <a:cs typeface="Arial"/>
              </a:defRPr>
            </a:pPr>
            <a:r>
              <a:rPr sz="1950" b="0">
                <a:solidFill>
                  <a:srgbClr val="526971"/>
                </a:solidFill>
                <a:latin typeface="Arial"/>
                <a:ea typeface="Arial"/>
                <a:cs typeface="Arial"/>
              </a:rPr>
              <a:t>Full-length protein at matched abundance</a:t>
            </a:r>
          </a:p>
        </p:txBody>
      </p:sp>
      <p:sp>
        <p:nvSpPr>
          <p:cNvPr id="7" name="">
            <a:extLst xmlns:a="http://schemas.openxmlformats.org/drawingml/2006/main">
              <a:ext uri="{FF2B5EF4-FFF2-40B4-BE49-F238E27FC236}">
                <a16:creationId xmlns:a16="http://schemas.microsoft.com/office/drawing/2014/main" id="{36ED53D6-71B9-4A71-A8E4-55B6D40BABD2}"/>
              </a:ext>
            </a:extLst>
          </p:cNvPr>
          <p:cNvSpPr>
            <a:spLocks xmlns:a="http://schemas.openxmlformats.org/drawingml/2006/main" noGrp="1"/>
          </p:cNvSpPr>
          <p:nvPr/>
        </p:nvSpPr>
        <p:spPr>
          <a:xfrm xmlns:a="http://schemas.openxmlformats.org/drawingml/2006/main">
            <a:off x="609600" y="26384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450" b="1">
                <a:solidFill>
                  <a:srgbClr val="176C63"/>
                </a:solidFill>
                <a:latin typeface="Arial"/>
                <a:ea typeface="Arial"/>
                <a:cs typeface="Arial"/>
              </a:defRPr>
            </a:defPPr>
            <a:lvl1pPr>
              <a:buNone/>
              <a:defRPr sz="3450" b="1">
                <a:solidFill>
                  <a:srgbClr val="176C63"/>
                </a:solidFill>
                <a:latin typeface="Arial"/>
                <a:ea typeface="Arial"/>
                <a:cs typeface="Arial"/>
              </a:defRPr>
            </a:lvl1pPr>
            <a:lvl2pPr>
              <a:buNone/>
              <a:defRPr sz="3450" b="1">
                <a:solidFill>
                  <a:srgbClr val="176C63"/>
                </a:solidFill>
                <a:latin typeface="Arial"/>
                <a:ea typeface="Arial"/>
                <a:cs typeface="Arial"/>
              </a:defRPr>
            </a:lvl2pPr>
            <a:lvl3pPr>
              <a:buNone/>
              <a:defRPr sz="3450" b="1">
                <a:solidFill>
                  <a:srgbClr val="176C63"/>
                </a:solidFill>
                <a:latin typeface="Arial"/>
                <a:ea typeface="Arial"/>
                <a:cs typeface="Arial"/>
              </a:defRPr>
            </a:lvl3pPr>
            <a:lvl4pPr>
              <a:buNone/>
              <a:defRPr sz="3450" b="1">
                <a:solidFill>
                  <a:srgbClr val="176C63"/>
                </a:solidFill>
                <a:latin typeface="Arial"/>
                <a:ea typeface="Arial"/>
                <a:cs typeface="Arial"/>
              </a:defRPr>
            </a:lvl4pPr>
            <a:lvl5pPr>
              <a:buNone/>
              <a:defRPr sz="3450" b="1">
                <a:solidFill>
                  <a:srgbClr val="176C63"/>
                </a:solidFill>
                <a:latin typeface="Arial"/>
                <a:ea typeface="Arial"/>
                <a:cs typeface="Arial"/>
              </a:defRPr>
            </a:lvl5pPr>
            <a:lvl6pPr>
              <a:buNone/>
              <a:defRPr sz="3450" b="1">
                <a:solidFill>
                  <a:srgbClr val="176C63"/>
                </a:solidFill>
                <a:latin typeface="Arial"/>
                <a:ea typeface="Arial"/>
                <a:cs typeface="Arial"/>
              </a:defRPr>
            </a:lvl6pPr>
            <a:lvl7pPr>
              <a:buNone/>
              <a:defRPr sz="3450" b="1">
                <a:solidFill>
                  <a:srgbClr val="176C63"/>
                </a:solidFill>
                <a:latin typeface="Arial"/>
                <a:ea typeface="Arial"/>
                <a:cs typeface="Arial"/>
              </a:defRPr>
            </a:lvl7pPr>
            <a:lvl8pPr>
              <a:buNone/>
              <a:defRPr sz="3450" b="1">
                <a:solidFill>
                  <a:srgbClr val="176C63"/>
                </a:solidFill>
                <a:latin typeface="Arial"/>
                <a:ea typeface="Arial"/>
                <a:cs typeface="Arial"/>
              </a:defRPr>
            </a:lvl8pPr>
            <a:lvl9pPr>
              <a:buNone/>
              <a:defRPr sz="3450" b="1">
                <a:solidFill>
                  <a:srgbClr val="176C63"/>
                </a:solidFill>
                <a:latin typeface="Arial"/>
                <a:ea typeface="Arial"/>
                <a:cs typeface="Arial"/>
              </a:defRPr>
            </a:lvl9pPr>
          </a:lstStyle>
          <a:p xmlns:a="http://schemas.openxmlformats.org/drawingml/2006/main">
            <a:pPr>
              <a:buNone/>
              <a:defRPr sz="3450" b="1">
                <a:solidFill>
                  <a:srgbClr val="176C63"/>
                </a:solidFill>
                <a:latin typeface="Arial"/>
                <a:ea typeface="Arial"/>
                <a:cs typeface="Arial"/>
              </a:defRPr>
            </a:pPr>
            <a:r>
              <a:rPr sz="3450" b="1">
                <a:solidFill>
                  <a:srgbClr val="176C63"/>
                </a:solidFill>
                <a:latin typeface="Arial"/>
                <a:ea typeface="Arial"/>
                <a:cs typeface="Arial"/>
              </a:rPr>
              <a:t>B</a:t>
            </a:r>
          </a:p>
        </p:txBody>
      </p:sp>
      <p:sp>
        <p:nvSpPr>
          <p:cNvPr id="8" name="">
            <a:extLst xmlns:a="http://schemas.openxmlformats.org/drawingml/2006/main">
              <a:ext uri="{FF2B5EF4-FFF2-40B4-BE49-F238E27FC236}">
                <a16:creationId xmlns:a16="http://schemas.microsoft.com/office/drawing/2014/main" id="{ADA79870-483F-48B6-B978-013349CF87EB}"/>
              </a:ext>
            </a:extLst>
          </p:cNvPr>
          <p:cNvSpPr>
            <a:spLocks xmlns:a="http://schemas.openxmlformats.org/drawingml/2006/main" noGrp="1"/>
          </p:cNvSpPr>
          <p:nvPr/>
        </p:nvSpPr>
        <p:spPr>
          <a:xfrm xmlns:a="http://schemas.openxmlformats.org/drawingml/2006/main">
            <a:off x="1571625" y="2638425"/>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400" b="1">
                <a:solidFill>
                  <a:srgbClr val="17333E"/>
                </a:solidFill>
                <a:latin typeface="Arial"/>
                <a:ea typeface="Arial"/>
                <a:cs typeface="Arial"/>
              </a:defRPr>
            </a:defPPr>
            <a:lvl1pPr>
              <a:buNone/>
              <a:defRPr sz="2550" b="1">
                <a:solidFill>
                  <a:srgbClr val="17333E"/>
                </a:solidFill>
                <a:latin typeface="Arial"/>
                <a:ea typeface="Arial"/>
                <a:cs typeface="Arial"/>
              </a:defRPr>
            </a:lvl1pPr>
            <a:lvl2pPr>
              <a:buNone/>
              <a:defRPr sz="2550" b="1">
                <a:solidFill>
                  <a:srgbClr val="17333E"/>
                </a:solidFill>
                <a:latin typeface="Arial"/>
                <a:ea typeface="Arial"/>
                <a:cs typeface="Arial"/>
              </a:defRPr>
            </a:lvl2pPr>
            <a:lvl3pPr>
              <a:buNone/>
              <a:defRPr sz="2550" b="1">
                <a:solidFill>
                  <a:srgbClr val="17333E"/>
                </a:solidFill>
                <a:latin typeface="Arial"/>
                <a:ea typeface="Arial"/>
                <a:cs typeface="Arial"/>
              </a:defRPr>
            </a:lvl3pPr>
            <a:lvl4pPr>
              <a:buNone/>
              <a:defRPr sz="2550" b="1">
                <a:solidFill>
                  <a:srgbClr val="17333E"/>
                </a:solidFill>
                <a:latin typeface="Arial"/>
                <a:ea typeface="Arial"/>
                <a:cs typeface="Arial"/>
              </a:defRPr>
            </a:lvl4pPr>
            <a:lvl5pPr>
              <a:buNone/>
              <a:defRPr sz="2550" b="1">
                <a:solidFill>
                  <a:srgbClr val="17333E"/>
                </a:solidFill>
                <a:latin typeface="Arial"/>
                <a:ea typeface="Arial"/>
                <a:cs typeface="Arial"/>
              </a:defRPr>
            </a:lvl5pPr>
            <a:lvl6pPr>
              <a:buNone/>
              <a:defRPr sz="2550" b="1">
                <a:solidFill>
                  <a:srgbClr val="17333E"/>
                </a:solidFill>
                <a:latin typeface="Arial"/>
                <a:ea typeface="Arial"/>
                <a:cs typeface="Arial"/>
              </a:defRPr>
            </a:lvl6pPr>
            <a:lvl7pPr>
              <a:buNone/>
              <a:defRPr sz="2550" b="1">
                <a:solidFill>
                  <a:srgbClr val="17333E"/>
                </a:solidFill>
                <a:latin typeface="Arial"/>
                <a:ea typeface="Arial"/>
                <a:cs typeface="Arial"/>
              </a:defRPr>
            </a:lvl7pPr>
            <a:lvl8pPr>
              <a:buNone/>
              <a:defRPr sz="2550" b="1">
                <a:solidFill>
                  <a:srgbClr val="17333E"/>
                </a:solidFill>
                <a:latin typeface="Arial"/>
                <a:ea typeface="Arial"/>
                <a:cs typeface="Arial"/>
              </a:defRPr>
            </a:lvl8pPr>
            <a:lvl9pPr>
              <a:buNone/>
              <a:defRPr sz="2550" b="1">
                <a:solidFill>
                  <a:srgbClr val="17333E"/>
                </a:solidFill>
                <a:latin typeface="Arial"/>
                <a:ea typeface="Arial"/>
                <a:cs typeface="Arial"/>
              </a:defRPr>
            </a:lvl9pPr>
          </a:lstStyle>
          <a:p xmlns:a="http://schemas.openxmlformats.org/drawingml/2006/main">
            <a:pPr>
              <a:buNone/>
              <a:defRPr sz="2400" b="1">
                <a:solidFill>
                  <a:srgbClr val="17333E"/>
                </a:solidFill>
                <a:latin typeface="Arial"/>
                <a:ea typeface="Arial"/>
                <a:cs typeface="Arial"/>
              </a:defRPr>
            </a:pPr>
            <a:r>
              <a:rPr sz="2400" b="1">
                <a:solidFill>
                  <a:srgbClr val="17333E"/>
                </a:solidFill>
                <a:latin typeface="Arial"/>
                <a:ea typeface="Arial"/>
                <a:cs typeface="Arial"/>
              </a:rPr>
              <a:t>Validate measurement and response</a:t>
            </a:r>
          </a:p>
        </p:txBody>
      </p:sp>
      <p:sp>
        <p:nvSpPr>
          <p:cNvPr id="9" name="">
            <a:extLst xmlns:a="http://schemas.openxmlformats.org/drawingml/2006/main">
              <a:ext uri="{FF2B5EF4-FFF2-40B4-BE49-F238E27FC236}">
                <a16:creationId xmlns:a16="http://schemas.microsoft.com/office/drawing/2014/main" id="{799FF9C4-1313-41F3-8E54-575854E4EF0B}"/>
              </a:ext>
            </a:extLst>
          </p:cNvPr>
          <p:cNvSpPr>
            <a:spLocks xmlns:a="http://schemas.openxmlformats.org/drawingml/2006/main" noGrp="1"/>
          </p:cNvSpPr>
          <p:nvPr/>
        </p:nvSpPr>
        <p:spPr>
          <a:xfrm xmlns:a="http://schemas.openxmlformats.org/drawingml/2006/main">
            <a:off x="1571625" y="3057525"/>
            <a:ext cx="981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0">
                <a:solidFill>
                  <a:srgbClr val="526971"/>
                </a:solidFill>
                <a:latin typeface="Arial"/>
                <a:ea typeface="Arial"/>
                <a:cs typeface="Arial"/>
              </a:defRPr>
            </a:defPPr>
            <a:lvl1pPr>
              <a:buNone/>
              <a:defRPr sz="2100" b="0">
                <a:solidFill>
                  <a:srgbClr val="526971"/>
                </a:solidFill>
                <a:latin typeface="Arial"/>
                <a:ea typeface="Arial"/>
                <a:cs typeface="Arial"/>
              </a:defRPr>
            </a:lvl1pPr>
            <a:lvl2pPr>
              <a:buNone/>
              <a:defRPr sz="2100" b="0">
                <a:solidFill>
                  <a:srgbClr val="526971"/>
                </a:solidFill>
                <a:latin typeface="Arial"/>
                <a:ea typeface="Arial"/>
                <a:cs typeface="Arial"/>
              </a:defRPr>
            </a:lvl2pPr>
            <a:lvl3pPr>
              <a:buNone/>
              <a:defRPr sz="2100" b="0">
                <a:solidFill>
                  <a:srgbClr val="526971"/>
                </a:solidFill>
                <a:latin typeface="Arial"/>
                <a:ea typeface="Arial"/>
                <a:cs typeface="Arial"/>
              </a:defRPr>
            </a:lvl3pPr>
            <a:lvl4pPr>
              <a:buNone/>
              <a:defRPr sz="2100" b="0">
                <a:solidFill>
                  <a:srgbClr val="526971"/>
                </a:solidFill>
                <a:latin typeface="Arial"/>
                <a:ea typeface="Arial"/>
                <a:cs typeface="Arial"/>
              </a:defRPr>
            </a:lvl4pPr>
            <a:lvl5pPr>
              <a:buNone/>
              <a:defRPr sz="2100" b="0">
                <a:solidFill>
                  <a:srgbClr val="526971"/>
                </a:solidFill>
                <a:latin typeface="Arial"/>
                <a:ea typeface="Arial"/>
                <a:cs typeface="Arial"/>
              </a:defRPr>
            </a:lvl5pPr>
            <a:lvl6pPr>
              <a:buNone/>
              <a:defRPr sz="2100" b="0">
                <a:solidFill>
                  <a:srgbClr val="526971"/>
                </a:solidFill>
                <a:latin typeface="Arial"/>
                <a:ea typeface="Arial"/>
                <a:cs typeface="Arial"/>
              </a:defRPr>
            </a:lvl6pPr>
            <a:lvl7pPr>
              <a:buNone/>
              <a:defRPr sz="2100" b="0">
                <a:solidFill>
                  <a:srgbClr val="526971"/>
                </a:solidFill>
                <a:latin typeface="Arial"/>
                <a:ea typeface="Arial"/>
                <a:cs typeface="Arial"/>
              </a:defRPr>
            </a:lvl7pPr>
            <a:lvl8pPr>
              <a:buNone/>
              <a:defRPr sz="2100" b="0">
                <a:solidFill>
                  <a:srgbClr val="526971"/>
                </a:solidFill>
                <a:latin typeface="Arial"/>
                <a:ea typeface="Arial"/>
                <a:cs typeface="Arial"/>
              </a:defRPr>
            </a:lvl8pPr>
            <a:lvl9pPr>
              <a:buNone/>
              <a:defRPr sz="2100" b="0">
                <a:solidFill>
                  <a:srgbClr val="526971"/>
                </a:solidFill>
                <a:latin typeface="Arial"/>
                <a:ea typeface="Arial"/>
                <a:cs typeface="Arial"/>
              </a:defRPr>
            </a:lvl9pPr>
          </a:lstStyle>
          <a:p xmlns:a="http://schemas.openxmlformats.org/drawingml/2006/main">
            <a:pPr>
              <a:buNone/>
              <a:defRPr sz="1950" b="0">
                <a:solidFill>
                  <a:srgbClr val="526971"/>
                </a:solidFill>
                <a:latin typeface="Arial"/>
                <a:ea typeface="Arial"/>
                <a:cs typeface="Arial"/>
              </a:defRPr>
            </a:pPr>
            <a:r>
              <a:rPr sz="1950" b="0">
                <a:solidFill>
                  <a:srgbClr val="526971"/>
                </a:solidFill>
                <a:latin typeface="Arial"/>
                <a:ea typeface="Arial"/>
                <a:cs typeface="Arial"/>
              </a:rPr>
              <a:t>Qualified controls and measured exposure</a:t>
            </a:r>
          </a:p>
        </p:txBody>
      </p:sp>
      <p:sp>
        <p:nvSpPr>
          <p:cNvPr id="10" name="">
            <a:extLst xmlns:a="http://schemas.openxmlformats.org/drawingml/2006/main">
              <a:ext uri="{FF2B5EF4-FFF2-40B4-BE49-F238E27FC236}">
                <a16:creationId xmlns:a16="http://schemas.microsoft.com/office/drawing/2014/main" id="{F64A83AA-17B9-4CA6-93A3-6EF4B01E3A9A}"/>
              </a:ext>
            </a:extLst>
          </p:cNvPr>
          <p:cNvSpPr>
            <a:spLocks xmlns:a="http://schemas.openxmlformats.org/drawingml/2006/main" noGrp="1"/>
          </p:cNvSpPr>
          <p:nvPr/>
        </p:nvSpPr>
        <p:spPr>
          <a:xfrm xmlns:a="http://schemas.openxmlformats.org/drawingml/2006/main">
            <a:off x="609600" y="35909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450" b="1">
                <a:solidFill>
                  <a:srgbClr val="176C63"/>
                </a:solidFill>
                <a:latin typeface="Arial"/>
                <a:ea typeface="Arial"/>
                <a:cs typeface="Arial"/>
              </a:defRPr>
            </a:defPPr>
            <a:lvl1pPr>
              <a:buNone/>
              <a:defRPr sz="3450" b="1">
                <a:solidFill>
                  <a:srgbClr val="176C63"/>
                </a:solidFill>
                <a:latin typeface="Arial"/>
                <a:ea typeface="Arial"/>
                <a:cs typeface="Arial"/>
              </a:defRPr>
            </a:lvl1pPr>
            <a:lvl2pPr>
              <a:buNone/>
              <a:defRPr sz="3450" b="1">
                <a:solidFill>
                  <a:srgbClr val="176C63"/>
                </a:solidFill>
                <a:latin typeface="Arial"/>
                <a:ea typeface="Arial"/>
                <a:cs typeface="Arial"/>
              </a:defRPr>
            </a:lvl2pPr>
            <a:lvl3pPr>
              <a:buNone/>
              <a:defRPr sz="3450" b="1">
                <a:solidFill>
                  <a:srgbClr val="176C63"/>
                </a:solidFill>
                <a:latin typeface="Arial"/>
                <a:ea typeface="Arial"/>
                <a:cs typeface="Arial"/>
              </a:defRPr>
            </a:lvl3pPr>
            <a:lvl4pPr>
              <a:buNone/>
              <a:defRPr sz="3450" b="1">
                <a:solidFill>
                  <a:srgbClr val="176C63"/>
                </a:solidFill>
                <a:latin typeface="Arial"/>
                <a:ea typeface="Arial"/>
                <a:cs typeface="Arial"/>
              </a:defRPr>
            </a:lvl4pPr>
            <a:lvl5pPr>
              <a:buNone/>
              <a:defRPr sz="3450" b="1">
                <a:solidFill>
                  <a:srgbClr val="176C63"/>
                </a:solidFill>
                <a:latin typeface="Arial"/>
                <a:ea typeface="Arial"/>
                <a:cs typeface="Arial"/>
              </a:defRPr>
            </a:lvl5pPr>
            <a:lvl6pPr>
              <a:buNone/>
              <a:defRPr sz="3450" b="1">
                <a:solidFill>
                  <a:srgbClr val="176C63"/>
                </a:solidFill>
                <a:latin typeface="Arial"/>
                <a:ea typeface="Arial"/>
                <a:cs typeface="Arial"/>
              </a:defRPr>
            </a:lvl6pPr>
            <a:lvl7pPr>
              <a:buNone/>
              <a:defRPr sz="3450" b="1">
                <a:solidFill>
                  <a:srgbClr val="176C63"/>
                </a:solidFill>
                <a:latin typeface="Arial"/>
                <a:ea typeface="Arial"/>
                <a:cs typeface="Arial"/>
              </a:defRPr>
            </a:lvl7pPr>
            <a:lvl8pPr>
              <a:buNone/>
              <a:defRPr sz="3450" b="1">
                <a:solidFill>
                  <a:srgbClr val="176C63"/>
                </a:solidFill>
                <a:latin typeface="Arial"/>
                <a:ea typeface="Arial"/>
                <a:cs typeface="Arial"/>
              </a:defRPr>
            </a:lvl8pPr>
            <a:lvl9pPr>
              <a:buNone/>
              <a:defRPr sz="3450" b="1">
                <a:solidFill>
                  <a:srgbClr val="176C63"/>
                </a:solidFill>
                <a:latin typeface="Arial"/>
                <a:ea typeface="Arial"/>
                <a:cs typeface="Arial"/>
              </a:defRPr>
            </a:lvl9pPr>
          </a:lstStyle>
          <a:p xmlns:a="http://schemas.openxmlformats.org/drawingml/2006/main">
            <a:pPr>
              <a:buNone/>
              <a:defRPr sz="3450" b="1">
                <a:solidFill>
                  <a:srgbClr val="176C63"/>
                </a:solidFill>
                <a:latin typeface="Arial"/>
                <a:ea typeface="Arial"/>
                <a:cs typeface="Arial"/>
              </a:defRPr>
            </a:pPr>
            <a:r>
              <a:rPr sz="3450" b="1">
                <a:solidFill>
                  <a:srgbClr val="176C63"/>
                </a:solidFill>
                <a:latin typeface="Arial"/>
                <a:ea typeface="Arial"/>
                <a:cs typeface="Arial"/>
              </a:rPr>
              <a:t>C</a:t>
            </a:r>
          </a:p>
        </p:txBody>
      </p:sp>
      <p:sp>
        <p:nvSpPr>
          <p:cNvPr id="11" name="">
            <a:extLst xmlns:a="http://schemas.openxmlformats.org/drawingml/2006/main">
              <a:ext uri="{FF2B5EF4-FFF2-40B4-BE49-F238E27FC236}">
                <a16:creationId xmlns:a16="http://schemas.microsoft.com/office/drawing/2014/main" id="{ED7D8125-00D4-43C1-AF24-CC9953EF460B}"/>
              </a:ext>
            </a:extLst>
          </p:cNvPr>
          <p:cNvSpPr>
            <a:spLocks xmlns:a="http://schemas.openxmlformats.org/drawingml/2006/main" noGrp="1"/>
          </p:cNvSpPr>
          <p:nvPr/>
        </p:nvSpPr>
        <p:spPr>
          <a:xfrm xmlns:a="http://schemas.openxmlformats.org/drawingml/2006/main">
            <a:off x="1571625" y="3590925"/>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400" b="1">
                <a:solidFill>
                  <a:srgbClr val="17333E"/>
                </a:solidFill>
                <a:latin typeface="Arial"/>
                <a:ea typeface="Arial"/>
                <a:cs typeface="Arial"/>
              </a:defRPr>
            </a:defPPr>
            <a:lvl1pPr>
              <a:buNone/>
              <a:defRPr sz="2550" b="1">
                <a:solidFill>
                  <a:srgbClr val="17333E"/>
                </a:solidFill>
                <a:latin typeface="Arial"/>
                <a:ea typeface="Arial"/>
                <a:cs typeface="Arial"/>
              </a:defRPr>
            </a:lvl1pPr>
            <a:lvl2pPr>
              <a:buNone/>
              <a:defRPr sz="2550" b="1">
                <a:solidFill>
                  <a:srgbClr val="17333E"/>
                </a:solidFill>
                <a:latin typeface="Arial"/>
                <a:ea typeface="Arial"/>
                <a:cs typeface="Arial"/>
              </a:defRPr>
            </a:lvl2pPr>
            <a:lvl3pPr>
              <a:buNone/>
              <a:defRPr sz="2550" b="1">
                <a:solidFill>
                  <a:srgbClr val="17333E"/>
                </a:solidFill>
                <a:latin typeface="Arial"/>
                <a:ea typeface="Arial"/>
                <a:cs typeface="Arial"/>
              </a:defRPr>
            </a:lvl3pPr>
            <a:lvl4pPr>
              <a:buNone/>
              <a:defRPr sz="2550" b="1">
                <a:solidFill>
                  <a:srgbClr val="17333E"/>
                </a:solidFill>
                <a:latin typeface="Arial"/>
                <a:ea typeface="Arial"/>
                <a:cs typeface="Arial"/>
              </a:defRPr>
            </a:lvl4pPr>
            <a:lvl5pPr>
              <a:buNone/>
              <a:defRPr sz="2550" b="1">
                <a:solidFill>
                  <a:srgbClr val="17333E"/>
                </a:solidFill>
                <a:latin typeface="Arial"/>
                <a:ea typeface="Arial"/>
                <a:cs typeface="Arial"/>
              </a:defRPr>
            </a:lvl5pPr>
            <a:lvl6pPr>
              <a:buNone/>
              <a:defRPr sz="2550" b="1">
                <a:solidFill>
                  <a:srgbClr val="17333E"/>
                </a:solidFill>
                <a:latin typeface="Arial"/>
                <a:ea typeface="Arial"/>
                <a:cs typeface="Arial"/>
              </a:defRPr>
            </a:lvl6pPr>
            <a:lvl7pPr>
              <a:buNone/>
              <a:defRPr sz="2550" b="1">
                <a:solidFill>
                  <a:srgbClr val="17333E"/>
                </a:solidFill>
                <a:latin typeface="Arial"/>
                <a:ea typeface="Arial"/>
                <a:cs typeface="Arial"/>
              </a:defRPr>
            </a:lvl7pPr>
            <a:lvl8pPr>
              <a:buNone/>
              <a:defRPr sz="2550" b="1">
                <a:solidFill>
                  <a:srgbClr val="17333E"/>
                </a:solidFill>
                <a:latin typeface="Arial"/>
                <a:ea typeface="Arial"/>
                <a:cs typeface="Arial"/>
              </a:defRPr>
            </a:lvl8pPr>
            <a:lvl9pPr>
              <a:buNone/>
              <a:defRPr sz="2550" b="1">
                <a:solidFill>
                  <a:srgbClr val="17333E"/>
                </a:solidFill>
                <a:latin typeface="Arial"/>
                <a:ea typeface="Arial"/>
                <a:cs typeface="Arial"/>
              </a:defRPr>
            </a:lvl9pPr>
          </a:lstStyle>
          <a:p xmlns:a="http://schemas.openxmlformats.org/drawingml/2006/main">
            <a:pPr>
              <a:buNone/>
              <a:defRPr sz="2400" b="1">
                <a:solidFill>
                  <a:srgbClr val="17333E"/>
                </a:solidFill>
                <a:latin typeface="Arial"/>
                <a:ea typeface="Arial"/>
                <a:cs typeface="Arial"/>
              </a:defRPr>
            </a:pPr>
            <a:r>
              <a:rPr sz="2400" b="1">
                <a:solidFill>
                  <a:srgbClr val="17333E"/>
                </a:solidFill>
                <a:latin typeface="Arial"/>
                <a:ea typeface="Arial"/>
                <a:cs typeface="Arial"/>
              </a:rPr>
              <a:t>Measure segregation and cell fate</a:t>
            </a:r>
          </a:p>
        </p:txBody>
      </p:sp>
      <p:sp>
        <p:nvSpPr>
          <p:cNvPr id="12" name="">
            <a:extLst xmlns:a="http://schemas.openxmlformats.org/drawingml/2006/main">
              <a:ext uri="{FF2B5EF4-FFF2-40B4-BE49-F238E27FC236}">
                <a16:creationId xmlns:a16="http://schemas.microsoft.com/office/drawing/2014/main" id="{8A35DA0E-DD17-41B8-9A68-D31EFAC3E493}"/>
              </a:ext>
            </a:extLst>
          </p:cNvPr>
          <p:cNvSpPr>
            <a:spLocks xmlns:a="http://schemas.openxmlformats.org/drawingml/2006/main" noGrp="1"/>
          </p:cNvSpPr>
          <p:nvPr/>
        </p:nvSpPr>
        <p:spPr>
          <a:xfrm xmlns:a="http://schemas.openxmlformats.org/drawingml/2006/main">
            <a:off x="1571625" y="4010025"/>
            <a:ext cx="981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0">
                <a:solidFill>
                  <a:srgbClr val="526971"/>
                </a:solidFill>
                <a:latin typeface="Arial"/>
                <a:ea typeface="Arial"/>
                <a:cs typeface="Arial"/>
              </a:defRPr>
            </a:defPPr>
            <a:lvl1pPr>
              <a:buNone/>
              <a:defRPr sz="2100" b="0">
                <a:solidFill>
                  <a:srgbClr val="526971"/>
                </a:solidFill>
                <a:latin typeface="Arial"/>
                <a:ea typeface="Arial"/>
                <a:cs typeface="Arial"/>
              </a:defRPr>
            </a:lvl1pPr>
            <a:lvl2pPr>
              <a:buNone/>
              <a:defRPr sz="2100" b="0">
                <a:solidFill>
                  <a:srgbClr val="526971"/>
                </a:solidFill>
                <a:latin typeface="Arial"/>
                <a:ea typeface="Arial"/>
                <a:cs typeface="Arial"/>
              </a:defRPr>
            </a:lvl2pPr>
            <a:lvl3pPr>
              <a:buNone/>
              <a:defRPr sz="2100" b="0">
                <a:solidFill>
                  <a:srgbClr val="526971"/>
                </a:solidFill>
                <a:latin typeface="Arial"/>
                <a:ea typeface="Arial"/>
                <a:cs typeface="Arial"/>
              </a:defRPr>
            </a:lvl3pPr>
            <a:lvl4pPr>
              <a:buNone/>
              <a:defRPr sz="2100" b="0">
                <a:solidFill>
                  <a:srgbClr val="526971"/>
                </a:solidFill>
                <a:latin typeface="Arial"/>
                <a:ea typeface="Arial"/>
                <a:cs typeface="Arial"/>
              </a:defRPr>
            </a:lvl4pPr>
            <a:lvl5pPr>
              <a:buNone/>
              <a:defRPr sz="2100" b="0">
                <a:solidFill>
                  <a:srgbClr val="526971"/>
                </a:solidFill>
                <a:latin typeface="Arial"/>
                <a:ea typeface="Arial"/>
                <a:cs typeface="Arial"/>
              </a:defRPr>
            </a:lvl5pPr>
            <a:lvl6pPr>
              <a:buNone/>
              <a:defRPr sz="2100" b="0">
                <a:solidFill>
                  <a:srgbClr val="526971"/>
                </a:solidFill>
                <a:latin typeface="Arial"/>
                <a:ea typeface="Arial"/>
                <a:cs typeface="Arial"/>
              </a:defRPr>
            </a:lvl6pPr>
            <a:lvl7pPr>
              <a:buNone/>
              <a:defRPr sz="2100" b="0">
                <a:solidFill>
                  <a:srgbClr val="526971"/>
                </a:solidFill>
                <a:latin typeface="Arial"/>
                <a:ea typeface="Arial"/>
                <a:cs typeface="Arial"/>
              </a:defRPr>
            </a:lvl7pPr>
            <a:lvl8pPr>
              <a:buNone/>
              <a:defRPr sz="2100" b="0">
                <a:solidFill>
                  <a:srgbClr val="526971"/>
                </a:solidFill>
                <a:latin typeface="Arial"/>
                <a:ea typeface="Arial"/>
                <a:cs typeface="Arial"/>
              </a:defRPr>
            </a:lvl8pPr>
            <a:lvl9pPr>
              <a:buNone/>
              <a:defRPr sz="2100" b="0">
                <a:solidFill>
                  <a:srgbClr val="526971"/>
                </a:solidFill>
                <a:latin typeface="Arial"/>
                <a:ea typeface="Arial"/>
                <a:cs typeface="Arial"/>
              </a:defRPr>
            </a:lvl9pPr>
          </a:lstStyle>
          <a:p xmlns:a="http://schemas.openxmlformats.org/drawingml/2006/main">
            <a:pPr>
              <a:buNone/>
              <a:defRPr sz="1950" b="0">
                <a:solidFill>
                  <a:srgbClr val="526971"/>
                </a:solidFill>
                <a:latin typeface="Arial"/>
                <a:ea typeface="Arial"/>
                <a:cs typeface="Arial"/>
              </a:defRPr>
            </a:pPr>
            <a:r>
              <a:rPr sz="1950" b="0">
                <a:solidFill>
                  <a:srgbClr val="526971"/>
                </a:solidFill>
                <a:latin typeface="Arial"/>
                <a:ea typeface="Arial"/>
                <a:cs typeface="Arial"/>
              </a:rPr>
              <a:t>Separate division, death, arrest and selection</a:t>
            </a:r>
          </a:p>
        </p:txBody>
      </p:sp>
      <p:sp>
        <p:nvSpPr>
          <p:cNvPr id="13" name="">
            <a:extLst xmlns:a="http://schemas.openxmlformats.org/drawingml/2006/main">
              <a:ext uri="{FF2B5EF4-FFF2-40B4-BE49-F238E27FC236}">
                <a16:creationId xmlns:a16="http://schemas.microsoft.com/office/drawing/2014/main" id="{D441342C-23A2-4976-A871-93AD7F660A80}"/>
              </a:ext>
            </a:extLst>
          </p:cNvPr>
          <p:cNvSpPr>
            <a:spLocks xmlns:a="http://schemas.openxmlformats.org/drawingml/2006/main" noGrp="1"/>
          </p:cNvSpPr>
          <p:nvPr/>
        </p:nvSpPr>
        <p:spPr>
          <a:xfrm xmlns:a="http://schemas.openxmlformats.org/drawingml/2006/main">
            <a:off x="609600" y="5810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176C63"/>
                </a:solidFill>
                <a:latin typeface="Arial"/>
                <a:ea typeface="Arial"/>
                <a:cs typeface="Arial"/>
              </a:defRPr>
            </a:defPPr>
            <a:lvl1pPr>
              <a:buNone/>
              <a:defRPr sz="1875" b="0">
                <a:solidFill>
                  <a:srgbClr val="176C63"/>
                </a:solidFill>
                <a:latin typeface="Arial"/>
                <a:ea typeface="Arial"/>
                <a:cs typeface="Arial"/>
              </a:defRPr>
            </a:lvl1pPr>
            <a:lvl2pPr>
              <a:buNone/>
              <a:defRPr sz="1875" b="0">
                <a:solidFill>
                  <a:srgbClr val="176C63"/>
                </a:solidFill>
                <a:latin typeface="Arial"/>
                <a:ea typeface="Arial"/>
                <a:cs typeface="Arial"/>
              </a:defRPr>
            </a:lvl2pPr>
            <a:lvl3pPr>
              <a:buNone/>
              <a:defRPr sz="1875" b="0">
                <a:solidFill>
                  <a:srgbClr val="176C63"/>
                </a:solidFill>
                <a:latin typeface="Arial"/>
                <a:ea typeface="Arial"/>
                <a:cs typeface="Arial"/>
              </a:defRPr>
            </a:lvl3pPr>
            <a:lvl4pPr>
              <a:buNone/>
              <a:defRPr sz="1875" b="0">
                <a:solidFill>
                  <a:srgbClr val="176C63"/>
                </a:solidFill>
                <a:latin typeface="Arial"/>
                <a:ea typeface="Arial"/>
                <a:cs typeface="Arial"/>
              </a:defRPr>
            </a:lvl4pPr>
            <a:lvl5pPr>
              <a:buNone/>
              <a:defRPr sz="1875" b="0">
                <a:solidFill>
                  <a:srgbClr val="176C63"/>
                </a:solidFill>
                <a:latin typeface="Arial"/>
                <a:ea typeface="Arial"/>
                <a:cs typeface="Arial"/>
              </a:defRPr>
            </a:lvl5pPr>
            <a:lvl6pPr>
              <a:buNone/>
              <a:defRPr sz="1875" b="0">
                <a:solidFill>
                  <a:srgbClr val="176C63"/>
                </a:solidFill>
                <a:latin typeface="Arial"/>
                <a:ea typeface="Arial"/>
                <a:cs typeface="Arial"/>
              </a:defRPr>
            </a:lvl6pPr>
            <a:lvl7pPr>
              <a:buNone/>
              <a:defRPr sz="1875" b="0">
                <a:solidFill>
                  <a:srgbClr val="176C63"/>
                </a:solidFill>
                <a:latin typeface="Arial"/>
                <a:ea typeface="Arial"/>
                <a:cs typeface="Arial"/>
              </a:defRPr>
            </a:lvl7pPr>
            <a:lvl8pPr>
              <a:buNone/>
              <a:defRPr sz="1875" b="0">
                <a:solidFill>
                  <a:srgbClr val="176C63"/>
                </a:solidFill>
                <a:latin typeface="Arial"/>
                <a:ea typeface="Arial"/>
                <a:cs typeface="Arial"/>
              </a:defRPr>
            </a:lvl8pPr>
            <a:lvl9pPr>
              <a:buNone/>
              <a:defRPr sz="1875" b="0">
                <a:solidFill>
                  <a:srgbClr val="176C63"/>
                </a:solidFill>
                <a:latin typeface="Arial"/>
                <a:ea typeface="Arial"/>
                <a:cs typeface="Arial"/>
              </a:defRPr>
            </a:lvl9pPr>
          </a:lstStyle>
          <a:p xmlns:a="http://schemas.openxmlformats.org/drawingml/2006/main">
            <a:pPr>
              <a:buNone/>
              <a:defRPr sz="1800" b="0">
                <a:solidFill>
                  <a:srgbClr val="176C63"/>
                </a:solidFill>
                <a:latin typeface="Arial"/>
                <a:ea typeface="Arial"/>
                <a:cs typeface="Arial"/>
              </a:defRPr>
            </a:pPr>
            <a:r>
              <a:rPr sz="1800" b="0">
                <a:solidFill>
                  <a:srgbClr val="176C63"/>
                </a:solidFill>
                <a:latin typeface="Arial"/>
                <a:ea typeface="Arial"/>
                <a:cs typeface="Arial"/>
              </a:rPr>
              <a:t>Failed controls: indeterminate. Threshold-touching intervals: inconclusive.</a:t>
            </a:r>
          </a:p>
        </p:txBody>
      </p:sp>
      <p:sp>
        <p:nvSpPr>
          <p:cNvPr id="15" name="">
            <a:extLst xmlns:a="http://schemas.openxmlformats.org/drawingml/2006/main">
              <a:ext uri="{FF2B5EF4-FFF2-40B4-BE49-F238E27FC236}">
                <a16:creationId xmlns:a16="http://schemas.microsoft.com/office/drawing/2014/main" id="{8EDD333E-CA3E-455C-8A47-33604E03056B}"/>
              </a:ext>
            </a:extLst>
          </p:cNvPr>
          <p:cNvSpPr>
            <a:spLocks xmlns:a="http://schemas.openxmlformats.org/drawingml/2006/main" noGrp="1"/>
          </p:cNvSpPr>
          <p:nvPr/>
        </p:nvSpPr>
        <p:spPr>
          <a:xfrm xmlns:a="http://schemas.openxmlformats.org/drawingml/2006/main">
            <a:off x="609600" y="45434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450" b="1">
                <a:solidFill>
                  <a:srgbClr val="176C63"/>
                </a:solidFill>
                <a:latin typeface="Arial"/>
                <a:ea typeface="Arial"/>
                <a:cs typeface="Arial"/>
              </a:defRPr>
            </a:defPPr>
            <a:lvl1pPr>
              <a:defRPr sz="3450" b="1">
                <a:solidFill>
                  <a:srgbClr val="176C63"/>
                </a:solidFill>
                <a:latin typeface="Arial"/>
                <a:ea typeface="Arial"/>
                <a:cs typeface="Arial"/>
              </a:defRPr>
            </a:lvl1pPr>
            <a:lvl2pPr>
              <a:defRPr sz="3450" b="1">
                <a:solidFill>
                  <a:srgbClr val="176C63"/>
                </a:solidFill>
                <a:latin typeface="Arial"/>
                <a:ea typeface="Arial"/>
                <a:cs typeface="Arial"/>
              </a:defRPr>
            </a:lvl2pPr>
            <a:lvl3pPr>
              <a:defRPr sz="3450" b="1">
                <a:solidFill>
                  <a:srgbClr val="176C63"/>
                </a:solidFill>
                <a:latin typeface="Arial"/>
                <a:ea typeface="Arial"/>
                <a:cs typeface="Arial"/>
              </a:defRPr>
            </a:lvl3pPr>
            <a:lvl4pPr>
              <a:defRPr sz="3450" b="1">
                <a:solidFill>
                  <a:srgbClr val="176C63"/>
                </a:solidFill>
                <a:latin typeface="Arial"/>
                <a:ea typeface="Arial"/>
                <a:cs typeface="Arial"/>
              </a:defRPr>
            </a:lvl4pPr>
            <a:lvl5pPr>
              <a:defRPr sz="3450" b="1">
                <a:solidFill>
                  <a:srgbClr val="176C63"/>
                </a:solidFill>
                <a:latin typeface="Arial"/>
                <a:ea typeface="Arial"/>
                <a:cs typeface="Arial"/>
              </a:defRPr>
            </a:lvl5pPr>
            <a:lvl6pPr>
              <a:defRPr sz="3450" b="1">
                <a:solidFill>
                  <a:srgbClr val="176C63"/>
                </a:solidFill>
                <a:latin typeface="Arial"/>
                <a:ea typeface="Arial"/>
                <a:cs typeface="Arial"/>
              </a:defRPr>
            </a:lvl6pPr>
            <a:lvl7pPr>
              <a:defRPr sz="3450" b="1">
                <a:solidFill>
                  <a:srgbClr val="176C63"/>
                </a:solidFill>
                <a:latin typeface="Arial"/>
                <a:ea typeface="Arial"/>
                <a:cs typeface="Arial"/>
              </a:defRPr>
            </a:lvl7pPr>
            <a:lvl8pPr>
              <a:defRPr sz="3450" b="1">
                <a:solidFill>
                  <a:srgbClr val="176C63"/>
                </a:solidFill>
                <a:latin typeface="Arial"/>
                <a:ea typeface="Arial"/>
                <a:cs typeface="Arial"/>
              </a:defRPr>
            </a:lvl8pPr>
            <a:lvl9pPr>
              <a:defRPr sz="3450" b="1">
                <a:solidFill>
                  <a:srgbClr val="176C63"/>
                </a:solidFill>
                <a:latin typeface="Arial"/>
                <a:ea typeface="Arial"/>
                <a:cs typeface="Arial"/>
              </a:defRPr>
            </a:lvl9pPr>
          </a:lstStyle>
          <a:p xmlns:a="http://schemas.openxmlformats.org/drawingml/2006/main">
            <a:pPr>
              <a:defRPr sz="3450" b="1">
                <a:solidFill>
                  <a:srgbClr val="176C63"/>
                </a:solidFill>
                <a:latin typeface="Arial"/>
                <a:ea typeface="Arial"/>
                <a:cs typeface="Arial"/>
              </a:defRPr>
            </a:pPr>
            <a:r>
              <a:rPr sz="3450" b="1">
                <a:solidFill>
                  <a:srgbClr val="176C63"/>
                </a:solidFill>
                <a:latin typeface="Arial"/>
                <a:ea typeface="Arial"/>
                <a:cs typeface="Arial"/>
              </a:rPr>
              <a:t>D</a:t>
            </a:r>
          </a:p>
        </p:txBody>
      </p:sp>
      <p:sp>
        <p:nvSpPr>
          <p:cNvPr id="16" name="">
            <a:extLst xmlns:a="http://schemas.openxmlformats.org/drawingml/2006/main">
              <a:ext uri="{FF2B5EF4-FFF2-40B4-BE49-F238E27FC236}">
                <a16:creationId xmlns:a16="http://schemas.microsoft.com/office/drawing/2014/main" id="{6091566F-0FFD-41E1-B53E-90630669F206}"/>
              </a:ext>
            </a:extLst>
          </p:cNvPr>
          <p:cNvSpPr>
            <a:spLocks xmlns:a="http://schemas.openxmlformats.org/drawingml/2006/main" noGrp="1"/>
          </p:cNvSpPr>
          <p:nvPr/>
        </p:nvSpPr>
        <p:spPr>
          <a:xfrm xmlns:a="http://schemas.openxmlformats.org/drawingml/2006/main">
            <a:off x="1571625" y="4543425"/>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400" b="1">
                <a:solidFill>
                  <a:srgbClr val="17333E"/>
                </a:solidFill>
                <a:latin typeface="Arial"/>
                <a:ea typeface="Arial"/>
                <a:cs typeface="Arial"/>
              </a:defRPr>
            </a:defPPr>
            <a:lvl1pPr>
              <a:defRPr sz="2400" b="1">
                <a:solidFill>
                  <a:srgbClr val="17333E"/>
                </a:solidFill>
                <a:latin typeface="Arial"/>
                <a:ea typeface="Arial"/>
                <a:cs typeface="Arial"/>
              </a:defRPr>
            </a:lvl1pPr>
            <a:lvl2pPr>
              <a:defRPr sz="2400" b="1">
                <a:solidFill>
                  <a:srgbClr val="17333E"/>
                </a:solidFill>
                <a:latin typeface="Arial"/>
                <a:ea typeface="Arial"/>
                <a:cs typeface="Arial"/>
              </a:defRPr>
            </a:lvl2pPr>
            <a:lvl3pPr>
              <a:defRPr sz="2400" b="1">
                <a:solidFill>
                  <a:srgbClr val="17333E"/>
                </a:solidFill>
                <a:latin typeface="Arial"/>
                <a:ea typeface="Arial"/>
                <a:cs typeface="Arial"/>
              </a:defRPr>
            </a:lvl3pPr>
            <a:lvl4pPr>
              <a:defRPr sz="2400" b="1">
                <a:solidFill>
                  <a:srgbClr val="17333E"/>
                </a:solidFill>
                <a:latin typeface="Arial"/>
                <a:ea typeface="Arial"/>
                <a:cs typeface="Arial"/>
              </a:defRPr>
            </a:lvl4pPr>
            <a:lvl5pPr>
              <a:defRPr sz="2400" b="1">
                <a:solidFill>
                  <a:srgbClr val="17333E"/>
                </a:solidFill>
                <a:latin typeface="Arial"/>
                <a:ea typeface="Arial"/>
                <a:cs typeface="Arial"/>
              </a:defRPr>
            </a:lvl5pPr>
            <a:lvl6pPr>
              <a:defRPr sz="2400" b="1">
                <a:solidFill>
                  <a:srgbClr val="17333E"/>
                </a:solidFill>
                <a:latin typeface="Arial"/>
                <a:ea typeface="Arial"/>
                <a:cs typeface="Arial"/>
              </a:defRPr>
            </a:lvl6pPr>
            <a:lvl7pPr>
              <a:defRPr sz="2400" b="1">
                <a:solidFill>
                  <a:srgbClr val="17333E"/>
                </a:solidFill>
                <a:latin typeface="Arial"/>
                <a:ea typeface="Arial"/>
                <a:cs typeface="Arial"/>
              </a:defRPr>
            </a:lvl7pPr>
            <a:lvl8pPr>
              <a:defRPr sz="2400" b="1">
                <a:solidFill>
                  <a:srgbClr val="17333E"/>
                </a:solidFill>
                <a:latin typeface="Arial"/>
                <a:ea typeface="Arial"/>
                <a:cs typeface="Arial"/>
              </a:defRPr>
            </a:lvl8pPr>
            <a:lvl9pPr>
              <a:defRPr sz="2400" b="1">
                <a:solidFill>
                  <a:srgbClr val="17333E"/>
                </a:solidFill>
                <a:latin typeface="Arial"/>
                <a:ea typeface="Arial"/>
                <a:cs typeface="Arial"/>
              </a:defRPr>
            </a:lvl9pPr>
          </a:lstStyle>
          <a:p xmlns:a="http://schemas.openxmlformats.org/drawingml/2006/main">
            <a:pPr>
              <a:defRPr sz="2400" b="1">
                <a:solidFill>
                  <a:srgbClr val="17333E"/>
                </a:solidFill>
                <a:latin typeface="Arial"/>
                <a:ea typeface="Arial"/>
                <a:cs typeface="Arial"/>
              </a:defRPr>
            </a:pPr>
            <a:r>
              <a:rPr sz="2400" b="1">
                <a:solidFill>
                  <a:srgbClr val="17333E"/>
                </a:solidFill>
                <a:latin typeface="Arial"/>
                <a:ea typeface="Arial"/>
                <a:cs typeface="Arial"/>
              </a:rPr>
              <a:t>Apply the prespecified decision rules</a:t>
            </a:r>
          </a:p>
        </p:txBody>
      </p:sp>
      <p:sp>
        <p:nvSpPr>
          <p:cNvPr id="17" name="">
            <a:extLst xmlns:a="http://schemas.openxmlformats.org/drawingml/2006/main">
              <a:ext uri="{FF2B5EF4-FFF2-40B4-BE49-F238E27FC236}">
                <a16:creationId xmlns:a16="http://schemas.microsoft.com/office/drawing/2014/main" id="{A772385B-1EE1-4556-AC5A-666A4FD1D260}"/>
              </a:ext>
            </a:extLst>
          </p:cNvPr>
          <p:cNvSpPr>
            <a:spLocks xmlns:a="http://schemas.openxmlformats.org/drawingml/2006/main" noGrp="1"/>
          </p:cNvSpPr>
          <p:nvPr/>
        </p:nvSpPr>
        <p:spPr>
          <a:xfrm xmlns:a="http://schemas.openxmlformats.org/drawingml/2006/main">
            <a:off x="1571625" y="4962525"/>
            <a:ext cx="981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0">
                <a:solidFill>
                  <a:srgbClr val="526971"/>
                </a:solidFill>
                <a:latin typeface="Arial"/>
                <a:ea typeface="Arial"/>
                <a:cs typeface="Arial"/>
              </a:defRPr>
            </a:defPPr>
            <a:lvl1pPr>
              <a:defRPr sz="1950" b="0">
                <a:solidFill>
                  <a:srgbClr val="526971"/>
                </a:solidFill>
                <a:latin typeface="Arial"/>
                <a:ea typeface="Arial"/>
                <a:cs typeface="Arial"/>
              </a:defRPr>
            </a:lvl1pPr>
            <a:lvl2pPr>
              <a:defRPr sz="1950" b="0">
                <a:solidFill>
                  <a:srgbClr val="526971"/>
                </a:solidFill>
                <a:latin typeface="Arial"/>
                <a:ea typeface="Arial"/>
                <a:cs typeface="Arial"/>
              </a:defRPr>
            </a:lvl2pPr>
            <a:lvl3pPr>
              <a:defRPr sz="1950" b="0">
                <a:solidFill>
                  <a:srgbClr val="526971"/>
                </a:solidFill>
                <a:latin typeface="Arial"/>
                <a:ea typeface="Arial"/>
                <a:cs typeface="Arial"/>
              </a:defRPr>
            </a:lvl3pPr>
            <a:lvl4pPr>
              <a:defRPr sz="1950" b="0">
                <a:solidFill>
                  <a:srgbClr val="526971"/>
                </a:solidFill>
                <a:latin typeface="Arial"/>
                <a:ea typeface="Arial"/>
                <a:cs typeface="Arial"/>
              </a:defRPr>
            </a:lvl4pPr>
            <a:lvl5pPr>
              <a:defRPr sz="1950" b="0">
                <a:solidFill>
                  <a:srgbClr val="526971"/>
                </a:solidFill>
                <a:latin typeface="Arial"/>
                <a:ea typeface="Arial"/>
                <a:cs typeface="Arial"/>
              </a:defRPr>
            </a:lvl5pPr>
            <a:lvl6pPr>
              <a:defRPr sz="1950" b="0">
                <a:solidFill>
                  <a:srgbClr val="526971"/>
                </a:solidFill>
                <a:latin typeface="Arial"/>
                <a:ea typeface="Arial"/>
                <a:cs typeface="Arial"/>
              </a:defRPr>
            </a:lvl6pPr>
            <a:lvl7pPr>
              <a:defRPr sz="1950" b="0">
                <a:solidFill>
                  <a:srgbClr val="526971"/>
                </a:solidFill>
                <a:latin typeface="Arial"/>
                <a:ea typeface="Arial"/>
                <a:cs typeface="Arial"/>
              </a:defRPr>
            </a:lvl7pPr>
            <a:lvl8pPr>
              <a:defRPr sz="1950" b="0">
                <a:solidFill>
                  <a:srgbClr val="526971"/>
                </a:solidFill>
                <a:latin typeface="Arial"/>
                <a:ea typeface="Arial"/>
                <a:cs typeface="Arial"/>
              </a:defRPr>
            </a:lvl8pPr>
            <a:lvl9pPr>
              <a:defRPr sz="1950" b="0">
                <a:solidFill>
                  <a:srgbClr val="526971"/>
                </a:solidFill>
                <a:latin typeface="Arial"/>
                <a:ea typeface="Arial"/>
                <a:cs typeface="Arial"/>
              </a:defRPr>
            </a:lvl9pPr>
          </a:lstStyle>
          <a:p xmlns:a="http://schemas.openxmlformats.org/drawingml/2006/main">
            <a:pPr>
              <a:defRPr sz="1950" b="0">
                <a:solidFill>
                  <a:srgbClr val="526971"/>
                </a:solidFill>
                <a:latin typeface="Arial"/>
                <a:ea typeface="Arial"/>
                <a:cs typeface="Arial"/>
              </a:defRPr>
            </a:pPr>
            <a:r>
              <a:rPr sz="1950" b="0">
                <a:solidFill>
                  <a:srgbClr val="526971"/>
                </a:solidFill>
                <a:latin typeface="Arial"/>
                <a:ea typeface="Arial"/>
                <a:cs typeface="Arial"/>
              </a:rPr>
              <a:t>Confidence bounds separate advance, reject and inconclusive</a:t>
            </a:r>
          </a:p>
        </p:txBody>
      </p:sp>
    </p:spTree>
    <p:extLst>
      <p:ext uri="{BB962C8B-B14F-4D97-AF65-F5344CB8AC3E}">
        <p14:creationId xmlns:p14="http://schemas.microsoft.com/office/powerpoint/2010/main" val="450152459"/>
      </p:ext>
    </p:extLst>
  </p:cSld>
</p:sld>
</file>

<file path=ppt/slides/slide4.xml><?xml version="1.0" encoding="utf-8"?>
<p:sld xmlns:p="http://schemas.openxmlformats.org/presentationml/2006/main">
  <p:cSld>
    <p:bg>
      <p:bgPr>
        <a:solidFill xmlns:a="http://schemas.openxmlformats.org/drawingml/2006/main">
          <a:srgbClr val="F2F5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7921839-C9E2-485D-8BEC-C77FE55CE71B}"/>
              </a:ext>
            </a:extLst>
          </p:cNvPr>
          <p:cNvSpPr>
            <a:spLocks xmlns:a="http://schemas.openxmlformats.org/drawingml/2006/main" noGrp="1"/>
          </p:cNvSpPr>
          <p:nvPr/>
        </p:nvSpPr>
        <p:spPr>
          <a:xfrm xmlns:a="http://schemas.openxmlformats.org/drawingml/2006/main">
            <a:off x="609600" y="5524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750" b="1">
                <a:solidFill>
                  <a:srgbClr val="17333E"/>
                </a:solidFill>
                <a:latin typeface="Arial"/>
                <a:ea typeface="Arial"/>
                <a:cs typeface="Arial"/>
              </a:defRPr>
            </a:defPPr>
            <a:lvl1pPr>
              <a:buNone/>
              <a:defRPr sz="3750" b="1">
                <a:solidFill>
                  <a:srgbClr val="17333E"/>
                </a:solidFill>
                <a:latin typeface="Arial"/>
                <a:ea typeface="Arial"/>
                <a:cs typeface="Arial"/>
              </a:defRPr>
            </a:lvl1pPr>
            <a:lvl2pPr>
              <a:buNone/>
              <a:defRPr sz="3750" b="1">
                <a:solidFill>
                  <a:srgbClr val="17333E"/>
                </a:solidFill>
                <a:latin typeface="Arial"/>
                <a:ea typeface="Arial"/>
                <a:cs typeface="Arial"/>
              </a:defRPr>
            </a:lvl2pPr>
            <a:lvl3pPr>
              <a:buNone/>
              <a:defRPr sz="3750" b="1">
                <a:solidFill>
                  <a:srgbClr val="17333E"/>
                </a:solidFill>
                <a:latin typeface="Arial"/>
                <a:ea typeface="Arial"/>
                <a:cs typeface="Arial"/>
              </a:defRPr>
            </a:lvl3pPr>
            <a:lvl4pPr>
              <a:buNone/>
              <a:defRPr sz="3750" b="1">
                <a:solidFill>
                  <a:srgbClr val="17333E"/>
                </a:solidFill>
                <a:latin typeface="Arial"/>
                <a:ea typeface="Arial"/>
                <a:cs typeface="Arial"/>
              </a:defRPr>
            </a:lvl4pPr>
            <a:lvl5pPr>
              <a:buNone/>
              <a:defRPr sz="3750" b="1">
                <a:solidFill>
                  <a:srgbClr val="17333E"/>
                </a:solidFill>
                <a:latin typeface="Arial"/>
                <a:ea typeface="Arial"/>
                <a:cs typeface="Arial"/>
              </a:defRPr>
            </a:lvl5pPr>
            <a:lvl6pPr>
              <a:buNone/>
              <a:defRPr sz="3750" b="1">
                <a:solidFill>
                  <a:srgbClr val="17333E"/>
                </a:solidFill>
                <a:latin typeface="Arial"/>
                <a:ea typeface="Arial"/>
                <a:cs typeface="Arial"/>
              </a:defRPr>
            </a:lvl6pPr>
            <a:lvl7pPr>
              <a:buNone/>
              <a:defRPr sz="3750" b="1">
                <a:solidFill>
                  <a:srgbClr val="17333E"/>
                </a:solidFill>
                <a:latin typeface="Arial"/>
                <a:ea typeface="Arial"/>
                <a:cs typeface="Arial"/>
              </a:defRPr>
            </a:lvl7pPr>
            <a:lvl8pPr>
              <a:buNone/>
              <a:defRPr sz="3750" b="1">
                <a:solidFill>
                  <a:srgbClr val="17333E"/>
                </a:solidFill>
                <a:latin typeface="Arial"/>
                <a:ea typeface="Arial"/>
                <a:cs typeface="Arial"/>
              </a:defRPr>
            </a:lvl8pPr>
            <a:lvl9pPr>
              <a:buNone/>
              <a:defRPr sz="3750" b="1">
                <a:solidFill>
                  <a:srgbClr val="17333E"/>
                </a:solidFill>
                <a:latin typeface="Arial"/>
                <a:ea typeface="Arial"/>
                <a:cs typeface="Arial"/>
              </a:defRPr>
            </a:lvl9pPr>
          </a:lstStyle>
          <a:p xmlns:a="http://schemas.openxmlformats.org/drawingml/2006/main">
            <a:pPr>
              <a:buNone/>
              <a:defRPr sz="3750" b="1">
                <a:solidFill>
                  <a:srgbClr val="17333E"/>
                </a:solidFill>
                <a:latin typeface="Arial"/>
                <a:ea typeface="Arial"/>
                <a:cs typeface="Arial"/>
              </a:defRPr>
            </a:pPr>
            <a:r>
              <a:rPr sz="3750" b="1">
                <a:solidFill>
                  <a:srgbClr val="17333E"/>
                </a:solidFill>
                <a:latin typeface="Arial"/>
                <a:ea typeface="Arial"/>
                <a:cs typeface="Arial"/>
              </a:rPr>
              <a:t>Gene-to-condition navigator</a:t>
            </a:r>
          </a:p>
        </p:txBody>
      </p:sp>
      <p:sp>
        <p:nvSpPr>
          <p:cNvPr id="2" name="">
            <a:extLst xmlns:a="http://schemas.openxmlformats.org/drawingml/2006/main">
              <a:ext uri="{FF2B5EF4-FFF2-40B4-BE49-F238E27FC236}">
                <a16:creationId xmlns:a16="http://schemas.microsoft.com/office/drawing/2014/main" id="{8D91B7CF-5870-440D-9B00-466AFEBB62C7}"/>
              </a:ext>
            </a:extLst>
          </p:cNvPr>
          <p:cNvSpPr>
            <a:spLocks xmlns:a="http://schemas.openxmlformats.org/drawingml/2006/main" noGrp="1"/>
          </p:cNvSpPr>
          <p:nvPr/>
        </p:nvSpPr>
        <p:spPr>
          <a:xfrm xmlns:a="http://schemas.openxmlformats.org/drawingml/2006/main">
            <a:off x="10953750" y="63436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971"/>
                </a:solidFill>
                <a:latin typeface="Arial"/>
                <a:ea typeface="Arial"/>
                <a:cs typeface="Arial"/>
              </a:defRPr>
            </a:defPPr>
            <a:lvl1pPr>
              <a:buNone/>
              <a:defRPr sz="1350" b="0">
                <a:solidFill>
                  <a:srgbClr val="526971"/>
                </a:solidFill>
                <a:latin typeface="Arial"/>
                <a:ea typeface="Arial"/>
                <a:cs typeface="Arial"/>
              </a:defRPr>
            </a:lvl1pPr>
            <a:lvl2pPr>
              <a:buNone/>
              <a:defRPr sz="1350" b="0">
                <a:solidFill>
                  <a:srgbClr val="526971"/>
                </a:solidFill>
                <a:latin typeface="Arial"/>
                <a:ea typeface="Arial"/>
                <a:cs typeface="Arial"/>
              </a:defRPr>
            </a:lvl2pPr>
            <a:lvl3pPr>
              <a:buNone/>
              <a:defRPr sz="1350" b="0">
                <a:solidFill>
                  <a:srgbClr val="526971"/>
                </a:solidFill>
                <a:latin typeface="Arial"/>
                <a:ea typeface="Arial"/>
                <a:cs typeface="Arial"/>
              </a:defRPr>
            </a:lvl3pPr>
            <a:lvl4pPr>
              <a:buNone/>
              <a:defRPr sz="1350" b="0">
                <a:solidFill>
                  <a:srgbClr val="526971"/>
                </a:solidFill>
                <a:latin typeface="Arial"/>
                <a:ea typeface="Arial"/>
                <a:cs typeface="Arial"/>
              </a:defRPr>
            </a:lvl4pPr>
            <a:lvl5pPr>
              <a:buNone/>
              <a:defRPr sz="1350" b="0">
                <a:solidFill>
                  <a:srgbClr val="526971"/>
                </a:solidFill>
                <a:latin typeface="Arial"/>
                <a:ea typeface="Arial"/>
                <a:cs typeface="Arial"/>
              </a:defRPr>
            </a:lvl5pPr>
            <a:lvl6pPr>
              <a:buNone/>
              <a:defRPr sz="1350" b="0">
                <a:solidFill>
                  <a:srgbClr val="526971"/>
                </a:solidFill>
                <a:latin typeface="Arial"/>
                <a:ea typeface="Arial"/>
                <a:cs typeface="Arial"/>
              </a:defRPr>
            </a:lvl6pPr>
            <a:lvl7pPr>
              <a:buNone/>
              <a:defRPr sz="1350" b="0">
                <a:solidFill>
                  <a:srgbClr val="526971"/>
                </a:solidFill>
                <a:latin typeface="Arial"/>
                <a:ea typeface="Arial"/>
                <a:cs typeface="Arial"/>
              </a:defRPr>
            </a:lvl7pPr>
            <a:lvl8pPr>
              <a:buNone/>
              <a:defRPr sz="1350" b="0">
                <a:solidFill>
                  <a:srgbClr val="526971"/>
                </a:solidFill>
                <a:latin typeface="Arial"/>
                <a:ea typeface="Arial"/>
                <a:cs typeface="Arial"/>
              </a:defRPr>
            </a:lvl8pPr>
            <a:lvl9pPr>
              <a:buNone/>
              <a:defRPr sz="1350" b="0">
                <a:solidFill>
                  <a:srgbClr val="526971"/>
                </a:solidFill>
                <a:latin typeface="Arial"/>
                <a:ea typeface="Arial"/>
                <a:cs typeface="Arial"/>
              </a:defRPr>
            </a:lvl9pPr>
          </a:lstStyle>
          <a:p xmlns:a="http://schemas.openxmlformats.org/drawingml/2006/main">
            <a:pPr>
              <a:buNone/>
              <a:defRPr sz="1350" b="0">
                <a:solidFill>
                  <a:srgbClr val="526971"/>
                </a:solidFill>
                <a:latin typeface="Arial"/>
                <a:ea typeface="Arial"/>
                <a:cs typeface="Arial"/>
              </a:defRPr>
            </a:pPr>
            <a:r>
              <a:rPr sz="1350" b="0">
                <a:solidFill>
                  <a:srgbClr val="526971"/>
                </a:solidFill>
                <a:latin typeface="Arial"/>
                <a:ea typeface="Arial"/>
                <a:cs typeface="Arial"/>
              </a:rPr>
              <a:t>4/6</a:t>
            </a:r>
          </a:p>
        </p:txBody>
      </p:sp>
      <p:sp>
        <p:nvSpPr>
          <p:cNvPr id="3" name="">
            <a:extLst xmlns:a="http://schemas.openxmlformats.org/drawingml/2006/main">
              <a:ext uri="{FF2B5EF4-FFF2-40B4-BE49-F238E27FC236}">
                <a16:creationId xmlns:a16="http://schemas.microsoft.com/office/drawing/2014/main" id="{FA6D18F6-62BB-4B9A-94E7-BC0E510E680A}"/>
              </a:ext>
            </a:extLst>
          </p:cNvPr>
          <p:cNvSpPr>
            <a:spLocks xmlns:a="http://schemas.openxmlformats.org/drawingml/2006/main" noGrp="1"/>
          </p:cNvSpPr>
          <p:nvPr/>
        </p:nvSpPr>
        <p:spPr>
          <a:xfrm xmlns:a="http://schemas.openxmlformats.org/drawingml/2006/main">
            <a:off x="609600" y="634365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26971"/>
                </a:solidFill>
                <a:latin typeface="Arial"/>
                <a:ea typeface="Arial"/>
                <a:cs typeface="Arial"/>
              </a:defRPr>
            </a:defPPr>
            <a:lvl1pPr>
              <a:buNone/>
              <a:defRPr sz="1200" b="0">
                <a:solidFill>
                  <a:srgbClr val="526971"/>
                </a:solidFill>
                <a:latin typeface="Arial"/>
                <a:ea typeface="Arial"/>
                <a:cs typeface="Arial"/>
              </a:defRPr>
            </a:lvl1pPr>
            <a:lvl2pPr>
              <a:buNone/>
              <a:defRPr sz="1200" b="0">
                <a:solidFill>
                  <a:srgbClr val="526971"/>
                </a:solidFill>
                <a:latin typeface="Arial"/>
                <a:ea typeface="Arial"/>
                <a:cs typeface="Arial"/>
              </a:defRPr>
            </a:lvl2pPr>
            <a:lvl3pPr>
              <a:buNone/>
              <a:defRPr sz="1200" b="0">
                <a:solidFill>
                  <a:srgbClr val="526971"/>
                </a:solidFill>
                <a:latin typeface="Arial"/>
                <a:ea typeface="Arial"/>
                <a:cs typeface="Arial"/>
              </a:defRPr>
            </a:lvl3pPr>
            <a:lvl4pPr>
              <a:buNone/>
              <a:defRPr sz="1200" b="0">
                <a:solidFill>
                  <a:srgbClr val="526971"/>
                </a:solidFill>
                <a:latin typeface="Arial"/>
                <a:ea typeface="Arial"/>
                <a:cs typeface="Arial"/>
              </a:defRPr>
            </a:lvl4pPr>
            <a:lvl5pPr>
              <a:buNone/>
              <a:defRPr sz="1200" b="0">
                <a:solidFill>
                  <a:srgbClr val="526971"/>
                </a:solidFill>
                <a:latin typeface="Arial"/>
                <a:ea typeface="Arial"/>
                <a:cs typeface="Arial"/>
              </a:defRPr>
            </a:lvl5pPr>
            <a:lvl6pPr>
              <a:buNone/>
              <a:defRPr sz="1200" b="0">
                <a:solidFill>
                  <a:srgbClr val="526971"/>
                </a:solidFill>
                <a:latin typeface="Arial"/>
                <a:ea typeface="Arial"/>
                <a:cs typeface="Arial"/>
              </a:defRPr>
            </a:lvl6pPr>
            <a:lvl7pPr>
              <a:buNone/>
              <a:defRPr sz="1200" b="0">
                <a:solidFill>
                  <a:srgbClr val="526971"/>
                </a:solidFill>
                <a:latin typeface="Arial"/>
                <a:ea typeface="Arial"/>
                <a:cs typeface="Arial"/>
              </a:defRPr>
            </a:lvl7pPr>
            <a:lvl8pPr>
              <a:buNone/>
              <a:defRPr sz="1200" b="0">
                <a:solidFill>
                  <a:srgbClr val="526971"/>
                </a:solidFill>
                <a:latin typeface="Arial"/>
                <a:ea typeface="Arial"/>
                <a:cs typeface="Arial"/>
              </a:defRPr>
            </a:lvl8pPr>
            <a:lvl9pPr>
              <a:buNone/>
              <a:defRPr sz="1200" b="0">
                <a:solidFill>
                  <a:srgbClr val="526971"/>
                </a:solidFill>
                <a:latin typeface="Arial"/>
                <a:ea typeface="Arial"/>
                <a:cs typeface="Arial"/>
              </a:defRPr>
            </a:lvl9pPr>
          </a:lstStyle>
          <a:p xmlns:a="http://schemas.openxmlformats.org/drawingml/2006/main">
            <a:pPr>
              <a:buNone/>
              <a:defRPr sz="1200" b="0">
                <a:solidFill>
                  <a:srgbClr val="526971"/>
                </a:solidFill>
                <a:latin typeface="Arial"/>
                <a:ea typeface="Arial"/>
                <a:cs typeface="Arial"/>
              </a:defRPr>
            </a:pPr>
            <a:r>
              <a:rPr sz="1200" b="0">
                <a:solidFill>
                  <a:srgbClr val="526971"/>
                </a:solidFill>
                <a:latin typeface="Arial"/>
                <a:ea typeface="Arial"/>
                <a:cs typeface="Arial"/>
              </a:rPr>
              <a:t>Expanded frozen query audit / HFEA register 2026-08-05</a:t>
            </a:r>
          </a:p>
        </p:txBody>
      </p:sp>
      <p:pic>
        <p:nvPicPr>
          <p:cNvPr id="4" name="">
            <a:extLst xmlns:a="http://schemas.openxmlformats.org/drawingml/2006/main">
              <a:ext uri="{FF2B5EF4-FFF2-40B4-BE49-F238E27FC236}">
                <a16:creationId xmlns:a16="http://schemas.microsoft.com/office/drawing/2014/main" id="{D67536CD-B4B3-4B04-B577-F748560DCF74}"/>
              </a:ext>
            </a:extLst>
          </p:cNvPr>
          <p:cNvPicPr>
            <a:picLocks xmlns:a="http://schemas.openxmlformats.org/drawingml/2006/main" noChangeAspect="1"/>
          </p:cNvPicPr>
          <p:nvPr/>
        </p:nvPicPr>
        <p:blipFill>
          <a:blip xmlns:r="http://schemas.openxmlformats.org/officeDocument/2006/relationships" xmlns:a="http://schemas.openxmlformats.org/drawingml/2006/main" r:embed="R07645afead084427"/>
          <a:srcRect xmlns:a="http://schemas.openxmlformats.org/drawingml/2006/main" l="0" t="0" r="0" b="0"/>
          <a:stretch xmlns:a="http://schemas.openxmlformats.org/drawingml/2006/main"/>
        </p:blipFill>
        <p:spPr>
          <a:xfrm xmlns:a="http://schemas.openxmlformats.org/drawingml/2006/main">
            <a:off x="609600" y="1638300"/>
            <a:ext cx="7048500" cy="457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1C27E03-CE54-4DD5-8A63-CED22F23F59C}"/>
              </a:ext>
            </a:extLst>
          </p:cNvPr>
          <p:cNvSpPr>
            <a:spLocks xmlns:a="http://schemas.openxmlformats.org/drawingml/2006/main" noGrp="1"/>
          </p:cNvSpPr>
          <p:nvPr/>
        </p:nvSpPr>
        <p:spPr>
          <a:xfrm xmlns:a="http://schemas.openxmlformats.org/drawingml/2006/main">
            <a:off x="8048625" y="1809750"/>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150" b="1">
                <a:solidFill>
                  <a:srgbClr val="176C63"/>
                </a:solidFill>
                <a:latin typeface="Arial"/>
                <a:ea typeface="Arial"/>
                <a:cs typeface="Arial"/>
              </a:defRPr>
            </a:defPPr>
            <a:lvl1pPr>
              <a:buNone/>
              <a:defRPr sz="3150" b="1">
                <a:solidFill>
                  <a:srgbClr val="176C63"/>
                </a:solidFill>
                <a:latin typeface="Arial"/>
                <a:ea typeface="Arial"/>
                <a:cs typeface="Arial"/>
              </a:defRPr>
            </a:lvl1pPr>
            <a:lvl2pPr>
              <a:buNone/>
              <a:defRPr sz="3150" b="1">
                <a:solidFill>
                  <a:srgbClr val="176C63"/>
                </a:solidFill>
                <a:latin typeface="Arial"/>
                <a:ea typeface="Arial"/>
                <a:cs typeface="Arial"/>
              </a:defRPr>
            </a:lvl2pPr>
            <a:lvl3pPr>
              <a:buNone/>
              <a:defRPr sz="3150" b="1">
                <a:solidFill>
                  <a:srgbClr val="176C63"/>
                </a:solidFill>
                <a:latin typeface="Arial"/>
                <a:ea typeface="Arial"/>
                <a:cs typeface="Arial"/>
              </a:defRPr>
            </a:lvl3pPr>
            <a:lvl4pPr>
              <a:buNone/>
              <a:defRPr sz="3150" b="1">
                <a:solidFill>
                  <a:srgbClr val="176C63"/>
                </a:solidFill>
                <a:latin typeface="Arial"/>
                <a:ea typeface="Arial"/>
                <a:cs typeface="Arial"/>
              </a:defRPr>
            </a:lvl4pPr>
            <a:lvl5pPr>
              <a:buNone/>
              <a:defRPr sz="3150" b="1">
                <a:solidFill>
                  <a:srgbClr val="176C63"/>
                </a:solidFill>
                <a:latin typeface="Arial"/>
                <a:ea typeface="Arial"/>
                <a:cs typeface="Arial"/>
              </a:defRPr>
            </a:lvl5pPr>
            <a:lvl6pPr>
              <a:buNone/>
              <a:defRPr sz="3150" b="1">
                <a:solidFill>
                  <a:srgbClr val="176C63"/>
                </a:solidFill>
                <a:latin typeface="Arial"/>
                <a:ea typeface="Arial"/>
                <a:cs typeface="Arial"/>
              </a:defRPr>
            </a:lvl6pPr>
            <a:lvl7pPr>
              <a:buNone/>
              <a:defRPr sz="3150" b="1">
                <a:solidFill>
                  <a:srgbClr val="176C63"/>
                </a:solidFill>
                <a:latin typeface="Arial"/>
                <a:ea typeface="Arial"/>
                <a:cs typeface="Arial"/>
              </a:defRPr>
            </a:lvl7pPr>
            <a:lvl8pPr>
              <a:buNone/>
              <a:defRPr sz="3150" b="1">
                <a:solidFill>
                  <a:srgbClr val="176C63"/>
                </a:solidFill>
                <a:latin typeface="Arial"/>
                <a:ea typeface="Arial"/>
                <a:cs typeface="Arial"/>
              </a:defRPr>
            </a:lvl8pPr>
            <a:lvl9pPr>
              <a:buNone/>
              <a:defRPr sz="3150" b="1">
                <a:solidFill>
                  <a:srgbClr val="176C63"/>
                </a:solidFill>
                <a:latin typeface="Arial"/>
                <a:ea typeface="Arial"/>
                <a:cs typeface="Arial"/>
              </a:defRPr>
            </a:lvl9pPr>
          </a:lstStyle>
          <a:p xmlns:a="http://schemas.openxmlformats.org/drawingml/2006/main">
            <a:pPr>
              <a:buNone/>
              <a:defRPr sz="3150" b="1">
                <a:solidFill>
                  <a:srgbClr val="176C63"/>
                </a:solidFill>
                <a:latin typeface="Arial"/>
                <a:ea typeface="Arial"/>
                <a:cs typeface="Arial"/>
              </a:defRPr>
            </a:pPr>
            <a:r>
              <a:rPr sz="3150" b="1">
                <a:solidFill>
                  <a:srgbClr val="176C63"/>
                </a:solidFill>
                <a:latin typeface="Arial"/>
                <a:ea typeface="Arial"/>
                <a:cs typeface="Arial"/>
              </a:rPr>
              <a:t>28 queries</a:t>
            </a:r>
          </a:p>
        </p:txBody>
      </p:sp>
      <p:sp>
        <p:nvSpPr>
          <p:cNvPr id="6" name="">
            <a:extLst xmlns:a="http://schemas.openxmlformats.org/drawingml/2006/main">
              <a:ext uri="{FF2B5EF4-FFF2-40B4-BE49-F238E27FC236}">
                <a16:creationId xmlns:a16="http://schemas.microsoft.com/office/drawing/2014/main" id="{107E701A-6D80-47DE-A3C8-A17550537059}"/>
              </a:ext>
            </a:extLst>
          </p:cNvPr>
          <p:cNvSpPr>
            <a:spLocks xmlns:a="http://schemas.openxmlformats.org/drawingml/2006/main" noGrp="1"/>
          </p:cNvSpPr>
          <p:nvPr/>
        </p:nvSpPr>
        <p:spPr>
          <a:xfrm xmlns:a="http://schemas.openxmlformats.org/drawingml/2006/main">
            <a:off x="8048625" y="2647950"/>
            <a:ext cx="34766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0">
                <a:solidFill>
                  <a:srgbClr val="17333E"/>
                </a:solidFill>
                <a:latin typeface="Arial"/>
                <a:ea typeface="Arial"/>
                <a:cs typeface="Arial"/>
              </a:defRPr>
            </a:defPPr>
            <a:lvl1pPr>
              <a:buNone/>
              <a:defRPr sz="2175" b="0">
                <a:solidFill>
                  <a:srgbClr val="17333E"/>
                </a:solidFill>
                <a:latin typeface="Arial"/>
                <a:ea typeface="Arial"/>
                <a:cs typeface="Arial"/>
              </a:defRPr>
            </a:lvl1pPr>
            <a:lvl2pPr>
              <a:buNone/>
              <a:defRPr sz="2175" b="0">
                <a:solidFill>
                  <a:srgbClr val="17333E"/>
                </a:solidFill>
                <a:latin typeface="Arial"/>
                <a:ea typeface="Arial"/>
                <a:cs typeface="Arial"/>
              </a:defRPr>
            </a:lvl2pPr>
            <a:lvl3pPr>
              <a:buNone/>
              <a:defRPr sz="2175" b="0">
                <a:solidFill>
                  <a:srgbClr val="17333E"/>
                </a:solidFill>
                <a:latin typeface="Arial"/>
                <a:ea typeface="Arial"/>
                <a:cs typeface="Arial"/>
              </a:defRPr>
            </a:lvl3pPr>
            <a:lvl4pPr>
              <a:buNone/>
              <a:defRPr sz="2175" b="0">
                <a:solidFill>
                  <a:srgbClr val="17333E"/>
                </a:solidFill>
                <a:latin typeface="Arial"/>
                <a:ea typeface="Arial"/>
                <a:cs typeface="Arial"/>
              </a:defRPr>
            </a:lvl4pPr>
            <a:lvl5pPr>
              <a:buNone/>
              <a:defRPr sz="2175" b="0">
                <a:solidFill>
                  <a:srgbClr val="17333E"/>
                </a:solidFill>
                <a:latin typeface="Arial"/>
                <a:ea typeface="Arial"/>
                <a:cs typeface="Arial"/>
              </a:defRPr>
            </a:lvl5pPr>
            <a:lvl6pPr>
              <a:buNone/>
              <a:defRPr sz="2175" b="0">
                <a:solidFill>
                  <a:srgbClr val="17333E"/>
                </a:solidFill>
                <a:latin typeface="Arial"/>
                <a:ea typeface="Arial"/>
                <a:cs typeface="Arial"/>
              </a:defRPr>
            </a:lvl6pPr>
            <a:lvl7pPr>
              <a:buNone/>
              <a:defRPr sz="2175" b="0">
                <a:solidFill>
                  <a:srgbClr val="17333E"/>
                </a:solidFill>
                <a:latin typeface="Arial"/>
                <a:ea typeface="Arial"/>
                <a:cs typeface="Arial"/>
              </a:defRPr>
            </a:lvl7pPr>
            <a:lvl8pPr>
              <a:buNone/>
              <a:defRPr sz="2175" b="0">
                <a:solidFill>
                  <a:srgbClr val="17333E"/>
                </a:solidFill>
                <a:latin typeface="Arial"/>
                <a:ea typeface="Arial"/>
                <a:cs typeface="Arial"/>
              </a:defRPr>
            </a:lvl8pPr>
            <a:lvl9pPr>
              <a:buNone/>
              <a:defRPr sz="2175" b="0">
                <a:solidFill>
                  <a:srgbClr val="17333E"/>
                </a:solidFill>
                <a:latin typeface="Arial"/>
                <a:ea typeface="Arial"/>
                <a:cs typeface="Arial"/>
              </a:defRPr>
            </a:lvl9pPr>
          </a:lstStyle>
          <a:p xmlns:a="http://schemas.openxmlformats.org/drawingml/2006/main">
            <a:pPr>
              <a:buNone/>
              <a:defRPr sz="2175" b="0">
                <a:solidFill>
                  <a:srgbClr val="17333E"/>
                </a:solidFill>
                <a:latin typeface="Arial"/>
                <a:ea typeface="Arial"/>
                <a:cs typeface="Arial"/>
              </a:defRPr>
            </a:pPr>
            <a:r>
              <a:rPr sz="2175" b="0">
                <a:solidFill>
                  <a:srgbClr val="17333E"/>
                </a:solidFill>
                <a:latin typeface="Arial"/>
                <a:ea typeface="Arial"/>
                <a:cs typeface="Arial"/>
              </a:rPr>
              <a:t>47 returned gene-row</a:t>
            </a:r>
          </a:p>
          <a:p xmlns:a="http://schemas.openxmlformats.org/drawingml/2006/main">
            <a:pPr>
              <a:buNone/>
              <a:defRPr sz="2175" b="0">
                <a:solidFill>
                  <a:srgbClr val="17333E"/>
                </a:solidFill>
                <a:latin typeface="Arial"/>
                <a:ea typeface="Arial"/>
                <a:cs typeface="Arial"/>
              </a:defRPr>
            </a:pPr>
            <a:r>
              <a:rPr sz="2175" b="0">
                <a:solidFill>
                  <a:srgbClr val="17333E"/>
                </a:solidFill>
                <a:latin typeface="Arial"/>
                <a:ea typeface="Arial"/>
                <a:cs typeface="Arial"/>
              </a:rPr>
              <a:t>associations reviewed</a:t>
            </a:r>
          </a:p>
          <a:p xmlns:a="http://schemas.openxmlformats.org/drawingml/2006/main">
            <a:pPr>
              <a:buNone/>
              <a:defRPr sz="2175" b="0">
                <a:solidFill>
                  <a:srgbClr val="17333E"/>
                </a:solidFill>
                <a:latin typeface="Arial"/>
                <a:ea typeface="Arial"/>
                <a:cs typeface="Arial"/>
              </a:defRPr>
            </a:pPr>
            <a:r>
              <a:rPr sz="2175" b="0">
                <a:solidFill>
                  <a:srgbClr val="17333E"/>
                </a:solidFill>
                <a:latin typeface="Arial"/>
                <a:ea typeface="Arial"/>
                <a:cs typeface="Arial"/>
              </a:rPr>
              <a:t/>
            </a:r>
          </a:p>
          <a:p xmlns:a="http://schemas.openxmlformats.org/drawingml/2006/main">
            <a:pPr>
              <a:buNone/>
              <a:defRPr sz="2175" b="0">
                <a:solidFill>
                  <a:srgbClr val="17333E"/>
                </a:solidFill>
                <a:latin typeface="Arial"/>
                <a:ea typeface="Arial"/>
                <a:cs typeface="Arial"/>
              </a:defRPr>
            </a:pPr>
            <a:r>
              <a:rPr sz="2175" b="0">
                <a:solidFill>
                  <a:srgbClr val="17333E"/>
                </a:solidFill>
                <a:latin typeface="Arial"/>
                <a:ea typeface="Arial"/>
                <a:cs typeface="Arial"/>
              </a:rPr>
              <a:t>Source roles visible</a:t>
            </a:r>
          </a:p>
        </p:txBody>
      </p:sp>
      <p:sp>
        <p:nvSpPr>
          <p:cNvPr id="7" name="">
            <a:extLst xmlns:a="http://schemas.openxmlformats.org/drawingml/2006/main">
              <a:ext uri="{FF2B5EF4-FFF2-40B4-BE49-F238E27FC236}">
                <a16:creationId xmlns:a16="http://schemas.microsoft.com/office/drawing/2014/main" id="{4A798470-100E-4940-B55A-586A5A10C701}"/>
              </a:ext>
            </a:extLst>
          </p:cNvPr>
          <p:cNvSpPr>
            <a:spLocks xmlns:a="http://schemas.openxmlformats.org/drawingml/2006/main" noGrp="1"/>
          </p:cNvSpPr>
          <p:nvPr/>
        </p:nvSpPr>
        <p:spPr>
          <a:xfrm xmlns:a="http://schemas.openxmlformats.org/drawingml/2006/main">
            <a:off x="8048625" y="4953000"/>
            <a:ext cx="3476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0">
                <a:solidFill>
                  <a:srgbClr val="526971"/>
                </a:solidFill>
                <a:latin typeface="Arial"/>
                <a:ea typeface="Arial"/>
                <a:cs typeface="Arial"/>
              </a:defRPr>
            </a:defPPr>
            <a:lvl1pPr>
              <a:buNone/>
              <a:defRPr sz="2100" b="0">
                <a:solidFill>
                  <a:srgbClr val="526971"/>
                </a:solidFill>
                <a:latin typeface="Arial"/>
                <a:ea typeface="Arial"/>
                <a:cs typeface="Arial"/>
              </a:defRPr>
            </a:lvl1pPr>
            <a:lvl2pPr>
              <a:buNone/>
              <a:defRPr sz="2100" b="0">
                <a:solidFill>
                  <a:srgbClr val="526971"/>
                </a:solidFill>
                <a:latin typeface="Arial"/>
                <a:ea typeface="Arial"/>
                <a:cs typeface="Arial"/>
              </a:defRPr>
            </a:lvl2pPr>
            <a:lvl3pPr>
              <a:buNone/>
              <a:defRPr sz="2100" b="0">
                <a:solidFill>
                  <a:srgbClr val="526971"/>
                </a:solidFill>
                <a:latin typeface="Arial"/>
                <a:ea typeface="Arial"/>
                <a:cs typeface="Arial"/>
              </a:defRPr>
            </a:lvl3pPr>
            <a:lvl4pPr>
              <a:buNone/>
              <a:defRPr sz="2100" b="0">
                <a:solidFill>
                  <a:srgbClr val="526971"/>
                </a:solidFill>
                <a:latin typeface="Arial"/>
                <a:ea typeface="Arial"/>
                <a:cs typeface="Arial"/>
              </a:defRPr>
            </a:lvl4pPr>
            <a:lvl5pPr>
              <a:buNone/>
              <a:defRPr sz="2100" b="0">
                <a:solidFill>
                  <a:srgbClr val="526971"/>
                </a:solidFill>
                <a:latin typeface="Arial"/>
                <a:ea typeface="Arial"/>
                <a:cs typeface="Arial"/>
              </a:defRPr>
            </a:lvl5pPr>
            <a:lvl6pPr>
              <a:buNone/>
              <a:defRPr sz="2100" b="0">
                <a:solidFill>
                  <a:srgbClr val="526971"/>
                </a:solidFill>
                <a:latin typeface="Arial"/>
                <a:ea typeface="Arial"/>
                <a:cs typeface="Arial"/>
              </a:defRPr>
            </a:lvl6pPr>
            <a:lvl7pPr>
              <a:buNone/>
              <a:defRPr sz="2100" b="0">
                <a:solidFill>
                  <a:srgbClr val="526971"/>
                </a:solidFill>
                <a:latin typeface="Arial"/>
                <a:ea typeface="Arial"/>
                <a:cs typeface="Arial"/>
              </a:defRPr>
            </a:lvl7pPr>
            <a:lvl8pPr>
              <a:buNone/>
              <a:defRPr sz="2100" b="0">
                <a:solidFill>
                  <a:srgbClr val="526971"/>
                </a:solidFill>
                <a:latin typeface="Arial"/>
                <a:ea typeface="Arial"/>
                <a:cs typeface="Arial"/>
              </a:defRPr>
            </a:lvl8pPr>
            <a:lvl9pPr>
              <a:buNone/>
              <a:defRPr sz="2100" b="0">
                <a:solidFill>
                  <a:srgbClr val="526971"/>
                </a:solidFill>
                <a:latin typeface="Arial"/>
                <a:ea typeface="Arial"/>
                <a:cs typeface="Arial"/>
              </a:defRPr>
            </a:lvl9pPr>
          </a:lstStyle>
          <a:p xmlns:a="http://schemas.openxmlformats.org/drawingml/2006/main">
            <a:pPr>
              <a:buNone/>
              <a:defRPr sz="1950" b="0">
                <a:solidFill>
                  <a:srgbClr val="526971"/>
                </a:solidFill>
                <a:latin typeface="Arial"/>
                <a:ea typeface="Arial"/>
                <a:cs typeface="Arial"/>
              </a:defRPr>
            </a:pPr>
            <a:r>
              <a:rPr sz="1950" b="0">
                <a:solidFill>
                  <a:srgbClr val="526971"/>
                </a:solidFill>
                <a:latin typeface="Arial"/>
                <a:ea typeface="Arial"/>
                <a:cs typeface="Arial"/>
              </a:rPr>
              <a:t>Shared-source audit</a:t>
            </a:r>
          </a:p>
          <a:p xmlns:a="http://schemas.openxmlformats.org/drawingml/2006/main">
            <a:pPr>
              <a:buNone/>
              <a:defRPr sz="1950" b="0">
                <a:solidFill>
                  <a:srgbClr val="526971"/>
                </a:solidFill>
                <a:latin typeface="Arial"/>
                <a:ea typeface="Arial"/>
                <a:cs typeface="Arial"/>
              </a:defRPr>
            </a:pPr>
            <a:r>
              <a:rPr sz="1950" b="0">
                <a:solidFill>
                  <a:srgbClr val="526971"/>
                </a:solidFill>
                <a:latin typeface="Arial"/>
                <a:ea typeface="Arial"/>
                <a:cs typeface="Arial"/>
              </a:rPr>
              <a:t>Clinical validity untested</a:t>
            </a:r>
          </a:p>
        </p:txBody>
      </p:sp>
    </p:spTree>
    <p:extLst>
      <p:ext uri="{BB962C8B-B14F-4D97-AF65-F5344CB8AC3E}">
        <p14:creationId xmlns:p14="http://schemas.microsoft.com/office/powerpoint/2010/main" val="544544023"/>
      </p:ext>
    </p:extLst>
  </p:cSld>
</p:sld>
</file>

<file path=ppt/slides/slide5.xml><?xml version="1.0" encoding="utf-8"?>
<p:sld xmlns:p="http://schemas.openxmlformats.org/presentationml/2006/main">
  <p:cSld>
    <p:bg>
      <p:bgPr>
        <a:solidFill xmlns:a="http://schemas.openxmlformats.org/drawingml/2006/main">
          <a:srgbClr val="F2F5F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2FD012E-B9E8-4CF9-8D05-58A8A888734B}"/>
              </a:ext>
            </a:extLst>
          </p:cNvPr>
          <p:cNvSpPr>
            <a:spLocks xmlns:a="http://schemas.openxmlformats.org/drawingml/2006/main" noGrp="1"/>
          </p:cNvSpPr>
          <p:nvPr/>
        </p:nvSpPr>
        <p:spPr>
          <a:xfrm xmlns:a="http://schemas.openxmlformats.org/drawingml/2006/main">
            <a:off x="609600" y="5524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750" b="1">
                <a:solidFill>
                  <a:srgbClr val="17333E"/>
                </a:solidFill>
                <a:latin typeface="Arial"/>
                <a:ea typeface="Arial"/>
                <a:cs typeface="Arial"/>
              </a:defRPr>
            </a:defPPr>
            <a:lvl1pPr>
              <a:buNone/>
              <a:defRPr sz="3750" b="1">
                <a:solidFill>
                  <a:srgbClr val="17333E"/>
                </a:solidFill>
                <a:latin typeface="Arial"/>
                <a:ea typeface="Arial"/>
                <a:cs typeface="Arial"/>
              </a:defRPr>
            </a:lvl1pPr>
            <a:lvl2pPr>
              <a:buNone/>
              <a:defRPr sz="3750" b="1">
                <a:solidFill>
                  <a:srgbClr val="17333E"/>
                </a:solidFill>
                <a:latin typeface="Arial"/>
                <a:ea typeface="Arial"/>
                <a:cs typeface="Arial"/>
              </a:defRPr>
            </a:lvl2pPr>
            <a:lvl3pPr>
              <a:buNone/>
              <a:defRPr sz="3750" b="1">
                <a:solidFill>
                  <a:srgbClr val="17333E"/>
                </a:solidFill>
                <a:latin typeface="Arial"/>
                <a:ea typeface="Arial"/>
                <a:cs typeface="Arial"/>
              </a:defRPr>
            </a:lvl3pPr>
            <a:lvl4pPr>
              <a:buNone/>
              <a:defRPr sz="3750" b="1">
                <a:solidFill>
                  <a:srgbClr val="17333E"/>
                </a:solidFill>
                <a:latin typeface="Arial"/>
                <a:ea typeface="Arial"/>
                <a:cs typeface="Arial"/>
              </a:defRPr>
            </a:lvl4pPr>
            <a:lvl5pPr>
              <a:buNone/>
              <a:defRPr sz="3750" b="1">
                <a:solidFill>
                  <a:srgbClr val="17333E"/>
                </a:solidFill>
                <a:latin typeface="Arial"/>
                <a:ea typeface="Arial"/>
                <a:cs typeface="Arial"/>
              </a:defRPr>
            </a:lvl5pPr>
            <a:lvl6pPr>
              <a:buNone/>
              <a:defRPr sz="3750" b="1">
                <a:solidFill>
                  <a:srgbClr val="17333E"/>
                </a:solidFill>
                <a:latin typeface="Arial"/>
                <a:ea typeface="Arial"/>
                <a:cs typeface="Arial"/>
              </a:defRPr>
            </a:lvl6pPr>
            <a:lvl7pPr>
              <a:buNone/>
              <a:defRPr sz="3750" b="1">
                <a:solidFill>
                  <a:srgbClr val="17333E"/>
                </a:solidFill>
                <a:latin typeface="Arial"/>
                <a:ea typeface="Arial"/>
                <a:cs typeface="Arial"/>
              </a:defRPr>
            </a:lvl7pPr>
            <a:lvl8pPr>
              <a:buNone/>
              <a:defRPr sz="3750" b="1">
                <a:solidFill>
                  <a:srgbClr val="17333E"/>
                </a:solidFill>
                <a:latin typeface="Arial"/>
                <a:ea typeface="Arial"/>
                <a:cs typeface="Arial"/>
              </a:defRPr>
            </a:lvl8pPr>
            <a:lvl9pPr>
              <a:buNone/>
              <a:defRPr sz="3750" b="1">
                <a:solidFill>
                  <a:srgbClr val="17333E"/>
                </a:solidFill>
                <a:latin typeface="Arial"/>
                <a:ea typeface="Arial"/>
                <a:cs typeface="Arial"/>
              </a:defRPr>
            </a:lvl9pPr>
          </a:lstStyle>
          <a:p xmlns:a="http://schemas.openxmlformats.org/drawingml/2006/main">
            <a:pPr>
              <a:buNone/>
              <a:defRPr sz="3750" b="1">
                <a:solidFill>
                  <a:srgbClr val="17333E"/>
                </a:solidFill>
                <a:latin typeface="Arial"/>
                <a:ea typeface="Arial"/>
                <a:cs typeface="Arial"/>
              </a:defRPr>
            </a:pPr>
            <a:r>
              <a:rPr sz="3750" b="1">
                <a:solidFill>
                  <a:srgbClr val="17333E"/>
                </a:solidFill>
                <a:latin typeface="Arial"/>
                <a:ea typeface="Arial"/>
                <a:cs typeface="Arial"/>
              </a:rPr>
              <a:t>Rules that reject misleading hits</a:t>
            </a:r>
          </a:p>
        </p:txBody>
      </p:sp>
      <p:sp>
        <p:nvSpPr>
          <p:cNvPr id="2" name="">
            <a:extLst xmlns:a="http://schemas.openxmlformats.org/drawingml/2006/main">
              <a:ext uri="{FF2B5EF4-FFF2-40B4-BE49-F238E27FC236}">
                <a16:creationId xmlns:a16="http://schemas.microsoft.com/office/drawing/2014/main" id="{BA3EED25-DC51-4DB2-B486-2F477713471D}"/>
              </a:ext>
            </a:extLst>
          </p:cNvPr>
          <p:cNvSpPr>
            <a:spLocks xmlns:a="http://schemas.openxmlformats.org/drawingml/2006/main" noGrp="1"/>
          </p:cNvSpPr>
          <p:nvPr/>
        </p:nvSpPr>
        <p:spPr>
          <a:xfrm xmlns:a="http://schemas.openxmlformats.org/drawingml/2006/main">
            <a:off x="10953750" y="63436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971"/>
                </a:solidFill>
                <a:latin typeface="Arial"/>
                <a:ea typeface="Arial"/>
                <a:cs typeface="Arial"/>
              </a:defRPr>
            </a:defPPr>
            <a:lvl1pPr>
              <a:buNone/>
              <a:defRPr sz="1350" b="0">
                <a:solidFill>
                  <a:srgbClr val="526971"/>
                </a:solidFill>
                <a:latin typeface="Arial"/>
                <a:ea typeface="Arial"/>
                <a:cs typeface="Arial"/>
              </a:defRPr>
            </a:lvl1pPr>
            <a:lvl2pPr>
              <a:buNone/>
              <a:defRPr sz="1350" b="0">
                <a:solidFill>
                  <a:srgbClr val="526971"/>
                </a:solidFill>
                <a:latin typeface="Arial"/>
                <a:ea typeface="Arial"/>
                <a:cs typeface="Arial"/>
              </a:defRPr>
            </a:lvl2pPr>
            <a:lvl3pPr>
              <a:buNone/>
              <a:defRPr sz="1350" b="0">
                <a:solidFill>
                  <a:srgbClr val="526971"/>
                </a:solidFill>
                <a:latin typeface="Arial"/>
                <a:ea typeface="Arial"/>
                <a:cs typeface="Arial"/>
              </a:defRPr>
            </a:lvl3pPr>
            <a:lvl4pPr>
              <a:buNone/>
              <a:defRPr sz="1350" b="0">
                <a:solidFill>
                  <a:srgbClr val="526971"/>
                </a:solidFill>
                <a:latin typeface="Arial"/>
                <a:ea typeface="Arial"/>
                <a:cs typeface="Arial"/>
              </a:defRPr>
            </a:lvl4pPr>
            <a:lvl5pPr>
              <a:buNone/>
              <a:defRPr sz="1350" b="0">
                <a:solidFill>
                  <a:srgbClr val="526971"/>
                </a:solidFill>
                <a:latin typeface="Arial"/>
                <a:ea typeface="Arial"/>
                <a:cs typeface="Arial"/>
              </a:defRPr>
            </a:lvl5pPr>
            <a:lvl6pPr>
              <a:buNone/>
              <a:defRPr sz="1350" b="0">
                <a:solidFill>
                  <a:srgbClr val="526971"/>
                </a:solidFill>
                <a:latin typeface="Arial"/>
                <a:ea typeface="Arial"/>
                <a:cs typeface="Arial"/>
              </a:defRPr>
            </a:lvl6pPr>
            <a:lvl7pPr>
              <a:buNone/>
              <a:defRPr sz="1350" b="0">
                <a:solidFill>
                  <a:srgbClr val="526971"/>
                </a:solidFill>
                <a:latin typeface="Arial"/>
                <a:ea typeface="Arial"/>
                <a:cs typeface="Arial"/>
              </a:defRPr>
            </a:lvl7pPr>
            <a:lvl8pPr>
              <a:buNone/>
              <a:defRPr sz="1350" b="0">
                <a:solidFill>
                  <a:srgbClr val="526971"/>
                </a:solidFill>
                <a:latin typeface="Arial"/>
                <a:ea typeface="Arial"/>
                <a:cs typeface="Arial"/>
              </a:defRPr>
            </a:lvl8pPr>
            <a:lvl9pPr>
              <a:buNone/>
              <a:defRPr sz="1350" b="0">
                <a:solidFill>
                  <a:srgbClr val="526971"/>
                </a:solidFill>
                <a:latin typeface="Arial"/>
                <a:ea typeface="Arial"/>
                <a:cs typeface="Arial"/>
              </a:defRPr>
            </a:lvl9pPr>
          </a:lstStyle>
          <a:p xmlns:a="http://schemas.openxmlformats.org/drawingml/2006/main">
            <a:pPr>
              <a:buNone/>
              <a:defRPr sz="1350" b="0">
                <a:solidFill>
                  <a:srgbClr val="526971"/>
                </a:solidFill>
                <a:latin typeface="Arial"/>
                <a:ea typeface="Arial"/>
                <a:cs typeface="Arial"/>
              </a:defRPr>
            </a:pPr>
            <a:r>
              <a:rPr sz="1350" b="0">
                <a:solidFill>
                  <a:srgbClr val="526971"/>
                </a:solidFill>
                <a:latin typeface="Arial"/>
                <a:ea typeface="Arial"/>
                <a:cs typeface="Arial"/>
              </a:rPr>
              <a:t>5/6</a:t>
            </a:r>
          </a:p>
        </p:txBody>
      </p:sp>
      <p:sp>
        <p:nvSpPr>
          <p:cNvPr id="3" name="">
            <a:extLst xmlns:a="http://schemas.openxmlformats.org/drawingml/2006/main">
              <a:ext uri="{FF2B5EF4-FFF2-40B4-BE49-F238E27FC236}">
                <a16:creationId xmlns:a16="http://schemas.microsoft.com/office/drawing/2014/main" id="{D7F8E497-020F-44A2-9D74-9BEE49ACC154}"/>
              </a:ext>
            </a:extLst>
          </p:cNvPr>
          <p:cNvSpPr>
            <a:spLocks xmlns:a="http://schemas.openxmlformats.org/drawingml/2006/main" noGrp="1"/>
          </p:cNvSpPr>
          <p:nvPr/>
        </p:nvSpPr>
        <p:spPr>
          <a:xfrm xmlns:a="http://schemas.openxmlformats.org/drawingml/2006/main">
            <a:off x="609600" y="634365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26971"/>
                </a:solidFill>
                <a:latin typeface="Arial"/>
                <a:ea typeface="Arial"/>
                <a:cs typeface="Arial"/>
              </a:defRPr>
            </a:defPPr>
            <a:lvl1pPr>
              <a:buNone/>
              <a:defRPr sz="1200" b="0">
                <a:solidFill>
                  <a:srgbClr val="526971"/>
                </a:solidFill>
                <a:latin typeface="Arial"/>
                <a:ea typeface="Arial"/>
                <a:cs typeface="Arial"/>
              </a:defRPr>
            </a:lvl1pPr>
            <a:lvl2pPr>
              <a:buNone/>
              <a:defRPr sz="1200" b="0">
                <a:solidFill>
                  <a:srgbClr val="526971"/>
                </a:solidFill>
                <a:latin typeface="Arial"/>
                <a:ea typeface="Arial"/>
                <a:cs typeface="Arial"/>
              </a:defRPr>
            </a:lvl2pPr>
            <a:lvl3pPr>
              <a:buNone/>
              <a:defRPr sz="1200" b="0">
                <a:solidFill>
                  <a:srgbClr val="526971"/>
                </a:solidFill>
                <a:latin typeface="Arial"/>
                <a:ea typeface="Arial"/>
                <a:cs typeface="Arial"/>
              </a:defRPr>
            </a:lvl3pPr>
            <a:lvl4pPr>
              <a:buNone/>
              <a:defRPr sz="1200" b="0">
                <a:solidFill>
                  <a:srgbClr val="526971"/>
                </a:solidFill>
                <a:latin typeface="Arial"/>
                <a:ea typeface="Arial"/>
                <a:cs typeface="Arial"/>
              </a:defRPr>
            </a:lvl4pPr>
            <a:lvl5pPr>
              <a:buNone/>
              <a:defRPr sz="1200" b="0">
                <a:solidFill>
                  <a:srgbClr val="526971"/>
                </a:solidFill>
                <a:latin typeface="Arial"/>
                <a:ea typeface="Arial"/>
                <a:cs typeface="Arial"/>
              </a:defRPr>
            </a:lvl5pPr>
            <a:lvl6pPr>
              <a:buNone/>
              <a:defRPr sz="1200" b="0">
                <a:solidFill>
                  <a:srgbClr val="526971"/>
                </a:solidFill>
                <a:latin typeface="Arial"/>
                <a:ea typeface="Arial"/>
                <a:cs typeface="Arial"/>
              </a:defRPr>
            </a:lvl6pPr>
            <a:lvl7pPr>
              <a:buNone/>
              <a:defRPr sz="1200" b="0">
                <a:solidFill>
                  <a:srgbClr val="526971"/>
                </a:solidFill>
                <a:latin typeface="Arial"/>
                <a:ea typeface="Arial"/>
                <a:cs typeface="Arial"/>
              </a:defRPr>
            </a:lvl7pPr>
            <a:lvl8pPr>
              <a:buNone/>
              <a:defRPr sz="1200" b="0">
                <a:solidFill>
                  <a:srgbClr val="526971"/>
                </a:solidFill>
                <a:latin typeface="Arial"/>
                <a:ea typeface="Arial"/>
                <a:cs typeface="Arial"/>
              </a:defRPr>
            </a:lvl8pPr>
            <a:lvl9pPr>
              <a:buNone/>
              <a:defRPr sz="1200" b="0">
                <a:solidFill>
                  <a:srgbClr val="526971"/>
                </a:solidFill>
                <a:latin typeface="Arial"/>
                <a:ea typeface="Arial"/>
                <a:cs typeface="Arial"/>
              </a:defRPr>
            </a:lvl9pPr>
          </a:lstStyle>
          <a:p xmlns:a="http://schemas.openxmlformats.org/drawingml/2006/main">
            <a:pPr>
              <a:buNone/>
              <a:defRPr sz="1200" b="0">
                <a:solidFill>
                  <a:srgbClr val="526971"/>
                </a:solidFill>
                <a:latin typeface="Arial"/>
                <a:ea typeface="Arial"/>
                <a:cs typeface="Arial"/>
              </a:defRPr>
            </a:pPr>
            <a:r>
              <a:rPr sz="1200" b="0">
                <a:solidFill>
                  <a:srgbClr val="526971"/>
                </a:solidFill>
                <a:latin typeface="Arial"/>
                <a:ea typeface="Arial"/>
                <a:cs typeface="Arial"/>
              </a:rPr>
              <a:t>Rescue-decision validation / SpliceAI measured controls and checker</a:t>
            </a:r>
          </a:p>
        </p:txBody>
      </p:sp>
      <p:sp>
        <p:nvSpPr>
          <p:cNvPr id="4" name="">
            <a:extLst xmlns:a="http://schemas.openxmlformats.org/drawingml/2006/main">
              <a:ext uri="{FF2B5EF4-FFF2-40B4-BE49-F238E27FC236}">
                <a16:creationId xmlns:a16="http://schemas.microsoft.com/office/drawing/2014/main" id="{844D340B-D18B-464B-AA5C-58F46E879747}"/>
              </a:ext>
            </a:extLst>
          </p:cNvPr>
          <p:cNvSpPr>
            <a:spLocks xmlns:a="http://schemas.openxmlformats.org/drawingml/2006/main" noGrp="1"/>
          </p:cNvSpPr>
          <p:nvPr/>
        </p:nvSpPr>
        <p:spPr>
          <a:xfrm xmlns:a="http://schemas.openxmlformats.org/drawingml/2006/main">
            <a:off x="609600" y="16192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400" b="0">
                <a:solidFill>
                  <a:srgbClr val="526971"/>
                </a:solidFill>
                <a:latin typeface="Arial"/>
                <a:ea typeface="Arial"/>
                <a:cs typeface="Arial"/>
              </a:defRPr>
            </a:defPPr>
            <a:lvl1pPr>
              <a:buNone/>
              <a:defRPr sz="2400" b="0">
                <a:solidFill>
                  <a:srgbClr val="526971"/>
                </a:solidFill>
                <a:latin typeface="Arial"/>
                <a:ea typeface="Arial"/>
                <a:cs typeface="Arial"/>
              </a:defRPr>
            </a:lvl1pPr>
            <a:lvl2pPr>
              <a:buNone/>
              <a:defRPr sz="2400" b="0">
                <a:solidFill>
                  <a:srgbClr val="526971"/>
                </a:solidFill>
                <a:latin typeface="Arial"/>
                <a:ea typeface="Arial"/>
                <a:cs typeface="Arial"/>
              </a:defRPr>
            </a:lvl2pPr>
            <a:lvl3pPr>
              <a:buNone/>
              <a:defRPr sz="2400" b="0">
                <a:solidFill>
                  <a:srgbClr val="526971"/>
                </a:solidFill>
                <a:latin typeface="Arial"/>
                <a:ea typeface="Arial"/>
                <a:cs typeface="Arial"/>
              </a:defRPr>
            </a:lvl3pPr>
            <a:lvl4pPr>
              <a:buNone/>
              <a:defRPr sz="2400" b="0">
                <a:solidFill>
                  <a:srgbClr val="526971"/>
                </a:solidFill>
                <a:latin typeface="Arial"/>
                <a:ea typeface="Arial"/>
                <a:cs typeface="Arial"/>
              </a:defRPr>
            </a:lvl4pPr>
            <a:lvl5pPr>
              <a:buNone/>
              <a:defRPr sz="2400" b="0">
                <a:solidFill>
                  <a:srgbClr val="526971"/>
                </a:solidFill>
                <a:latin typeface="Arial"/>
                <a:ea typeface="Arial"/>
                <a:cs typeface="Arial"/>
              </a:defRPr>
            </a:lvl5pPr>
            <a:lvl6pPr>
              <a:buNone/>
              <a:defRPr sz="2400" b="0">
                <a:solidFill>
                  <a:srgbClr val="526971"/>
                </a:solidFill>
                <a:latin typeface="Arial"/>
                <a:ea typeface="Arial"/>
                <a:cs typeface="Arial"/>
              </a:defRPr>
            </a:lvl6pPr>
            <a:lvl7pPr>
              <a:buNone/>
              <a:defRPr sz="2400" b="0">
                <a:solidFill>
                  <a:srgbClr val="526971"/>
                </a:solidFill>
                <a:latin typeface="Arial"/>
                <a:ea typeface="Arial"/>
                <a:cs typeface="Arial"/>
              </a:defRPr>
            </a:lvl7pPr>
            <a:lvl8pPr>
              <a:buNone/>
              <a:defRPr sz="2400" b="0">
                <a:solidFill>
                  <a:srgbClr val="526971"/>
                </a:solidFill>
                <a:latin typeface="Arial"/>
                <a:ea typeface="Arial"/>
                <a:cs typeface="Arial"/>
              </a:defRPr>
            </a:lvl8pPr>
            <a:lvl9pPr>
              <a:buNone/>
              <a:defRPr sz="2400" b="0">
                <a:solidFill>
                  <a:srgbClr val="526971"/>
                </a:solidFill>
                <a:latin typeface="Arial"/>
                <a:ea typeface="Arial"/>
                <a:cs typeface="Arial"/>
              </a:defRPr>
            </a:lvl9pPr>
          </a:lstStyle>
          <a:p xmlns:a="http://schemas.openxmlformats.org/drawingml/2006/main">
            <a:pPr>
              <a:buNone/>
              <a:defRPr sz="2400" b="0">
                <a:solidFill>
                  <a:srgbClr val="526971"/>
                </a:solidFill>
                <a:latin typeface="Arial"/>
                <a:ea typeface="Arial"/>
                <a:cs typeface="Arial"/>
              </a:defRPr>
            </a:pPr>
            <a:r>
              <a:rPr sz="2400" b="0">
                <a:solidFill>
                  <a:srgbClr val="526971"/>
                </a:solidFill>
                <a:latin typeface="Arial"/>
                <a:ea typeface="Arial"/>
                <a:cs typeface="Arial"/>
              </a:rPr>
              <a:t>Implemented rescue-decision prototype</a:t>
            </a:r>
          </a:p>
        </p:txBody>
      </p:sp>
      <p:sp>
        <p:nvSpPr>
          <p:cNvPr id="5" name="">
            <a:extLst xmlns:a="http://schemas.openxmlformats.org/drawingml/2006/main">
              <a:ext uri="{FF2B5EF4-FFF2-40B4-BE49-F238E27FC236}">
                <a16:creationId xmlns:a16="http://schemas.microsoft.com/office/drawing/2014/main" id="{80524306-BC06-4755-82D1-257F827108DA}"/>
              </a:ext>
            </a:extLst>
          </p:cNvPr>
          <p:cNvSpPr>
            <a:spLocks xmlns:a="http://schemas.openxmlformats.org/drawingml/2006/main" noGrp="1"/>
          </p:cNvSpPr>
          <p:nvPr/>
        </p:nvSpPr>
        <p:spPr>
          <a:xfrm xmlns:a="http://schemas.openxmlformats.org/drawingml/2006/main">
            <a:off x="609600" y="2667000"/>
            <a:ext cx="2476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9750" b="1">
                <a:solidFill>
                  <a:srgbClr val="176C63"/>
                </a:solidFill>
                <a:latin typeface="Arial"/>
                <a:ea typeface="Arial"/>
                <a:cs typeface="Arial"/>
              </a:defRPr>
            </a:defPPr>
            <a:lvl1pPr>
              <a:buNone/>
              <a:defRPr sz="9750" b="1">
                <a:solidFill>
                  <a:srgbClr val="176C63"/>
                </a:solidFill>
                <a:latin typeface="Arial"/>
                <a:ea typeface="Arial"/>
                <a:cs typeface="Arial"/>
              </a:defRPr>
            </a:lvl1pPr>
            <a:lvl2pPr>
              <a:buNone/>
              <a:defRPr sz="9750" b="1">
                <a:solidFill>
                  <a:srgbClr val="176C63"/>
                </a:solidFill>
                <a:latin typeface="Arial"/>
                <a:ea typeface="Arial"/>
                <a:cs typeface="Arial"/>
              </a:defRPr>
            </a:lvl2pPr>
            <a:lvl3pPr>
              <a:buNone/>
              <a:defRPr sz="9750" b="1">
                <a:solidFill>
                  <a:srgbClr val="176C63"/>
                </a:solidFill>
                <a:latin typeface="Arial"/>
                <a:ea typeface="Arial"/>
                <a:cs typeface="Arial"/>
              </a:defRPr>
            </a:lvl3pPr>
            <a:lvl4pPr>
              <a:buNone/>
              <a:defRPr sz="9750" b="1">
                <a:solidFill>
                  <a:srgbClr val="176C63"/>
                </a:solidFill>
                <a:latin typeface="Arial"/>
                <a:ea typeface="Arial"/>
                <a:cs typeface="Arial"/>
              </a:defRPr>
            </a:lvl4pPr>
            <a:lvl5pPr>
              <a:buNone/>
              <a:defRPr sz="9750" b="1">
                <a:solidFill>
                  <a:srgbClr val="176C63"/>
                </a:solidFill>
                <a:latin typeface="Arial"/>
                <a:ea typeface="Arial"/>
                <a:cs typeface="Arial"/>
              </a:defRPr>
            </a:lvl5pPr>
            <a:lvl6pPr>
              <a:buNone/>
              <a:defRPr sz="9750" b="1">
                <a:solidFill>
                  <a:srgbClr val="176C63"/>
                </a:solidFill>
                <a:latin typeface="Arial"/>
                <a:ea typeface="Arial"/>
                <a:cs typeface="Arial"/>
              </a:defRPr>
            </a:lvl6pPr>
            <a:lvl7pPr>
              <a:buNone/>
              <a:defRPr sz="9750" b="1">
                <a:solidFill>
                  <a:srgbClr val="176C63"/>
                </a:solidFill>
                <a:latin typeface="Arial"/>
                <a:ea typeface="Arial"/>
                <a:cs typeface="Arial"/>
              </a:defRPr>
            </a:lvl7pPr>
            <a:lvl8pPr>
              <a:buNone/>
              <a:defRPr sz="9750" b="1">
                <a:solidFill>
                  <a:srgbClr val="176C63"/>
                </a:solidFill>
                <a:latin typeface="Arial"/>
                <a:ea typeface="Arial"/>
                <a:cs typeface="Arial"/>
              </a:defRPr>
            </a:lvl8pPr>
            <a:lvl9pPr>
              <a:buNone/>
              <a:defRPr sz="9750" b="1">
                <a:solidFill>
                  <a:srgbClr val="176C63"/>
                </a:solidFill>
                <a:latin typeface="Arial"/>
                <a:ea typeface="Arial"/>
                <a:cs typeface="Arial"/>
              </a:defRPr>
            </a:lvl9pPr>
          </a:lstStyle>
          <a:p xmlns:a="http://schemas.openxmlformats.org/drawingml/2006/main">
            <a:pPr>
              <a:buNone/>
              <a:defRPr sz="9750" b="1">
                <a:solidFill>
                  <a:srgbClr val="176C63"/>
                </a:solidFill>
                <a:latin typeface="Arial"/>
                <a:ea typeface="Arial"/>
                <a:cs typeface="Arial"/>
              </a:defRPr>
            </a:pPr>
            <a:r>
              <a:rPr sz="9750" b="1">
                <a:solidFill>
                  <a:srgbClr val="176C63"/>
                </a:solidFill>
                <a:latin typeface="Arial"/>
                <a:ea typeface="Arial"/>
                <a:cs typeface="Arial"/>
              </a:rPr>
              <a:t>40</a:t>
            </a:r>
          </a:p>
        </p:txBody>
      </p:sp>
      <p:sp>
        <p:nvSpPr>
          <p:cNvPr id="6" name="">
            <a:extLst xmlns:a="http://schemas.openxmlformats.org/drawingml/2006/main">
              <a:ext uri="{FF2B5EF4-FFF2-40B4-BE49-F238E27FC236}">
                <a16:creationId xmlns:a16="http://schemas.microsoft.com/office/drawing/2014/main" id="{99D26763-D367-4BF8-A174-EBA1888F8D54}"/>
              </a:ext>
            </a:extLst>
          </p:cNvPr>
          <p:cNvSpPr>
            <a:spLocks xmlns:a="http://schemas.openxmlformats.org/drawingml/2006/main" noGrp="1"/>
          </p:cNvSpPr>
          <p:nvPr/>
        </p:nvSpPr>
        <p:spPr>
          <a:xfrm xmlns:a="http://schemas.openxmlformats.org/drawingml/2006/main">
            <a:off x="3143250" y="2857500"/>
            <a:ext cx="8286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850" b="0">
                <a:solidFill>
                  <a:srgbClr val="17333E"/>
                </a:solidFill>
                <a:latin typeface="Arial"/>
                <a:ea typeface="Arial"/>
                <a:cs typeface="Arial"/>
              </a:defRPr>
            </a:defPPr>
            <a:lvl1pPr>
              <a:buNone/>
              <a:defRPr sz="3000" b="0">
                <a:solidFill>
                  <a:srgbClr val="17333E"/>
                </a:solidFill>
                <a:latin typeface="Arial"/>
                <a:ea typeface="Arial"/>
                <a:cs typeface="Arial"/>
              </a:defRPr>
            </a:lvl1pPr>
            <a:lvl2pPr>
              <a:buNone/>
              <a:defRPr sz="3000" b="0">
                <a:solidFill>
                  <a:srgbClr val="17333E"/>
                </a:solidFill>
                <a:latin typeface="Arial"/>
                <a:ea typeface="Arial"/>
                <a:cs typeface="Arial"/>
              </a:defRPr>
            </a:lvl2pPr>
            <a:lvl3pPr>
              <a:buNone/>
              <a:defRPr sz="3000" b="0">
                <a:solidFill>
                  <a:srgbClr val="17333E"/>
                </a:solidFill>
                <a:latin typeface="Arial"/>
                <a:ea typeface="Arial"/>
                <a:cs typeface="Arial"/>
              </a:defRPr>
            </a:lvl3pPr>
            <a:lvl4pPr>
              <a:buNone/>
              <a:defRPr sz="3000" b="0">
                <a:solidFill>
                  <a:srgbClr val="17333E"/>
                </a:solidFill>
                <a:latin typeface="Arial"/>
                <a:ea typeface="Arial"/>
                <a:cs typeface="Arial"/>
              </a:defRPr>
            </a:lvl4pPr>
            <a:lvl5pPr>
              <a:buNone/>
              <a:defRPr sz="3000" b="0">
                <a:solidFill>
                  <a:srgbClr val="17333E"/>
                </a:solidFill>
                <a:latin typeface="Arial"/>
                <a:ea typeface="Arial"/>
                <a:cs typeface="Arial"/>
              </a:defRPr>
            </a:lvl5pPr>
            <a:lvl6pPr>
              <a:buNone/>
              <a:defRPr sz="3000" b="0">
                <a:solidFill>
                  <a:srgbClr val="17333E"/>
                </a:solidFill>
                <a:latin typeface="Arial"/>
                <a:ea typeface="Arial"/>
                <a:cs typeface="Arial"/>
              </a:defRPr>
            </a:lvl6pPr>
            <a:lvl7pPr>
              <a:buNone/>
              <a:defRPr sz="3000" b="0">
                <a:solidFill>
                  <a:srgbClr val="17333E"/>
                </a:solidFill>
                <a:latin typeface="Arial"/>
                <a:ea typeface="Arial"/>
                <a:cs typeface="Arial"/>
              </a:defRPr>
            </a:lvl7pPr>
            <a:lvl8pPr>
              <a:buNone/>
              <a:defRPr sz="3000" b="0">
                <a:solidFill>
                  <a:srgbClr val="17333E"/>
                </a:solidFill>
                <a:latin typeface="Arial"/>
                <a:ea typeface="Arial"/>
                <a:cs typeface="Arial"/>
              </a:defRPr>
            </a:lvl8pPr>
            <a:lvl9pPr>
              <a:buNone/>
              <a:defRPr sz="3000" b="0">
                <a:solidFill>
                  <a:srgbClr val="17333E"/>
                </a:solidFill>
                <a:latin typeface="Arial"/>
                <a:ea typeface="Arial"/>
                <a:cs typeface="Arial"/>
              </a:defRPr>
            </a:lvl9pPr>
          </a:lstStyle>
          <a:p xmlns:a="http://schemas.openxmlformats.org/drawingml/2006/main">
            <a:pPr>
              <a:buNone/>
              <a:defRPr sz="2850" b="0">
                <a:solidFill>
                  <a:srgbClr val="17333E"/>
                </a:solidFill>
                <a:latin typeface="Arial"/>
                <a:ea typeface="Arial"/>
                <a:cs typeface="Arial"/>
              </a:defRPr>
            </a:pPr>
            <a:r>
              <a:rPr sz="2850" b="0">
                <a:solidFill>
                  <a:srgbClr val="17333E"/>
                </a:solidFill>
                <a:latin typeface="Arial"/>
                <a:ea typeface="Arial"/>
                <a:cs typeface="Arial"/>
              </a:rPr>
              <a:t>frozen synthetic cases</a:t>
            </a:r>
          </a:p>
          <a:p xmlns:a="http://schemas.openxmlformats.org/drawingml/2006/main">
            <a:pPr>
              <a:buNone/>
              <a:defRPr sz="2850" b="0">
                <a:solidFill>
                  <a:srgbClr val="17333E"/>
                </a:solidFill>
                <a:latin typeface="Arial"/>
                <a:ea typeface="Arial"/>
                <a:cs typeface="Arial"/>
              </a:defRPr>
            </a:pPr>
            <a:r>
              <a:rPr sz="2850" b="0">
                <a:solidFill>
                  <a:srgbClr val="17333E"/>
                </a:solidFill>
                <a:latin typeface="Arial"/>
                <a:ea typeface="Arial"/>
                <a:cs typeface="Arial"/>
              </a:rPr>
              <a:t>matched expected decisions</a:t>
            </a:r>
          </a:p>
        </p:txBody>
      </p:sp>
      <p:sp>
        <p:nvSpPr>
          <p:cNvPr id="7" name="">
            <a:extLst xmlns:a="http://schemas.openxmlformats.org/drawingml/2006/main">
              <a:ext uri="{FF2B5EF4-FFF2-40B4-BE49-F238E27FC236}">
                <a16:creationId xmlns:a16="http://schemas.microsoft.com/office/drawing/2014/main" id="{C0DB61E8-80CC-454E-A88E-2F914C706C8A}"/>
              </a:ext>
            </a:extLst>
          </p:cNvPr>
          <p:cNvSpPr>
            <a:spLocks xmlns:a="http://schemas.openxmlformats.org/drawingml/2006/main" noGrp="1"/>
          </p:cNvSpPr>
          <p:nvPr/>
        </p:nvSpPr>
        <p:spPr>
          <a:xfrm xmlns:a="http://schemas.openxmlformats.org/drawingml/2006/main">
            <a:off x="609600" y="4619625"/>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325" b="0">
                <a:solidFill>
                  <a:srgbClr val="17333E"/>
                </a:solidFill>
                <a:latin typeface="Arial"/>
                <a:ea typeface="Arial"/>
                <a:cs typeface="Arial"/>
              </a:defRPr>
            </a:defPPr>
            <a:lvl1pPr>
              <a:buNone/>
              <a:defRPr sz="2550" b="0">
                <a:solidFill>
                  <a:srgbClr val="17333E"/>
                </a:solidFill>
                <a:latin typeface="Arial"/>
                <a:ea typeface="Arial"/>
                <a:cs typeface="Arial"/>
              </a:defRPr>
            </a:lvl1pPr>
            <a:lvl2pPr>
              <a:buNone/>
              <a:defRPr sz="2550" b="0">
                <a:solidFill>
                  <a:srgbClr val="17333E"/>
                </a:solidFill>
                <a:latin typeface="Arial"/>
                <a:ea typeface="Arial"/>
                <a:cs typeface="Arial"/>
              </a:defRPr>
            </a:lvl2pPr>
            <a:lvl3pPr>
              <a:buNone/>
              <a:defRPr sz="2550" b="0">
                <a:solidFill>
                  <a:srgbClr val="17333E"/>
                </a:solidFill>
                <a:latin typeface="Arial"/>
                <a:ea typeface="Arial"/>
                <a:cs typeface="Arial"/>
              </a:defRPr>
            </a:lvl3pPr>
            <a:lvl4pPr>
              <a:buNone/>
              <a:defRPr sz="2550" b="0">
                <a:solidFill>
                  <a:srgbClr val="17333E"/>
                </a:solidFill>
                <a:latin typeface="Arial"/>
                <a:ea typeface="Arial"/>
                <a:cs typeface="Arial"/>
              </a:defRPr>
            </a:lvl4pPr>
            <a:lvl5pPr>
              <a:buNone/>
              <a:defRPr sz="2550" b="0">
                <a:solidFill>
                  <a:srgbClr val="17333E"/>
                </a:solidFill>
                <a:latin typeface="Arial"/>
                <a:ea typeface="Arial"/>
                <a:cs typeface="Arial"/>
              </a:defRPr>
            </a:lvl5pPr>
            <a:lvl6pPr>
              <a:buNone/>
              <a:defRPr sz="2550" b="0">
                <a:solidFill>
                  <a:srgbClr val="17333E"/>
                </a:solidFill>
                <a:latin typeface="Arial"/>
                <a:ea typeface="Arial"/>
                <a:cs typeface="Arial"/>
              </a:defRPr>
            </a:lvl6pPr>
            <a:lvl7pPr>
              <a:buNone/>
              <a:defRPr sz="2550" b="0">
                <a:solidFill>
                  <a:srgbClr val="17333E"/>
                </a:solidFill>
                <a:latin typeface="Arial"/>
                <a:ea typeface="Arial"/>
                <a:cs typeface="Arial"/>
              </a:defRPr>
            </a:lvl7pPr>
            <a:lvl8pPr>
              <a:buNone/>
              <a:defRPr sz="2550" b="0">
                <a:solidFill>
                  <a:srgbClr val="17333E"/>
                </a:solidFill>
                <a:latin typeface="Arial"/>
                <a:ea typeface="Arial"/>
                <a:cs typeface="Arial"/>
              </a:defRPr>
            </a:lvl8pPr>
            <a:lvl9pPr>
              <a:buNone/>
              <a:defRPr sz="2550" b="0">
                <a:solidFill>
                  <a:srgbClr val="17333E"/>
                </a:solidFill>
                <a:latin typeface="Arial"/>
                <a:ea typeface="Arial"/>
                <a:cs typeface="Arial"/>
              </a:defRPr>
            </a:lvl9pPr>
          </a:lstStyle>
          <a:p xmlns:a="http://schemas.openxmlformats.org/drawingml/2006/main">
            <a:pPr>
              <a:buNone/>
              <a:defRPr sz="2325" b="0">
                <a:solidFill>
                  <a:srgbClr val="17333E"/>
                </a:solidFill>
                <a:latin typeface="Arial"/>
                <a:ea typeface="Arial"/>
                <a:cs typeface="Arial"/>
              </a:defRPr>
            </a:pPr>
            <a:r>
              <a:rPr sz="2325" b="0">
                <a:solidFill>
                  <a:srgbClr val="17333E"/>
                </a:solidFill>
                <a:latin typeface="Arial"/>
                <a:ea typeface="Arial"/>
                <a:cs typeface="Arial"/>
              </a:rPr>
              <a:t>Also: 6 real SpliceAI controls passed</a:t>
            </a:r>
          </a:p>
          <a:p xmlns:a="http://schemas.openxmlformats.org/drawingml/2006/main">
            <a:pPr>
              <a:buNone/>
              <a:defRPr sz="2325" b="0">
                <a:solidFill>
                  <a:srgbClr val="17333E"/>
                </a:solidFill>
                <a:latin typeface="Arial"/>
                <a:ea typeface="Arial"/>
                <a:cs typeface="Arial"/>
              </a:defRPr>
            </a:pPr>
            <a:r>
              <a:rPr sz="2325" b="0">
                <a:solidFill>
                  <a:srgbClr val="17333E"/>
                </a:solidFill>
                <a:latin typeface="Arial"/>
                <a:ea typeface="Arial"/>
                <a:cs typeface="Arial"/>
              </a:rPr>
              <a:t>9 injected checker faults rejected</a:t>
            </a:r>
          </a:p>
        </p:txBody>
      </p:sp>
      <p:sp>
        <p:nvSpPr>
          <p:cNvPr id="8" name="">
            <a:extLst xmlns:a="http://schemas.openxmlformats.org/drawingml/2006/main">
              <a:ext uri="{FF2B5EF4-FFF2-40B4-BE49-F238E27FC236}">
                <a16:creationId xmlns:a16="http://schemas.microsoft.com/office/drawing/2014/main" id="{0AF138E5-DEE7-4E26-9D4D-D0956F8B9736}"/>
              </a:ext>
            </a:extLst>
          </p:cNvPr>
          <p:cNvSpPr>
            <a:spLocks xmlns:a="http://schemas.openxmlformats.org/drawingml/2006/main" noGrp="1"/>
          </p:cNvSpPr>
          <p:nvPr/>
        </p:nvSpPr>
        <p:spPr>
          <a:xfrm xmlns:a="http://schemas.openxmlformats.org/drawingml/2006/main">
            <a:off x="609600" y="57626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0">
                <a:solidFill>
                  <a:srgbClr val="526971"/>
                </a:solidFill>
                <a:latin typeface="Arial"/>
                <a:ea typeface="Arial"/>
                <a:cs typeface="Arial"/>
              </a:defRPr>
            </a:defPPr>
            <a:lvl1pPr>
              <a:buNone/>
              <a:defRPr sz="1875" b="0">
                <a:solidFill>
                  <a:srgbClr val="526971"/>
                </a:solidFill>
                <a:latin typeface="Arial"/>
                <a:ea typeface="Arial"/>
                <a:cs typeface="Arial"/>
              </a:defRPr>
            </a:lvl1pPr>
            <a:lvl2pPr>
              <a:buNone/>
              <a:defRPr sz="1875" b="0">
                <a:solidFill>
                  <a:srgbClr val="526971"/>
                </a:solidFill>
                <a:latin typeface="Arial"/>
                <a:ea typeface="Arial"/>
                <a:cs typeface="Arial"/>
              </a:defRPr>
            </a:lvl2pPr>
            <a:lvl3pPr>
              <a:buNone/>
              <a:defRPr sz="1875" b="0">
                <a:solidFill>
                  <a:srgbClr val="526971"/>
                </a:solidFill>
                <a:latin typeface="Arial"/>
                <a:ea typeface="Arial"/>
                <a:cs typeface="Arial"/>
              </a:defRPr>
            </a:lvl3pPr>
            <a:lvl4pPr>
              <a:buNone/>
              <a:defRPr sz="1875" b="0">
                <a:solidFill>
                  <a:srgbClr val="526971"/>
                </a:solidFill>
                <a:latin typeface="Arial"/>
                <a:ea typeface="Arial"/>
                <a:cs typeface="Arial"/>
              </a:defRPr>
            </a:lvl4pPr>
            <a:lvl5pPr>
              <a:buNone/>
              <a:defRPr sz="1875" b="0">
                <a:solidFill>
                  <a:srgbClr val="526971"/>
                </a:solidFill>
                <a:latin typeface="Arial"/>
                <a:ea typeface="Arial"/>
                <a:cs typeface="Arial"/>
              </a:defRPr>
            </a:lvl5pPr>
            <a:lvl6pPr>
              <a:buNone/>
              <a:defRPr sz="1875" b="0">
                <a:solidFill>
                  <a:srgbClr val="526971"/>
                </a:solidFill>
                <a:latin typeface="Arial"/>
                <a:ea typeface="Arial"/>
                <a:cs typeface="Arial"/>
              </a:defRPr>
            </a:lvl6pPr>
            <a:lvl7pPr>
              <a:buNone/>
              <a:defRPr sz="1875" b="0">
                <a:solidFill>
                  <a:srgbClr val="526971"/>
                </a:solidFill>
                <a:latin typeface="Arial"/>
                <a:ea typeface="Arial"/>
                <a:cs typeface="Arial"/>
              </a:defRPr>
            </a:lvl7pPr>
            <a:lvl8pPr>
              <a:buNone/>
              <a:defRPr sz="1875" b="0">
                <a:solidFill>
                  <a:srgbClr val="526971"/>
                </a:solidFill>
                <a:latin typeface="Arial"/>
                <a:ea typeface="Arial"/>
                <a:cs typeface="Arial"/>
              </a:defRPr>
            </a:lvl8pPr>
            <a:lvl9pPr>
              <a:buNone/>
              <a:defRPr sz="1875" b="0">
                <a:solidFill>
                  <a:srgbClr val="526971"/>
                </a:solidFill>
                <a:latin typeface="Arial"/>
                <a:ea typeface="Arial"/>
                <a:cs typeface="Arial"/>
              </a:defRPr>
            </a:lvl9pPr>
          </a:lstStyle>
          <a:p xmlns:a="http://schemas.openxmlformats.org/drawingml/2006/main">
            <a:pPr>
              <a:buNone/>
              <a:defRPr sz="1950" b="0">
                <a:solidFill>
                  <a:srgbClr val="526971"/>
                </a:solidFill>
                <a:latin typeface="Arial"/>
                <a:ea typeface="Arial"/>
                <a:cs typeface="Arial"/>
              </a:defRPr>
            </a:pPr>
            <a:r>
              <a:rPr sz="1950" b="0">
                <a:solidFill>
                  <a:srgbClr val="526971"/>
                </a:solidFill>
                <a:latin typeface="Arial"/>
                <a:ea typeface="Arial"/>
                <a:cs typeface="Arial"/>
              </a:rPr>
              <a:t>Software verification. Biological rescue remains unmeasured.</a:t>
            </a:r>
          </a:p>
        </p:txBody>
      </p:sp>
    </p:spTree>
    <p:extLst>
      <p:ext uri="{BB962C8B-B14F-4D97-AF65-F5344CB8AC3E}">
        <p14:creationId xmlns:p14="http://schemas.microsoft.com/office/powerpoint/2010/main" val="383201112"/>
      </p:ext>
    </p:extLst>
  </p:cSld>
</p:sld>
</file>

<file path=ppt/slides/slide6.xml><?xml version="1.0" encoding="utf-8"?>
<p:sld xmlns:p="http://schemas.openxmlformats.org/presentationml/2006/main">
  <p:cSld>
    <p:bg>
      <p:bgPr>
        <a:solidFill xmlns:a="http://schemas.openxmlformats.org/drawingml/2006/main">
          <a:srgbClr val="F2F5F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AB6B0D7-6B9C-41D1-B8C8-1B60C82D6496}"/>
              </a:ext>
            </a:extLst>
          </p:cNvPr>
          <p:cNvSpPr>
            <a:spLocks xmlns:a="http://schemas.openxmlformats.org/drawingml/2006/main" noGrp="1"/>
          </p:cNvSpPr>
          <p:nvPr/>
        </p:nvSpPr>
        <p:spPr>
          <a:xfrm xmlns:a="http://schemas.openxmlformats.org/drawingml/2006/main">
            <a:off x="609600" y="5524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750" b="1">
                <a:solidFill>
                  <a:srgbClr val="17333E"/>
                </a:solidFill>
                <a:latin typeface="Arial"/>
                <a:ea typeface="Arial"/>
                <a:cs typeface="Arial"/>
              </a:defRPr>
            </a:defPPr>
            <a:lvl1pPr>
              <a:buNone/>
              <a:defRPr sz="3750" b="1">
                <a:solidFill>
                  <a:srgbClr val="17333E"/>
                </a:solidFill>
                <a:latin typeface="Arial"/>
                <a:ea typeface="Arial"/>
                <a:cs typeface="Arial"/>
              </a:defRPr>
            </a:lvl1pPr>
            <a:lvl2pPr>
              <a:buNone/>
              <a:defRPr sz="3750" b="1">
                <a:solidFill>
                  <a:srgbClr val="17333E"/>
                </a:solidFill>
                <a:latin typeface="Arial"/>
                <a:ea typeface="Arial"/>
                <a:cs typeface="Arial"/>
              </a:defRPr>
            </a:lvl2pPr>
            <a:lvl3pPr>
              <a:buNone/>
              <a:defRPr sz="3750" b="1">
                <a:solidFill>
                  <a:srgbClr val="17333E"/>
                </a:solidFill>
                <a:latin typeface="Arial"/>
                <a:ea typeface="Arial"/>
                <a:cs typeface="Arial"/>
              </a:defRPr>
            </a:lvl3pPr>
            <a:lvl4pPr>
              <a:buNone/>
              <a:defRPr sz="3750" b="1">
                <a:solidFill>
                  <a:srgbClr val="17333E"/>
                </a:solidFill>
                <a:latin typeface="Arial"/>
                <a:ea typeface="Arial"/>
                <a:cs typeface="Arial"/>
              </a:defRPr>
            </a:lvl4pPr>
            <a:lvl5pPr>
              <a:buNone/>
              <a:defRPr sz="3750" b="1">
                <a:solidFill>
                  <a:srgbClr val="17333E"/>
                </a:solidFill>
                <a:latin typeface="Arial"/>
                <a:ea typeface="Arial"/>
                <a:cs typeface="Arial"/>
              </a:defRPr>
            </a:lvl5pPr>
            <a:lvl6pPr>
              <a:buNone/>
              <a:defRPr sz="3750" b="1">
                <a:solidFill>
                  <a:srgbClr val="17333E"/>
                </a:solidFill>
                <a:latin typeface="Arial"/>
                <a:ea typeface="Arial"/>
                <a:cs typeface="Arial"/>
              </a:defRPr>
            </a:lvl6pPr>
            <a:lvl7pPr>
              <a:buNone/>
              <a:defRPr sz="3750" b="1">
                <a:solidFill>
                  <a:srgbClr val="17333E"/>
                </a:solidFill>
                <a:latin typeface="Arial"/>
                <a:ea typeface="Arial"/>
                <a:cs typeface="Arial"/>
              </a:defRPr>
            </a:lvl7pPr>
            <a:lvl8pPr>
              <a:buNone/>
              <a:defRPr sz="3750" b="1">
                <a:solidFill>
                  <a:srgbClr val="17333E"/>
                </a:solidFill>
                <a:latin typeface="Arial"/>
                <a:ea typeface="Arial"/>
                <a:cs typeface="Arial"/>
              </a:defRPr>
            </a:lvl8pPr>
            <a:lvl9pPr>
              <a:buNone/>
              <a:defRPr sz="3750" b="1">
                <a:solidFill>
                  <a:srgbClr val="17333E"/>
                </a:solidFill>
                <a:latin typeface="Arial"/>
                <a:ea typeface="Arial"/>
                <a:cs typeface="Arial"/>
              </a:defRPr>
            </a:lvl9pPr>
          </a:lstStyle>
          <a:p xmlns:a="http://schemas.openxmlformats.org/drawingml/2006/main">
            <a:pPr>
              <a:buNone/>
              <a:defRPr sz="3750" b="1">
                <a:solidFill>
                  <a:srgbClr val="17333E"/>
                </a:solidFill>
                <a:latin typeface="Arial"/>
                <a:ea typeface="Arial"/>
                <a:cs typeface="Arial"/>
              </a:defRPr>
            </a:pPr>
            <a:r>
              <a:rPr sz="3750" b="1">
                <a:solidFill>
                  <a:srgbClr val="17333E"/>
                </a:solidFill>
                <a:latin typeface="Arial"/>
                <a:ea typeface="Arial"/>
                <a:cs typeface="Arial"/>
              </a:rPr>
              <a:t>The next experiment</a:t>
            </a:r>
          </a:p>
        </p:txBody>
      </p:sp>
      <p:sp>
        <p:nvSpPr>
          <p:cNvPr id="2" name="">
            <a:extLst xmlns:a="http://schemas.openxmlformats.org/drawingml/2006/main">
              <a:ext uri="{FF2B5EF4-FFF2-40B4-BE49-F238E27FC236}">
                <a16:creationId xmlns:a16="http://schemas.microsoft.com/office/drawing/2014/main" id="{490E6C18-4DCB-4278-A2A5-F25070191DAB}"/>
              </a:ext>
            </a:extLst>
          </p:cNvPr>
          <p:cNvSpPr>
            <a:spLocks xmlns:a="http://schemas.openxmlformats.org/drawingml/2006/main" noGrp="1"/>
          </p:cNvSpPr>
          <p:nvPr/>
        </p:nvSpPr>
        <p:spPr>
          <a:xfrm xmlns:a="http://schemas.openxmlformats.org/drawingml/2006/main">
            <a:off x="10953750" y="63436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971"/>
                </a:solidFill>
                <a:latin typeface="Arial"/>
                <a:ea typeface="Arial"/>
                <a:cs typeface="Arial"/>
              </a:defRPr>
            </a:defPPr>
            <a:lvl1pPr>
              <a:buNone/>
              <a:defRPr sz="1350" b="0">
                <a:solidFill>
                  <a:srgbClr val="526971"/>
                </a:solidFill>
                <a:latin typeface="Arial"/>
                <a:ea typeface="Arial"/>
                <a:cs typeface="Arial"/>
              </a:defRPr>
            </a:lvl1pPr>
            <a:lvl2pPr>
              <a:buNone/>
              <a:defRPr sz="1350" b="0">
                <a:solidFill>
                  <a:srgbClr val="526971"/>
                </a:solidFill>
                <a:latin typeface="Arial"/>
                <a:ea typeface="Arial"/>
                <a:cs typeface="Arial"/>
              </a:defRPr>
            </a:lvl2pPr>
            <a:lvl3pPr>
              <a:buNone/>
              <a:defRPr sz="1350" b="0">
                <a:solidFill>
                  <a:srgbClr val="526971"/>
                </a:solidFill>
                <a:latin typeface="Arial"/>
                <a:ea typeface="Arial"/>
                <a:cs typeface="Arial"/>
              </a:defRPr>
            </a:lvl3pPr>
            <a:lvl4pPr>
              <a:buNone/>
              <a:defRPr sz="1350" b="0">
                <a:solidFill>
                  <a:srgbClr val="526971"/>
                </a:solidFill>
                <a:latin typeface="Arial"/>
                <a:ea typeface="Arial"/>
                <a:cs typeface="Arial"/>
              </a:defRPr>
            </a:lvl4pPr>
            <a:lvl5pPr>
              <a:buNone/>
              <a:defRPr sz="1350" b="0">
                <a:solidFill>
                  <a:srgbClr val="526971"/>
                </a:solidFill>
                <a:latin typeface="Arial"/>
                <a:ea typeface="Arial"/>
                <a:cs typeface="Arial"/>
              </a:defRPr>
            </a:lvl5pPr>
            <a:lvl6pPr>
              <a:buNone/>
              <a:defRPr sz="1350" b="0">
                <a:solidFill>
                  <a:srgbClr val="526971"/>
                </a:solidFill>
                <a:latin typeface="Arial"/>
                <a:ea typeface="Arial"/>
                <a:cs typeface="Arial"/>
              </a:defRPr>
            </a:lvl6pPr>
            <a:lvl7pPr>
              <a:buNone/>
              <a:defRPr sz="1350" b="0">
                <a:solidFill>
                  <a:srgbClr val="526971"/>
                </a:solidFill>
                <a:latin typeface="Arial"/>
                <a:ea typeface="Arial"/>
                <a:cs typeface="Arial"/>
              </a:defRPr>
            </a:lvl7pPr>
            <a:lvl8pPr>
              <a:buNone/>
              <a:defRPr sz="1350" b="0">
                <a:solidFill>
                  <a:srgbClr val="526971"/>
                </a:solidFill>
                <a:latin typeface="Arial"/>
                <a:ea typeface="Arial"/>
                <a:cs typeface="Arial"/>
              </a:defRPr>
            </a:lvl8pPr>
            <a:lvl9pPr>
              <a:buNone/>
              <a:defRPr sz="1350" b="0">
                <a:solidFill>
                  <a:srgbClr val="526971"/>
                </a:solidFill>
                <a:latin typeface="Arial"/>
                <a:ea typeface="Arial"/>
                <a:cs typeface="Arial"/>
              </a:defRPr>
            </a:lvl9pPr>
          </a:lstStyle>
          <a:p xmlns:a="http://schemas.openxmlformats.org/drawingml/2006/main">
            <a:pPr>
              <a:buNone/>
              <a:defRPr sz="1350" b="0">
                <a:solidFill>
                  <a:srgbClr val="526971"/>
                </a:solidFill>
                <a:latin typeface="Arial"/>
                <a:ea typeface="Arial"/>
                <a:cs typeface="Arial"/>
              </a:defRPr>
            </a:pPr>
            <a:r>
              <a:rPr sz="1350" b="0">
                <a:solidFill>
                  <a:srgbClr val="526971"/>
                </a:solidFill>
                <a:latin typeface="Arial"/>
                <a:ea typeface="Arial"/>
                <a:cs typeface="Arial"/>
              </a:rPr>
              <a:t>6/6</a:t>
            </a:r>
          </a:p>
        </p:txBody>
      </p:sp>
      <p:sp>
        <p:nvSpPr>
          <p:cNvPr id="3" name="">
            <a:extLst xmlns:a="http://schemas.openxmlformats.org/drawingml/2006/main">
              <a:ext uri="{FF2B5EF4-FFF2-40B4-BE49-F238E27FC236}">
                <a16:creationId xmlns:a16="http://schemas.microsoft.com/office/drawing/2014/main" id="{3B1728DF-7CC7-4319-8250-E698D9C1340C}"/>
              </a:ext>
            </a:extLst>
          </p:cNvPr>
          <p:cNvSpPr>
            <a:spLocks xmlns:a="http://schemas.openxmlformats.org/drawingml/2006/main" noGrp="1"/>
          </p:cNvSpPr>
          <p:nvPr/>
        </p:nvSpPr>
        <p:spPr>
          <a:xfrm xmlns:a="http://schemas.openxmlformats.org/drawingml/2006/main">
            <a:off x="609600" y="634365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26971"/>
                </a:solidFill>
                <a:latin typeface="Arial"/>
                <a:ea typeface="Arial"/>
                <a:cs typeface="Arial"/>
              </a:defRPr>
            </a:defPPr>
            <a:lvl1pPr>
              <a:buNone/>
              <a:defRPr sz="1200" b="0">
                <a:solidFill>
                  <a:srgbClr val="526971"/>
                </a:solidFill>
                <a:latin typeface="Arial"/>
                <a:ea typeface="Arial"/>
                <a:cs typeface="Arial"/>
              </a:defRPr>
            </a:lvl1pPr>
            <a:lvl2pPr>
              <a:buNone/>
              <a:defRPr sz="1200" b="0">
                <a:solidFill>
                  <a:srgbClr val="526971"/>
                </a:solidFill>
                <a:latin typeface="Arial"/>
                <a:ea typeface="Arial"/>
                <a:cs typeface="Arial"/>
              </a:defRPr>
            </a:lvl2pPr>
            <a:lvl3pPr>
              <a:buNone/>
              <a:defRPr sz="1200" b="0">
                <a:solidFill>
                  <a:srgbClr val="526971"/>
                </a:solidFill>
                <a:latin typeface="Arial"/>
                <a:ea typeface="Arial"/>
                <a:cs typeface="Arial"/>
              </a:defRPr>
            </a:lvl3pPr>
            <a:lvl4pPr>
              <a:buNone/>
              <a:defRPr sz="1200" b="0">
                <a:solidFill>
                  <a:srgbClr val="526971"/>
                </a:solidFill>
                <a:latin typeface="Arial"/>
                <a:ea typeface="Arial"/>
                <a:cs typeface="Arial"/>
              </a:defRPr>
            </a:lvl4pPr>
            <a:lvl5pPr>
              <a:buNone/>
              <a:defRPr sz="1200" b="0">
                <a:solidFill>
                  <a:srgbClr val="526971"/>
                </a:solidFill>
                <a:latin typeface="Arial"/>
                <a:ea typeface="Arial"/>
                <a:cs typeface="Arial"/>
              </a:defRPr>
            </a:lvl5pPr>
            <a:lvl6pPr>
              <a:buNone/>
              <a:defRPr sz="1200" b="0">
                <a:solidFill>
                  <a:srgbClr val="526971"/>
                </a:solidFill>
                <a:latin typeface="Arial"/>
                <a:ea typeface="Arial"/>
                <a:cs typeface="Arial"/>
              </a:defRPr>
            </a:lvl6pPr>
            <a:lvl7pPr>
              <a:buNone/>
              <a:defRPr sz="1200" b="0">
                <a:solidFill>
                  <a:srgbClr val="526971"/>
                </a:solidFill>
                <a:latin typeface="Arial"/>
                <a:ea typeface="Arial"/>
                <a:cs typeface="Arial"/>
              </a:defRPr>
            </a:lvl7pPr>
            <a:lvl8pPr>
              <a:buNone/>
              <a:defRPr sz="1200" b="0">
                <a:solidFill>
                  <a:srgbClr val="526971"/>
                </a:solidFill>
                <a:latin typeface="Arial"/>
                <a:ea typeface="Arial"/>
                <a:cs typeface="Arial"/>
              </a:defRPr>
            </a:lvl8pPr>
            <a:lvl9pPr>
              <a:buNone/>
              <a:defRPr sz="1200" b="0">
                <a:solidFill>
                  <a:srgbClr val="526971"/>
                </a:solidFill>
                <a:latin typeface="Arial"/>
                <a:ea typeface="Arial"/>
                <a:cs typeface="Arial"/>
              </a:defRPr>
            </a:lvl9pPr>
          </a:lstStyle>
          <a:p xmlns:a="http://schemas.openxmlformats.org/drawingml/2006/main">
            <a:pPr>
              <a:buNone/>
              <a:defRPr sz="1200" b="0">
                <a:solidFill>
                  <a:srgbClr val="526971"/>
                </a:solidFill>
                <a:latin typeface="Arial"/>
                <a:ea typeface="Arial"/>
                <a:cs typeface="Arial"/>
              </a:defRPr>
            </a:pPr>
            <a:r>
              <a:rPr sz="1200" b="0">
                <a:solidFill>
                  <a:srgbClr val="526971"/>
                </a:solidFill>
                <a:latin typeface="Arial"/>
                <a:ea typeface="Arial"/>
                <a:cs typeface="Arial"/>
              </a:rPr>
              <a:t>adriamasnou  /  MVA Hackathon 2026</a:t>
            </a:r>
          </a:p>
        </p:txBody>
      </p:sp>
      <p:sp>
        <p:nvSpPr>
          <p:cNvPr id="4" name="">
            <a:extLst xmlns:a="http://schemas.openxmlformats.org/drawingml/2006/main">
              <a:ext uri="{FF2B5EF4-FFF2-40B4-BE49-F238E27FC236}">
                <a16:creationId xmlns:a16="http://schemas.microsoft.com/office/drawing/2014/main" id="{1FDB4CC0-8E6A-43AF-A5AB-24F2D5C59E66}"/>
              </a:ext>
            </a:extLst>
          </p:cNvPr>
          <p:cNvSpPr>
            <a:spLocks xmlns:a="http://schemas.openxmlformats.org/drawingml/2006/main" noGrp="1"/>
          </p:cNvSpPr>
          <p:nvPr/>
        </p:nvSpPr>
        <p:spPr>
          <a:xfrm xmlns:a="http://schemas.openxmlformats.org/drawingml/2006/main">
            <a:off x="609600" y="1905000"/>
            <a:ext cx="109728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900" b="1">
                <a:solidFill>
                  <a:srgbClr val="176C63"/>
                </a:solidFill>
                <a:latin typeface="Arial"/>
                <a:ea typeface="Arial"/>
                <a:cs typeface="Arial"/>
              </a:defRPr>
            </a:defPPr>
            <a:lvl1pPr>
              <a:buNone/>
              <a:defRPr sz="3900" b="1">
                <a:solidFill>
                  <a:srgbClr val="176C63"/>
                </a:solidFill>
                <a:latin typeface="Arial"/>
                <a:ea typeface="Arial"/>
                <a:cs typeface="Arial"/>
              </a:defRPr>
            </a:lvl1pPr>
            <a:lvl2pPr>
              <a:buNone/>
              <a:defRPr sz="3900" b="1">
                <a:solidFill>
                  <a:srgbClr val="176C63"/>
                </a:solidFill>
                <a:latin typeface="Arial"/>
                <a:ea typeface="Arial"/>
                <a:cs typeface="Arial"/>
              </a:defRPr>
            </a:lvl2pPr>
            <a:lvl3pPr>
              <a:buNone/>
              <a:defRPr sz="3900" b="1">
                <a:solidFill>
                  <a:srgbClr val="176C63"/>
                </a:solidFill>
                <a:latin typeface="Arial"/>
                <a:ea typeface="Arial"/>
                <a:cs typeface="Arial"/>
              </a:defRPr>
            </a:lvl3pPr>
            <a:lvl4pPr>
              <a:buNone/>
              <a:defRPr sz="3900" b="1">
                <a:solidFill>
                  <a:srgbClr val="176C63"/>
                </a:solidFill>
                <a:latin typeface="Arial"/>
                <a:ea typeface="Arial"/>
                <a:cs typeface="Arial"/>
              </a:defRPr>
            </a:lvl4pPr>
            <a:lvl5pPr>
              <a:buNone/>
              <a:defRPr sz="3900" b="1">
                <a:solidFill>
                  <a:srgbClr val="176C63"/>
                </a:solidFill>
                <a:latin typeface="Arial"/>
                <a:ea typeface="Arial"/>
                <a:cs typeface="Arial"/>
              </a:defRPr>
            </a:lvl5pPr>
            <a:lvl6pPr>
              <a:buNone/>
              <a:defRPr sz="3900" b="1">
                <a:solidFill>
                  <a:srgbClr val="176C63"/>
                </a:solidFill>
                <a:latin typeface="Arial"/>
                <a:ea typeface="Arial"/>
                <a:cs typeface="Arial"/>
              </a:defRPr>
            </a:lvl6pPr>
            <a:lvl7pPr>
              <a:buNone/>
              <a:defRPr sz="3900" b="1">
                <a:solidFill>
                  <a:srgbClr val="176C63"/>
                </a:solidFill>
                <a:latin typeface="Arial"/>
                <a:ea typeface="Arial"/>
                <a:cs typeface="Arial"/>
              </a:defRPr>
            </a:lvl7pPr>
            <a:lvl8pPr>
              <a:buNone/>
              <a:defRPr sz="3900" b="1">
                <a:solidFill>
                  <a:srgbClr val="176C63"/>
                </a:solidFill>
                <a:latin typeface="Arial"/>
                <a:ea typeface="Arial"/>
                <a:cs typeface="Arial"/>
              </a:defRPr>
            </a:lvl8pPr>
            <a:lvl9pPr>
              <a:buNone/>
              <a:defRPr sz="3900" b="1">
                <a:solidFill>
                  <a:srgbClr val="176C63"/>
                </a:solidFill>
                <a:latin typeface="Arial"/>
                <a:ea typeface="Arial"/>
                <a:cs typeface="Arial"/>
              </a:defRPr>
            </a:lvl9pPr>
          </a:lstStyle>
          <a:p xmlns:a="http://schemas.openxmlformats.org/drawingml/2006/main">
            <a:pPr>
              <a:buNone/>
              <a:defRPr sz="3900" b="1">
                <a:solidFill>
                  <a:srgbClr val="176C63"/>
                </a:solidFill>
                <a:latin typeface="Arial"/>
                <a:ea typeface="Arial"/>
                <a:cs typeface="Arial"/>
              </a:defRPr>
            </a:pPr>
            <a:r>
              <a:rPr sz="3900" b="1">
                <a:solidFill>
                  <a:srgbClr val="176C63"/>
                </a:solidFill>
                <a:latin typeface="Arial"/>
                <a:ea typeface="Arial"/>
                <a:cs typeface="Arial"/>
              </a:rPr>
              <a:t>Does N1002K retain function</a:t>
            </a:r>
          </a:p>
          <a:p xmlns:a="http://schemas.openxmlformats.org/drawingml/2006/main">
            <a:pPr>
              <a:buNone/>
              <a:defRPr sz="3900" b="1">
                <a:solidFill>
                  <a:srgbClr val="176C63"/>
                </a:solidFill>
                <a:latin typeface="Arial"/>
                <a:ea typeface="Arial"/>
                <a:cs typeface="Arial"/>
              </a:defRPr>
            </a:pPr>
            <a:r>
              <a:rPr sz="3900" b="1">
                <a:solidFill>
                  <a:srgbClr val="176C63"/>
                </a:solidFill>
                <a:latin typeface="Arial"/>
                <a:ea typeface="Arial"/>
                <a:cs typeface="Arial"/>
              </a:rPr>
              <a:t>that arimoclomol can rescue?</a:t>
            </a:r>
          </a:p>
        </p:txBody>
      </p:sp>
      <p:sp>
        <p:nvSpPr>
          <p:cNvPr id="5" name="">
            <a:extLst xmlns:a="http://schemas.openxmlformats.org/drawingml/2006/main">
              <a:ext uri="{FF2B5EF4-FFF2-40B4-BE49-F238E27FC236}">
                <a16:creationId xmlns:a16="http://schemas.microsoft.com/office/drawing/2014/main" id="{C7B3F6D4-5ACF-42ED-B487-E7117893040F}"/>
              </a:ext>
            </a:extLst>
          </p:cNvPr>
          <p:cNvSpPr>
            <a:spLocks xmlns:a="http://schemas.openxmlformats.org/drawingml/2006/main" noGrp="1"/>
          </p:cNvSpPr>
          <p:nvPr/>
        </p:nvSpPr>
        <p:spPr>
          <a:xfrm xmlns:a="http://schemas.openxmlformats.org/drawingml/2006/main">
            <a:off x="609600" y="395287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1">
                <a:solidFill>
                  <a:srgbClr val="17333E"/>
                </a:solidFill>
                <a:latin typeface="Arial"/>
                <a:ea typeface="Arial"/>
                <a:cs typeface="Arial"/>
              </a:defRPr>
            </a:defPPr>
            <a:lvl1pPr>
              <a:buNone/>
              <a:defRPr sz="2550" b="1">
                <a:solidFill>
                  <a:srgbClr val="17333E"/>
                </a:solidFill>
                <a:latin typeface="Arial"/>
                <a:ea typeface="Arial"/>
                <a:cs typeface="Arial"/>
              </a:defRPr>
            </a:lvl1pPr>
            <a:lvl2pPr>
              <a:buNone/>
              <a:defRPr sz="2550" b="1">
                <a:solidFill>
                  <a:srgbClr val="17333E"/>
                </a:solidFill>
                <a:latin typeface="Arial"/>
                <a:ea typeface="Arial"/>
                <a:cs typeface="Arial"/>
              </a:defRPr>
            </a:lvl2pPr>
            <a:lvl3pPr>
              <a:buNone/>
              <a:defRPr sz="2550" b="1">
                <a:solidFill>
                  <a:srgbClr val="17333E"/>
                </a:solidFill>
                <a:latin typeface="Arial"/>
                <a:ea typeface="Arial"/>
                <a:cs typeface="Arial"/>
              </a:defRPr>
            </a:lvl3pPr>
            <a:lvl4pPr>
              <a:buNone/>
              <a:defRPr sz="2550" b="1">
                <a:solidFill>
                  <a:srgbClr val="17333E"/>
                </a:solidFill>
                <a:latin typeface="Arial"/>
                <a:ea typeface="Arial"/>
                <a:cs typeface="Arial"/>
              </a:defRPr>
            </a:lvl4pPr>
            <a:lvl5pPr>
              <a:buNone/>
              <a:defRPr sz="2550" b="1">
                <a:solidFill>
                  <a:srgbClr val="17333E"/>
                </a:solidFill>
                <a:latin typeface="Arial"/>
                <a:ea typeface="Arial"/>
                <a:cs typeface="Arial"/>
              </a:defRPr>
            </a:lvl5pPr>
            <a:lvl6pPr>
              <a:buNone/>
              <a:defRPr sz="2550" b="1">
                <a:solidFill>
                  <a:srgbClr val="17333E"/>
                </a:solidFill>
                <a:latin typeface="Arial"/>
                <a:ea typeface="Arial"/>
                <a:cs typeface="Arial"/>
              </a:defRPr>
            </a:lvl6pPr>
            <a:lvl7pPr>
              <a:buNone/>
              <a:defRPr sz="2550" b="1">
                <a:solidFill>
                  <a:srgbClr val="17333E"/>
                </a:solidFill>
                <a:latin typeface="Arial"/>
                <a:ea typeface="Arial"/>
                <a:cs typeface="Arial"/>
              </a:defRPr>
            </a:lvl7pPr>
            <a:lvl8pPr>
              <a:buNone/>
              <a:defRPr sz="2550" b="1">
                <a:solidFill>
                  <a:srgbClr val="17333E"/>
                </a:solidFill>
                <a:latin typeface="Arial"/>
                <a:ea typeface="Arial"/>
                <a:cs typeface="Arial"/>
              </a:defRPr>
            </a:lvl8pPr>
            <a:lvl9pPr>
              <a:buNone/>
              <a:defRPr sz="2550" b="1">
                <a:solidFill>
                  <a:srgbClr val="17333E"/>
                </a:solidFill>
                <a:latin typeface="Arial"/>
                <a:ea typeface="Arial"/>
                <a:cs typeface="Arial"/>
              </a:defRPr>
            </a:lvl9pPr>
          </a:lstStyle>
          <a:p xmlns:a="http://schemas.openxmlformats.org/drawingml/2006/main">
            <a:pPr>
              <a:buNone/>
              <a:defRPr sz="2550" b="1">
                <a:solidFill>
                  <a:srgbClr val="17333E"/>
                </a:solidFill>
                <a:latin typeface="Arial"/>
                <a:ea typeface="Arial"/>
                <a:cs typeface="Arial"/>
              </a:defRPr>
            </a:pPr>
            <a:r>
              <a:rPr sz="2550" b="1">
                <a:solidFill>
                  <a:srgbClr val="17333E"/>
                </a:solidFill>
                <a:latin typeface="Arial"/>
                <a:ea typeface="Arial"/>
                <a:cs typeface="Arial"/>
              </a:rPr>
              <a:t>Delivered now</a:t>
            </a:r>
          </a:p>
        </p:txBody>
      </p:sp>
      <p:sp>
        <p:nvSpPr>
          <p:cNvPr id="6" name="">
            <a:extLst xmlns:a="http://schemas.openxmlformats.org/drawingml/2006/main">
              <a:ext uri="{FF2B5EF4-FFF2-40B4-BE49-F238E27FC236}">
                <a16:creationId xmlns:a16="http://schemas.microsoft.com/office/drawing/2014/main" id="{DB980BD5-7E77-44E1-B487-E5D165EAAE2A}"/>
              </a:ext>
            </a:extLst>
          </p:cNvPr>
          <p:cNvSpPr>
            <a:spLocks xmlns:a="http://schemas.openxmlformats.org/drawingml/2006/main" noGrp="1"/>
          </p:cNvSpPr>
          <p:nvPr/>
        </p:nvSpPr>
        <p:spPr>
          <a:xfrm xmlns:a="http://schemas.openxmlformats.org/drawingml/2006/main">
            <a:off x="609600" y="4572000"/>
            <a:ext cx="5048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7333E"/>
                </a:solidFill>
                <a:latin typeface="Arial"/>
                <a:ea typeface="Arial"/>
                <a:cs typeface="Arial"/>
              </a:defRPr>
            </a:defPPr>
            <a:lvl1pPr>
              <a:buNone/>
              <a:defRPr sz="2250" b="0">
                <a:solidFill>
                  <a:srgbClr val="17333E"/>
                </a:solidFill>
                <a:latin typeface="Arial"/>
                <a:ea typeface="Arial"/>
                <a:cs typeface="Arial"/>
              </a:defRPr>
            </a:lvl1pPr>
            <a:lvl2pPr>
              <a:buNone/>
              <a:defRPr sz="2250" b="0">
                <a:solidFill>
                  <a:srgbClr val="17333E"/>
                </a:solidFill>
                <a:latin typeface="Arial"/>
                <a:ea typeface="Arial"/>
                <a:cs typeface="Arial"/>
              </a:defRPr>
            </a:lvl2pPr>
            <a:lvl3pPr>
              <a:buNone/>
              <a:defRPr sz="2250" b="0">
                <a:solidFill>
                  <a:srgbClr val="17333E"/>
                </a:solidFill>
                <a:latin typeface="Arial"/>
                <a:ea typeface="Arial"/>
                <a:cs typeface="Arial"/>
              </a:defRPr>
            </a:lvl3pPr>
            <a:lvl4pPr>
              <a:buNone/>
              <a:defRPr sz="2250" b="0">
                <a:solidFill>
                  <a:srgbClr val="17333E"/>
                </a:solidFill>
                <a:latin typeface="Arial"/>
                <a:ea typeface="Arial"/>
                <a:cs typeface="Arial"/>
              </a:defRPr>
            </a:lvl4pPr>
            <a:lvl5pPr>
              <a:buNone/>
              <a:defRPr sz="2250" b="0">
                <a:solidFill>
                  <a:srgbClr val="17333E"/>
                </a:solidFill>
                <a:latin typeface="Arial"/>
                <a:ea typeface="Arial"/>
                <a:cs typeface="Arial"/>
              </a:defRPr>
            </a:lvl5pPr>
            <a:lvl6pPr>
              <a:buNone/>
              <a:defRPr sz="2250" b="0">
                <a:solidFill>
                  <a:srgbClr val="17333E"/>
                </a:solidFill>
                <a:latin typeface="Arial"/>
                <a:ea typeface="Arial"/>
                <a:cs typeface="Arial"/>
              </a:defRPr>
            </a:lvl6pPr>
            <a:lvl7pPr>
              <a:buNone/>
              <a:defRPr sz="2250" b="0">
                <a:solidFill>
                  <a:srgbClr val="17333E"/>
                </a:solidFill>
                <a:latin typeface="Arial"/>
                <a:ea typeface="Arial"/>
                <a:cs typeface="Arial"/>
              </a:defRPr>
            </a:lvl7pPr>
            <a:lvl8pPr>
              <a:buNone/>
              <a:defRPr sz="2250" b="0">
                <a:solidFill>
                  <a:srgbClr val="17333E"/>
                </a:solidFill>
                <a:latin typeface="Arial"/>
                <a:ea typeface="Arial"/>
                <a:cs typeface="Arial"/>
              </a:defRPr>
            </a:lvl8pPr>
            <a:lvl9pPr>
              <a:buNone/>
              <a:defRPr sz="2250" b="0">
                <a:solidFill>
                  <a:srgbClr val="17333E"/>
                </a:solidFill>
                <a:latin typeface="Arial"/>
                <a:ea typeface="Arial"/>
                <a:cs typeface="Arial"/>
              </a:defRPr>
            </a:lvl9pPr>
          </a:lstStyle>
          <a:p xmlns:a="http://schemas.openxmlformats.org/drawingml/2006/main">
            <a:pPr>
              <a:buNone/>
              <a:defRPr sz="2250" b="0">
                <a:solidFill>
                  <a:srgbClr val="17333E"/>
                </a:solidFill>
                <a:latin typeface="Arial"/>
                <a:ea typeface="Arial"/>
                <a:cs typeface="Arial"/>
              </a:defRPr>
            </a:pPr>
            <a:r>
              <a:rPr sz="2250" b="0">
                <a:solidFill>
                  <a:srgbClr val="17333E"/>
                </a:solidFill>
                <a:latin typeface="Arial"/>
                <a:ea typeface="Arial"/>
                <a:cs typeface="Arial"/>
              </a:rPr>
              <a:t>Code, source trail and</a:t>
            </a:r>
          </a:p>
          <a:p xmlns:a="http://schemas.openxmlformats.org/drawingml/2006/main">
            <a:pPr>
              <a:buNone/>
              <a:defRPr sz="2250" b="0">
                <a:solidFill>
                  <a:srgbClr val="17333E"/>
                </a:solidFill>
                <a:latin typeface="Arial"/>
                <a:ea typeface="Arial"/>
                <a:cs typeface="Arial"/>
              </a:defRPr>
            </a:pPr>
            <a:r>
              <a:rPr sz="2250" b="0">
                <a:solidFill>
                  <a:srgbClr val="17333E"/>
                </a:solidFill>
                <a:latin typeface="Arial"/>
                <a:ea typeface="Arial"/>
                <a:cs typeface="Arial"/>
              </a:rPr>
              <a:t>a proposed laboratory protocol</a:t>
            </a:r>
          </a:p>
        </p:txBody>
      </p:sp>
      <p:sp>
        <p:nvSpPr>
          <p:cNvPr id="7" name="">
            <a:extLst xmlns:a="http://schemas.openxmlformats.org/drawingml/2006/main">
              <a:ext uri="{FF2B5EF4-FFF2-40B4-BE49-F238E27FC236}">
                <a16:creationId xmlns:a16="http://schemas.microsoft.com/office/drawing/2014/main" id="{5D2BEB0C-1FC0-4558-82B9-4752616A229B}"/>
              </a:ext>
            </a:extLst>
          </p:cNvPr>
          <p:cNvSpPr>
            <a:spLocks xmlns:a="http://schemas.openxmlformats.org/drawingml/2006/main" noGrp="1"/>
          </p:cNvSpPr>
          <p:nvPr/>
        </p:nvSpPr>
        <p:spPr>
          <a:xfrm xmlns:a="http://schemas.openxmlformats.org/drawingml/2006/main">
            <a:off x="6477000" y="3952875"/>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1">
                <a:solidFill>
                  <a:srgbClr val="17333E"/>
                </a:solidFill>
                <a:latin typeface="Arial"/>
                <a:ea typeface="Arial"/>
                <a:cs typeface="Arial"/>
              </a:defRPr>
            </a:defPPr>
            <a:lvl1pPr>
              <a:buNone/>
              <a:defRPr sz="2550" b="1">
                <a:solidFill>
                  <a:srgbClr val="17333E"/>
                </a:solidFill>
                <a:latin typeface="Arial"/>
                <a:ea typeface="Arial"/>
                <a:cs typeface="Arial"/>
              </a:defRPr>
            </a:lvl1pPr>
            <a:lvl2pPr>
              <a:buNone/>
              <a:defRPr sz="2550" b="1">
                <a:solidFill>
                  <a:srgbClr val="17333E"/>
                </a:solidFill>
                <a:latin typeface="Arial"/>
                <a:ea typeface="Arial"/>
                <a:cs typeface="Arial"/>
              </a:defRPr>
            </a:lvl2pPr>
            <a:lvl3pPr>
              <a:buNone/>
              <a:defRPr sz="2550" b="1">
                <a:solidFill>
                  <a:srgbClr val="17333E"/>
                </a:solidFill>
                <a:latin typeface="Arial"/>
                <a:ea typeface="Arial"/>
                <a:cs typeface="Arial"/>
              </a:defRPr>
            </a:lvl3pPr>
            <a:lvl4pPr>
              <a:buNone/>
              <a:defRPr sz="2550" b="1">
                <a:solidFill>
                  <a:srgbClr val="17333E"/>
                </a:solidFill>
                <a:latin typeface="Arial"/>
                <a:ea typeface="Arial"/>
                <a:cs typeface="Arial"/>
              </a:defRPr>
            </a:lvl4pPr>
            <a:lvl5pPr>
              <a:buNone/>
              <a:defRPr sz="2550" b="1">
                <a:solidFill>
                  <a:srgbClr val="17333E"/>
                </a:solidFill>
                <a:latin typeface="Arial"/>
                <a:ea typeface="Arial"/>
                <a:cs typeface="Arial"/>
              </a:defRPr>
            </a:lvl5pPr>
            <a:lvl6pPr>
              <a:buNone/>
              <a:defRPr sz="2550" b="1">
                <a:solidFill>
                  <a:srgbClr val="17333E"/>
                </a:solidFill>
                <a:latin typeface="Arial"/>
                <a:ea typeface="Arial"/>
                <a:cs typeface="Arial"/>
              </a:defRPr>
            </a:lvl6pPr>
            <a:lvl7pPr>
              <a:buNone/>
              <a:defRPr sz="2550" b="1">
                <a:solidFill>
                  <a:srgbClr val="17333E"/>
                </a:solidFill>
                <a:latin typeface="Arial"/>
                <a:ea typeface="Arial"/>
                <a:cs typeface="Arial"/>
              </a:defRPr>
            </a:lvl7pPr>
            <a:lvl8pPr>
              <a:buNone/>
              <a:defRPr sz="2550" b="1">
                <a:solidFill>
                  <a:srgbClr val="17333E"/>
                </a:solidFill>
                <a:latin typeface="Arial"/>
                <a:ea typeface="Arial"/>
                <a:cs typeface="Arial"/>
              </a:defRPr>
            </a:lvl8pPr>
            <a:lvl9pPr>
              <a:buNone/>
              <a:defRPr sz="2550" b="1">
                <a:solidFill>
                  <a:srgbClr val="17333E"/>
                </a:solidFill>
                <a:latin typeface="Arial"/>
                <a:ea typeface="Arial"/>
                <a:cs typeface="Arial"/>
              </a:defRPr>
            </a:lvl9pPr>
          </a:lstStyle>
          <a:p xmlns:a="http://schemas.openxmlformats.org/drawingml/2006/main">
            <a:pPr>
              <a:buNone/>
              <a:defRPr sz="2550" b="1">
                <a:solidFill>
                  <a:srgbClr val="17333E"/>
                </a:solidFill>
                <a:latin typeface="Arial"/>
                <a:ea typeface="Arial"/>
                <a:cs typeface="Arial"/>
              </a:defRPr>
            </a:pPr>
            <a:r>
              <a:rPr sz="2550" b="1">
                <a:solidFill>
                  <a:srgbClr val="17333E"/>
                </a:solidFill>
                <a:latin typeface="Arial"/>
                <a:ea typeface="Arial"/>
                <a:cs typeface="Arial"/>
              </a:rPr>
              <a:t>Evidence still needed</a:t>
            </a:r>
          </a:p>
        </p:txBody>
      </p:sp>
      <p:sp>
        <p:nvSpPr>
          <p:cNvPr id="8" name="">
            <a:extLst xmlns:a="http://schemas.openxmlformats.org/drawingml/2006/main">
              <a:ext uri="{FF2B5EF4-FFF2-40B4-BE49-F238E27FC236}">
                <a16:creationId xmlns:a16="http://schemas.microsoft.com/office/drawing/2014/main" id="{89A7A01D-FA81-49EC-9E05-6288A134D280}"/>
              </a:ext>
            </a:extLst>
          </p:cNvPr>
          <p:cNvSpPr>
            <a:spLocks xmlns:a="http://schemas.openxmlformats.org/drawingml/2006/main" noGrp="1"/>
          </p:cNvSpPr>
          <p:nvPr/>
        </p:nvSpPr>
        <p:spPr>
          <a:xfrm xmlns:a="http://schemas.openxmlformats.org/drawingml/2006/main">
            <a:off x="6477000" y="4572000"/>
            <a:ext cx="5048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7333E"/>
                </a:solidFill>
                <a:latin typeface="Arial"/>
                <a:ea typeface="Arial"/>
                <a:cs typeface="Arial"/>
              </a:defRPr>
            </a:defPPr>
            <a:lvl1pPr>
              <a:buNone/>
              <a:defRPr sz="2250" b="0">
                <a:solidFill>
                  <a:srgbClr val="17333E"/>
                </a:solidFill>
                <a:latin typeface="Arial"/>
                <a:ea typeface="Arial"/>
                <a:cs typeface="Arial"/>
              </a:defRPr>
            </a:lvl1pPr>
            <a:lvl2pPr>
              <a:buNone/>
              <a:defRPr sz="2250" b="0">
                <a:solidFill>
                  <a:srgbClr val="17333E"/>
                </a:solidFill>
                <a:latin typeface="Arial"/>
                <a:ea typeface="Arial"/>
                <a:cs typeface="Arial"/>
              </a:defRPr>
            </a:lvl2pPr>
            <a:lvl3pPr>
              <a:buNone/>
              <a:defRPr sz="2250" b="0">
                <a:solidFill>
                  <a:srgbClr val="17333E"/>
                </a:solidFill>
                <a:latin typeface="Arial"/>
                <a:ea typeface="Arial"/>
                <a:cs typeface="Arial"/>
              </a:defRPr>
            </a:lvl3pPr>
            <a:lvl4pPr>
              <a:buNone/>
              <a:defRPr sz="2250" b="0">
                <a:solidFill>
                  <a:srgbClr val="17333E"/>
                </a:solidFill>
                <a:latin typeface="Arial"/>
                <a:ea typeface="Arial"/>
                <a:cs typeface="Arial"/>
              </a:defRPr>
            </a:lvl4pPr>
            <a:lvl5pPr>
              <a:buNone/>
              <a:defRPr sz="2250" b="0">
                <a:solidFill>
                  <a:srgbClr val="17333E"/>
                </a:solidFill>
                <a:latin typeface="Arial"/>
                <a:ea typeface="Arial"/>
                <a:cs typeface="Arial"/>
              </a:defRPr>
            </a:lvl5pPr>
            <a:lvl6pPr>
              <a:buNone/>
              <a:defRPr sz="2250" b="0">
                <a:solidFill>
                  <a:srgbClr val="17333E"/>
                </a:solidFill>
                <a:latin typeface="Arial"/>
                <a:ea typeface="Arial"/>
                <a:cs typeface="Arial"/>
              </a:defRPr>
            </a:lvl6pPr>
            <a:lvl7pPr>
              <a:buNone/>
              <a:defRPr sz="2250" b="0">
                <a:solidFill>
                  <a:srgbClr val="17333E"/>
                </a:solidFill>
                <a:latin typeface="Arial"/>
                <a:ea typeface="Arial"/>
                <a:cs typeface="Arial"/>
              </a:defRPr>
            </a:lvl7pPr>
            <a:lvl8pPr>
              <a:buNone/>
              <a:defRPr sz="2250" b="0">
                <a:solidFill>
                  <a:srgbClr val="17333E"/>
                </a:solidFill>
                <a:latin typeface="Arial"/>
                <a:ea typeface="Arial"/>
                <a:cs typeface="Arial"/>
              </a:defRPr>
            </a:lvl8pPr>
            <a:lvl9pPr>
              <a:buNone/>
              <a:defRPr sz="2250" b="0">
                <a:solidFill>
                  <a:srgbClr val="17333E"/>
                </a:solidFill>
                <a:latin typeface="Arial"/>
                <a:ea typeface="Arial"/>
                <a:cs typeface="Arial"/>
              </a:defRPr>
            </a:lvl9pPr>
          </a:lstStyle>
          <a:p xmlns:a="http://schemas.openxmlformats.org/drawingml/2006/main">
            <a:pPr>
              <a:buNone/>
              <a:defRPr sz="2250" b="0">
                <a:solidFill>
                  <a:srgbClr val="17333E"/>
                </a:solidFill>
                <a:latin typeface="Arial"/>
                <a:ea typeface="Arial"/>
                <a:cs typeface="Arial"/>
              </a:defRPr>
            </a:pPr>
            <a:r>
              <a:rPr sz="2250" b="0">
                <a:solidFill>
                  <a:srgbClr val="17333E"/>
                </a:solidFill>
                <a:latin typeface="Arial"/>
                <a:ea typeface="Arial"/>
                <a:cs typeface="Arial"/>
              </a:rPr>
              <a:t>Independent functional rescue</a:t>
            </a:r>
          </a:p>
          <a:p xmlns:a="http://schemas.openxmlformats.org/drawingml/2006/main">
            <a:pPr>
              <a:buNone/>
              <a:defRPr sz="2250" b="0">
                <a:solidFill>
                  <a:srgbClr val="17333E"/>
                </a:solidFill>
                <a:latin typeface="Arial"/>
                <a:ea typeface="Arial"/>
                <a:cs typeface="Arial"/>
              </a:defRPr>
            </a:pPr>
            <a:r>
              <a:rPr sz="2250" b="0">
                <a:solidFill>
                  <a:srgbClr val="17333E"/>
                </a:solidFill>
                <a:latin typeface="Arial"/>
                <a:ea typeface="Arial"/>
                <a:cs typeface="Arial"/>
              </a:rPr>
              <a:t>at relevant exposure</a:t>
            </a:r>
          </a:p>
        </p:txBody>
      </p:sp>
    </p:spTree>
    <p:extLst>
      <p:ext uri="{BB962C8B-B14F-4D97-AF65-F5344CB8AC3E}">
        <p14:creationId xmlns:p14="http://schemas.microsoft.com/office/powerpoint/2010/main" val="18751026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2026-10-23T22:26:38.5160000Z</dcterms:created>
  <dcterms:modified xsi:type="dcterms:W3CDTF">2026-10-23T22:26:38.5160000Z</dcterms:modified>
</coreProperties>
</file>