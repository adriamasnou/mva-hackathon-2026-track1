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72ad5e384fd40b9" /><Relationship Type="http://schemas.openxmlformats.org/officeDocument/2006/relationships/extended-properties" Target="/docProps/app.xml" Id="R43328b00e3a94be5" /><Relationship Type="http://schemas.openxmlformats.org/officeDocument/2006/relationships/officeDocument" Target="/ppt/presentation.xml" Id="Rfbd15190642c43ce" /></Relationships>
</file>

<file path=ppt/presentation.xml><?xml version="1.0" encoding="utf-8"?>
<p:presentation xmlns:p="http://schemas.openxmlformats.org/presentationml/2006/main">
  <p:sldMasterIdLst>
    <p:sldMasterId xmlns:r="http://schemas.openxmlformats.org/officeDocument/2006/relationships" id="2147483648" r:id="Rd5ee520836c44a13"/>
  </p:sldMasterIdLst>
  <p:notesMasterIdLst>
    <p:notesMasterId xmlns:r="http://schemas.openxmlformats.org/officeDocument/2006/relationships" r:id="Rb9e6d2cedf674cd4"/>
  </p:notesMasterIdLst>
  <p:sldIdLst>
    <p:sldId xmlns:r="http://schemas.openxmlformats.org/officeDocument/2006/relationships" id="256" r:id="Rc35a37b254df452d"/>
    <p:sldId xmlns:r="http://schemas.openxmlformats.org/officeDocument/2006/relationships" id="257" r:id="Rcbf6221615d2412e"/>
    <p:sldId xmlns:r="http://schemas.openxmlformats.org/officeDocument/2006/relationships" id="258" r:id="Race2b881fb0c4d89"/>
    <p:sldId xmlns:r="http://schemas.openxmlformats.org/officeDocument/2006/relationships" id="259" r:id="Rbeab5762a44a4f2f"/>
    <p:sldId xmlns:r="http://schemas.openxmlformats.org/officeDocument/2006/relationships" id="260" r:id="R8cbea86055d941ec"/>
    <p:sldId xmlns:r="http://schemas.openxmlformats.org/officeDocument/2006/relationships" id="261" r:id="Re8bbaea2506848e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810714b3474fd0" /><Relationship Type="http://schemas.openxmlformats.org/officeDocument/2006/relationships/slideMaster" Target="/ppt/slideMasters/slideMaster1.xml" Id="Rd5ee520836c44a13" /><Relationship Type="http://schemas.openxmlformats.org/officeDocument/2006/relationships/notesMaster" Target="/ppt/notesMasters/notesMaster1.xml" Id="Rb9e6d2cedf674cd4" /><Relationship Type="http://schemas.openxmlformats.org/officeDocument/2006/relationships/presProps" Target="/ppt/presProps.xml" Id="Rae8e9dac277347f9" /><Relationship Type="http://schemas.openxmlformats.org/officeDocument/2006/relationships/tableStyles" Target="/ppt/tableStyles.xml" Id="R929fc38a45364388" /><Relationship Type="http://schemas.openxmlformats.org/officeDocument/2006/relationships/slide" Target="/ppt/slides/slide1.xml" Id="Rc35a37b254df452d" /><Relationship Type="http://schemas.openxmlformats.org/officeDocument/2006/relationships/slide" Target="/ppt/slides/slide2.xml" Id="Rcbf6221615d2412e" /><Relationship Type="http://schemas.openxmlformats.org/officeDocument/2006/relationships/slide" Target="/ppt/slides/slide3.xml" Id="Race2b881fb0c4d89" /><Relationship Type="http://schemas.openxmlformats.org/officeDocument/2006/relationships/slide" Target="/ppt/slides/slide4.xml" Id="Rbeab5762a44a4f2f" /><Relationship Type="http://schemas.openxmlformats.org/officeDocument/2006/relationships/slide" Target="/ppt/slides/slide5.xml" Id="R8cbea86055d941ec" /><Relationship Type="http://schemas.openxmlformats.org/officeDocument/2006/relationships/slide" Target="/ppt/slides/slide6.xml" Id="Re8bbaea2506848e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a1c9dc549649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26d80a35bf4263" /><Relationship Type="http://schemas.openxmlformats.org/officeDocument/2006/relationships/notesMaster" Target="/ppt/notesMasters/notesMaster1.xml" Id="Rcb69ad22f39640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dde4a699e6c4bd9" /><Relationship Type="http://schemas.openxmlformats.org/officeDocument/2006/relationships/notesMaster" Target="/ppt/notesMasters/notesMaster1.xml" Id="R65209beb4fae4d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9b01bee6ff4fca" /><Relationship Type="http://schemas.openxmlformats.org/officeDocument/2006/relationships/notesMaster" Target="/ppt/notesMasters/notesMaster1.xml" Id="R991ec194f8094f5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902d7530474752" /><Relationship Type="http://schemas.openxmlformats.org/officeDocument/2006/relationships/notesMaster" Target="/ppt/notesMasters/notesMaster1.xml" Id="Redcbbee0601143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66c4c41f84420a" /><Relationship Type="http://schemas.openxmlformats.org/officeDocument/2006/relationships/notesMaster" Target="/ppt/notesMasters/notesMaster1.xml" Id="R63fdf6f52b29467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d0d2feca144f35" /><Relationship Type="http://schemas.openxmlformats.org/officeDocument/2006/relationships/notesMaster" Target="/ppt/notesMasters/notesMaster1.xml" Id="R2f1c275ba665470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propose arimoclomol for laboratory testing in BUB one B related mosaic variegated aneuploidy. The aim is better chromosome separation through restoration of functional Bub R one. The key unknown is whether the N one thousand and two K variant retains function that a drug can rescue. No drug rescue has been demonstrated.</a:t>
            </a:r>
          </a:p>
          <a:p xmlns:a="http://schemas.openxmlformats.org/drawingml/2006/main">
            <a:r>
              <a:t/>
            </a:r>
          </a:p>
          <a:p xmlns:a="http://schemas.openxmlformats.org/drawingml/2006/main">
            <a:r>
              <a:t>Sources: PMID 20516114 / conditional research proposal</a:t>
            </a:r>
          </a:p>
          <a:p xmlns:a="http://schemas.openxmlformats.org/drawingml/2006/main">
            <a:r>
              <a:t>submissions/adriamasnou_track2_report.md</a:t>
            </a:r>
          </a:p>
          <a:p xmlns:a="http://schemas.openxmlformats.org/drawingml/2006/main">
            <a:r>
              <a:t>submissions/functional-rescue-plan.md</a:t>
            </a:r>
          </a:p>
          <a:p xmlns:a="http://schemas.openxmlformats.org/drawingml/2006/main">
            <a:r>
              <a:t/>
            </a:r>
          </a:p>
          <a:p xmlns:a="http://schemas.openxmlformats.org/drawingml/2006/main">
            <a:r>
              <a:t>Status: research proposal. No N1002K/drug-rescue measurement. Synthetic software examples are not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Arimoclomol has a documented human exposure record and a conditional stress-response rationale. N M N has stronger direct evidence of increased Bub R one protein, in mouse systems. Four P B A can also increase inducible Hsp70 in a different cell model. None establishes N one thousand and two K rescue. We would compare these candidates on function and cell fate at qualified exposures. Another candidate can replace our lead.</a:t>
            </a:r>
          </a:p>
          <a:p xmlns:a="http://schemas.openxmlformats.org/drawingml/2006/main">
            <a:r>
              <a:t/>
            </a:r>
          </a:p>
          <a:p xmlns:a="http://schemas.openxmlformats.org/drawingml/2006/main">
            <a:r>
              <a:t>Sources: PMIDs 31900865, 24825348, 22069317 / MIPLYFFA and BUPHENYL labels</a:t>
            </a:r>
          </a:p>
          <a:p xmlns:a="http://schemas.openxmlformats.org/drawingml/2006/main">
            <a:r>
              <a:t>submissions/candidate-comparison.md</a:t>
            </a:r>
          </a:p>
          <a:p xmlns:a="http://schemas.openxmlformats.org/drawingml/2006/main">
            <a:r>
              <a:t/>
            </a:r>
          </a:p>
          <a:p xmlns:a="http://schemas.openxmlformats.org/drawingml/2006/main">
            <a:r>
              <a:t>Status: research proposal. No N1002K/drug-rescue measurement. Synthetic software examples are not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compare full-length normal and variant protein at matched abundance. Then measure segregation errors alongside division, death and arrest. Confidence bounds must clear a prespecified worthwhile benefit, with exposure and fate criteria also satisfied. A protein increase alone cannot advance the programme. The protocol includes construct specifications and public price evidence. Laboratory acceptance, imaging qualification and the complete budget remain open.</a:t>
            </a:r>
          </a:p>
          <a:p xmlns:a="http://schemas.openxmlformats.org/drawingml/2006/main">
            <a:r>
              <a:t/>
            </a:r>
          </a:p>
          <a:p xmlns:a="http://schemas.openxmlformats.org/drawingml/2006/main">
            <a:r>
              <a:t>Sources: Functional rescue plan / laboratory readiness / proposed experiments</a:t>
            </a:r>
          </a:p>
          <a:p xmlns:a="http://schemas.openxmlformats.org/drawingml/2006/main">
            <a:r>
              <a:t>submissions/functional-rescue-plan.md</a:t>
            </a:r>
          </a:p>
          <a:p xmlns:a="http://schemas.openxmlformats.org/drawingml/2006/main">
            <a:r>
              <a:t>submissions/laboratory-execution-readiness.md</a:t>
            </a:r>
          </a:p>
          <a:p xmlns:a="http://schemas.openxmlformats.org/drawingml/2006/main">
            <a:r>
              <a:t/>
            </a:r>
          </a:p>
          <a:p xmlns:a="http://schemas.openxmlformats.org/drawingml/2006/main">
            <a:r>
              <a:t>Status: research proposal. No N1002K/drug-rescue measurement. Synthetic software examples are not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three recorded executions using synthetic inputs. In the first, protein rises forty percent, but the functional interval stays below the illustrative benefit threshold. The programme rules out that worthwhile benefit. In the second, the surviving cells look better, but selective loss triggers do not advance. In the third, exposure measurement fails, so the result is technically indeterminate. The intervals are supplied, not fitted from observations. These examples demonstrate working decision software, not experimental drug effects.</a:t>
            </a:r>
          </a:p>
          <a:p xmlns:a="http://schemas.openxmlformats.org/drawingml/2006/main">
            <a:r>
              <a:t/>
            </a:r>
          </a:p>
          <a:p xmlns:a="http://schemas.openxmlformats.org/drawingml/2006/main">
            <a:r>
              <a:t>Sources: Three existing synthetic fixtures / replay.py / 40-case frozen software evaluation</a:t>
            </a:r>
          </a:p>
          <a:p xmlns:a="http://schemas.openxmlformats.org/drawingml/2006/main">
            <a:r>
              <a:t>examples/rescue-decision-demo/README.md</a:t>
            </a:r>
          </a:p>
          <a:p xmlns:a="http://schemas.openxmlformats.org/drawingml/2006/main">
            <a:r>
              <a:t>examples/rescue-decision-demo/replay.html</a:t>
            </a:r>
          </a:p>
          <a:p xmlns:a="http://schemas.openxmlformats.org/drawingml/2006/main">
            <a:r>
              <a:t>submissions/rescue-decision-validation.md</a:t>
            </a:r>
          </a:p>
          <a:p xmlns:a="http://schemas.openxmlformats.org/drawingml/2006/main">
            <a:r>
              <a:t/>
            </a:r>
          </a:p>
          <a:p xmlns:a="http://schemas.openxmlformats.org/drawingml/2006/main">
            <a:r>
              <a:t>Status: research proposal. No N1002K/drug-rescue measurement. Synthetic software examples are not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offline navigator shows the source behind a gene-to-condition connection. This is the actual BUB one B lookup. Twenty-eight selected queries passed, covering forty-seven reviewed associations. That developer audit shares the tool's sources, so clinical validity remains untested. A match does not establish family eligibility. Separately, our public ranking benchmark retains all seven hundred and thirteen signatures, failures and source qualifications for inspection.</a:t>
            </a:r>
          </a:p>
          <a:p xmlns:a="http://schemas.openxmlformats.org/drawingml/2006/main">
            <a:r>
              <a:t/>
            </a:r>
          </a:p>
          <a:p xmlns:a="http://schemas.openxmlformats.org/drawingml/2006/main">
            <a:r>
              <a:t>Sources: Frozen 28-query audit / compact public benchmark / source-label recovery</a:t>
            </a:r>
          </a:p>
          <a:p xmlns:a="http://schemas.openxmlformats.org/drawingml/2006/main">
            <a:r>
              <a:t>submissions/pgtm-expanded-validation.md</a:t>
            </a:r>
          </a:p>
          <a:p xmlns:a="http://schemas.openxmlformats.org/drawingml/2006/main">
            <a:r>
              <a:t>submissions/pgtm-navigator.html</a:t>
            </a:r>
          </a:p>
          <a:p xmlns:a="http://schemas.openxmlformats.org/drawingml/2006/main">
            <a:r>
              <a:t>submissions/compact-public-validation.md</a:t>
            </a:r>
          </a:p>
          <a:p xmlns:a="http://schemas.openxmlformats.org/drawingml/2006/main">
            <a:r>
              <a:t/>
            </a:r>
          </a:p>
          <a:p xmlns:a="http://schemas.openxmlformats.org/drawingml/2006/main">
            <a:r>
              <a:t>Status: research proposal. No N1002K/drug-rescue measurement. Synthetic software examples are not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credit plan funds evidence checks, public validation and reusable analysis tools, with an initial service-qualification step and spending caps. Its outputs are corrected claim records, a new evaluation registered before inference, and reproducible analysis releases. Credits do not fund the laboratory programme. What we deliver now is a testable drug proposal and working tools that expose unsupported conclusions. The next biological result must determine which candidate, if any, advances.</a:t>
            </a:r>
          </a:p>
          <a:p xmlns:a="http://schemas.openxmlformats.org/drawingml/2006/main">
            <a:r>
              <a:t/>
            </a:r>
          </a:p>
          <a:p xmlns:a="http://schemas.openxmlformats.org/drawingml/2006/main">
            <a:r>
              <a:t>Sources: Claude Science continuation plan / eligible computation only</a:t>
            </a:r>
          </a:p>
          <a:p xmlns:a="http://schemas.openxmlformats.org/drawingml/2006/main">
            <a:r>
              <a:t>submissions/claude-science-continuation.md</a:t>
            </a:r>
          </a:p>
          <a:p xmlns:a="http://schemas.openxmlformats.org/drawingml/2006/main">
            <a:r>
              <a:t/>
            </a:r>
          </a:p>
          <a:p xmlns:a="http://schemas.openxmlformats.org/drawingml/2006/main">
            <a:r>
              <a:t>Status: research proposal. No N1002K/drug-rescue measurement. Synthetic software examples are not laboratory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29eef8003148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9d0bb3b6367424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84b0935c514ec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d3bb65fefb4d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bf710c2ab5041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28e9b011142408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CF224F-D815-4C16-9664-5C058B4872D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FFDCD1C-1A01-4286-AAC6-B5862496341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5022FA-12B4-4C36-8A65-0E32AE68219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55A89A-D868-4E79-9187-B262B63CDF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1792B72-FAA9-4319-95AA-3726819A812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F52DC9B-784F-4572-9037-7C69232B5E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485D000-8465-47A6-BCB0-D6DA20FB86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9ECEFBD-54CF-4803-84E6-104AEA617F0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9F4E5C6-1668-4314-9BD7-6FDB0A709A4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5DC94F-0082-4D95-B8E7-7CF3AC48D64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d153da9c3264b9d" /><Relationship Type="http://schemas.openxmlformats.org/officeDocument/2006/relationships/slideLayout" Target="/ppt/slideLayouts/slideLayout1.xml" Id="Re65546ccb5b54260" /><Relationship Type="http://schemas.openxmlformats.org/officeDocument/2006/relationships/slideLayout" Target="/ppt/slideLayouts/slideLayout2.xml" Id="R082e571ed8dd410c" /><Relationship Type="http://schemas.openxmlformats.org/officeDocument/2006/relationships/slideLayout" Target="/ppt/slideLayouts/slideLayout3.xml" Id="R09c70e4e1b154ad2" /><Relationship Type="http://schemas.openxmlformats.org/officeDocument/2006/relationships/slideLayout" Target="/ppt/slideLayouts/slideLayout4.xml" Id="R4b5ddc95ae8c46f5" /><Relationship Type="http://schemas.openxmlformats.org/officeDocument/2006/relationships/slideLayout" Target="/ppt/slideLayouts/slideLayout5.xml" Id="R4125fa1884034787" /><Relationship Type="http://schemas.openxmlformats.org/officeDocument/2006/relationships/slideLayout" Target="/ppt/slideLayouts/slideLayout6.xml" Id="R9817f2c7280246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5546ccb5b54260"/>
    <p:sldLayoutId xmlns:r="http://schemas.openxmlformats.org/officeDocument/2006/relationships" id="2147483650" r:id="R082e571ed8dd410c"/>
    <p:sldLayoutId xmlns:r="http://schemas.openxmlformats.org/officeDocument/2006/relationships" id="2147483651" r:id="R09c70e4e1b154ad2"/>
    <p:sldLayoutId xmlns:r="http://schemas.openxmlformats.org/officeDocument/2006/relationships" id="2147483652" r:id="R4b5ddc95ae8c46f5"/>
    <p:sldLayoutId xmlns:r="http://schemas.openxmlformats.org/officeDocument/2006/relationships" id="2147483653" r:id="R4125fa1884034787"/>
    <p:sldLayoutId xmlns:r="http://schemas.openxmlformats.org/officeDocument/2006/relationships" id="2147483654" r:id="R9817f2c7280246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f71142adbf9479e" /><Relationship Type="http://schemas.openxmlformats.org/officeDocument/2006/relationships/notesSlide" Target="/ppt/notesSlides/notesSlide1.xml" Id="Rf87318d5d0be4a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421860e4ec4403d" /><Relationship Type="http://schemas.openxmlformats.org/officeDocument/2006/relationships/notesSlide" Target="/ppt/notesSlides/notesSlide2.xml" Id="Rb414ccda43844a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19238de935741c1" /><Relationship Type="http://schemas.openxmlformats.org/officeDocument/2006/relationships/notesSlide" Target="/ppt/notesSlides/notesSlide3.xml" Id="Reaea58a59a8b4a1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74c321c281042bb" /><Relationship Type="http://schemas.openxmlformats.org/officeDocument/2006/relationships/image" Target="/ppt/media/image.png" Id="R7c91df5cf18341af" /><Relationship Type="http://schemas.openxmlformats.org/officeDocument/2006/relationships/notesSlide" Target="/ppt/notesSlides/notesSlide4.xml" Id="R562324c2083b4c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213504d9b64ea6" /><Relationship Type="http://schemas.openxmlformats.org/officeDocument/2006/relationships/image" Target="/ppt/media/image2.png" Id="R151a40e2f1544448" /><Relationship Type="http://schemas.openxmlformats.org/officeDocument/2006/relationships/notesSlide" Target="/ppt/notesSlides/notesSlide5.xml" Id="Ra1c4d23489e843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7c8946c88124564" /><Relationship Type="http://schemas.openxmlformats.org/officeDocument/2006/relationships/notesSlide" Target="/ppt/notesSlides/notesSlide6.xml" Id="R366e38ce3ce7467d" /></Relationships>
</file>

<file path=ppt/slides/slide1.xml><?xml version="1.0" encoding="utf-8"?>
<p:sld xmlns:p="http://schemas.openxmlformats.org/presentationml/2006/main">
  <p:cSld>
    <p:bg>
      <p:bgPr>
        <a:solidFill xmlns:a="http://schemas.openxmlformats.org/drawingml/2006/main">
          <a:srgbClr val="F2F6F5"/>
        </a:solidFill>
      </p:bgPr>
    </p:bg>
    <p:spTree>
      <p:nvGrpSpPr>
        <p:cNvPr id="1" name=""/>
        <p:cNvGrpSpPr/>
        <p:nvPr/>
      </p:nvGrpSpPr>
      <p:grpSpPr>
        <a:xfrm xmlns:a="http://schemas.openxmlformats.org/drawingml/2006/main"/>
      </p:grpSpPr>
      <p:sp>
        <p:nvSpPr>
          <p:cNvPr id="8" name="01 / THE RESEARCH QUESTION">
            <a:extLst xmlns:a="http://schemas.openxmlformats.org/drawingml/2006/main">
              <a:ext uri="{FF2B5EF4-FFF2-40B4-BE49-F238E27FC236}">
                <a16:creationId xmlns:a16="http://schemas.microsoft.com/office/drawing/2014/main" id="{ADB685A3-09B0-4548-9AE8-5DB08CEE7338}"/>
              </a:ext>
            </a:extLst>
          </p:cNvPr>
          <p:cNvSpPr>
            <a:spLocks xmlns:a="http://schemas.openxmlformats.org/drawingml/2006/main" noGrp="1"/>
          </p:cNvSpPr>
          <p:nvPr/>
        </p:nvSpPr>
        <p:spPr>
          <a:xfrm xmlns:a="http://schemas.openxmlformats.org/drawingml/2006/main">
            <a:off x="609600" y="3429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176C63"/>
                </a:solidFill>
                <a:latin typeface="Arial"/>
                <a:ea typeface="Arial"/>
                <a:cs typeface="Arial"/>
              </a:defRPr>
            </a:defPPr>
            <a:lvl1pPr>
              <a:defRPr sz="1350" b="1">
                <a:solidFill>
                  <a:srgbClr val="176C63"/>
                </a:solidFill>
                <a:latin typeface="Arial"/>
                <a:ea typeface="Arial"/>
                <a:cs typeface="Arial"/>
              </a:defRPr>
            </a:lvl1pPr>
            <a:lvl2pPr>
              <a:defRPr sz="1350" b="1">
                <a:solidFill>
                  <a:srgbClr val="176C63"/>
                </a:solidFill>
                <a:latin typeface="Arial"/>
                <a:ea typeface="Arial"/>
                <a:cs typeface="Arial"/>
              </a:defRPr>
            </a:lvl2pPr>
            <a:lvl3pPr>
              <a:defRPr sz="1350" b="1">
                <a:solidFill>
                  <a:srgbClr val="176C63"/>
                </a:solidFill>
                <a:latin typeface="Arial"/>
                <a:ea typeface="Arial"/>
                <a:cs typeface="Arial"/>
              </a:defRPr>
            </a:lvl3pPr>
            <a:lvl4pPr>
              <a:defRPr sz="1350" b="1">
                <a:solidFill>
                  <a:srgbClr val="176C63"/>
                </a:solidFill>
                <a:latin typeface="Arial"/>
                <a:ea typeface="Arial"/>
                <a:cs typeface="Arial"/>
              </a:defRPr>
            </a:lvl4pPr>
            <a:lvl5pPr>
              <a:defRPr sz="1350" b="1">
                <a:solidFill>
                  <a:srgbClr val="176C63"/>
                </a:solidFill>
                <a:latin typeface="Arial"/>
                <a:ea typeface="Arial"/>
                <a:cs typeface="Arial"/>
              </a:defRPr>
            </a:lvl5pPr>
            <a:lvl6pPr>
              <a:defRPr sz="1350" b="1">
                <a:solidFill>
                  <a:srgbClr val="176C63"/>
                </a:solidFill>
                <a:latin typeface="Arial"/>
                <a:ea typeface="Arial"/>
                <a:cs typeface="Arial"/>
              </a:defRPr>
            </a:lvl6pPr>
            <a:lvl7pPr>
              <a:defRPr sz="1350" b="1">
                <a:solidFill>
                  <a:srgbClr val="176C63"/>
                </a:solidFill>
                <a:latin typeface="Arial"/>
                <a:ea typeface="Arial"/>
                <a:cs typeface="Arial"/>
              </a:defRPr>
            </a:lvl7pPr>
            <a:lvl8pPr>
              <a:defRPr sz="1350" b="1">
                <a:solidFill>
                  <a:srgbClr val="176C63"/>
                </a:solidFill>
                <a:latin typeface="Arial"/>
                <a:ea typeface="Arial"/>
                <a:cs typeface="Arial"/>
              </a:defRPr>
            </a:lvl8pPr>
            <a:lvl9pPr>
              <a:defRPr sz="1350" b="1">
                <a:solidFill>
                  <a:srgbClr val="176C63"/>
                </a:solidFill>
                <a:latin typeface="Arial"/>
                <a:ea typeface="Arial"/>
                <a:cs typeface="Arial"/>
              </a:defRPr>
            </a:lvl9pPr>
          </a:lstStyle>
          <a:p xmlns:a="http://schemas.openxmlformats.org/drawingml/2006/main">
            <a:pPr>
              <a:defRPr sz="1350" b="1">
                <a:solidFill>
                  <a:srgbClr val="176C63"/>
                </a:solidFill>
                <a:latin typeface="Arial"/>
                <a:ea typeface="Arial"/>
                <a:cs typeface="Arial"/>
              </a:defRPr>
            </a:pPr>
            <a:r>
              <a:rPr sz="1350" b="1">
                <a:solidFill>
                  <a:srgbClr val="176C63"/>
                </a:solidFill>
                <a:latin typeface="Arial"/>
                <a:ea typeface="Arial"/>
                <a:cs typeface="Arial"/>
              </a:rPr>
              <a:t>01 / THE RESEARCH QUESTION</a:t>
            </a:r>
          </a:p>
        </p:txBody>
      </p:sp>
      <p:sp>
        <p:nvSpPr>
          <p:cNvPr id="2" name="PMID 20516114 / conditional research proposal">
            <a:extLst xmlns:a="http://schemas.openxmlformats.org/drawingml/2006/main">
              <a:ext uri="{FF2B5EF4-FFF2-40B4-BE49-F238E27FC236}">
                <a16:creationId xmlns:a16="http://schemas.microsoft.com/office/drawing/2014/main" id="{53AA77B2-9D4C-4C73-B807-0D4B348CD5EB}"/>
              </a:ext>
            </a:extLst>
          </p:cNvPr>
          <p:cNvSpPr>
            <a:spLocks xmlns:a="http://schemas.openxmlformats.org/drawingml/2006/main" noGrp="1"/>
          </p:cNvSpPr>
          <p:nvPr/>
        </p:nvSpPr>
        <p:spPr>
          <a:xfrm xmlns:a="http://schemas.openxmlformats.org/drawingml/2006/main">
            <a:off x="609600" y="64198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526971"/>
                </a:solidFill>
                <a:latin typeface="Arial"/>
                <a:ea typeface="Arial"/>
                <a:cs typeface="Arial"/>
              </a:defRPr>
            </a:defPPr>
            <a:lvl1pPr>
              <a:defRPr sz="1050" b="0">
                <a:solidFill>
                  <a:srgbClr val="526971"/>
                </a:solidFill>
                <a:latin typeface="Arial"/>
                <a:ea typeface="Arial"/>
                <a:cs typeface="Arial"/>
              </a:defRPr>
            </a:lvl1pPr>
            <a:lvl2pPr>
              <a:defRPr sz="1050" b="0">
                <a:solidFill>
                  <a:srgbClr val="526971"/>
                </a:solidFill>
                <a:latin typeface="Arial"/>
                <a:ea typeface="Arial"/>
                <a:cs typeface="Arial"/>
              </a:defRPr>
            </a:lvl2pPr>
            <a:lvl3pPr>
              <a:defRPr sz="1050" b="0">
                <a:solidFill>
                  <a:srgbClr val="526971"/>
                </a:solidFill>
                <a:latin typeface="Arial"/>
                <a:ea typeface="Arial"/>
                <a:cs typeface="Arial"/>
              </a:defRPr>
            </a:lvl3pPr>
            <a:lvl4pPr>
              <a:defRPr sz="1050" b="0">
                <a:solidFill>
                  <a:srgbClr val="526971"/>
                </a:solidFill>
                <a:latin typeface="Arial"/>
                <a:ea typeface="Arial"/>
                <a:cs typeface="Arial"/>
              </a:defRPr>
            </a:lvl4pPr>
            <a:lvl5pPr>
              <a:defRPr sz="1050" b="0">
                <a:solidFill>
                  <a:srgbClr val="526971"/>
                </a:solidFill>
                <a:latin typeface="Arial"/>
                <a:ea typeface="Arial"/>
                <a:cs typeface="Arial"/>
              </a:defRPr>
            </a:lvl5pPr>
            <a:lvl6pPr>
              <a:defRPr sz="1050" b="0">
                <a:solidFill>
                  <a:srgbClr val="526971"/>
                </a:solidFill>
                <a:latin typeface="Arial"/>
                <a:ea typeface="Arial"/>
                <a:cs typeface="Arial"/>
              </a:defRPr>
            </a:lvl6pPr>
            <a:lvl7pPr>
              <a:defRPr sz="1050" b="0">
                <a:solidFill>
                  <a:srgbClr val="526971"/>
                </a:solidFill>
                <a:latin typeface="Arial"/>
                <a:ea typeface="Arial"/>
                <a:cs typeface="Arial"/>
              </a:defRPr>
            </a:lvl7pPr>
            <a:lvl8pPr>
              <a:defRPr sz="1050" b="0">
                <a:solidFill>
                  <a:srgbClr val="526971"/>
                </a:solidFill>
                <a:latin typeface="Arial"/>
                <a:ea typeface="Arial"/>
                <a:cs typeface="Arial"/>
              </a:defRPr>
            </a:lvl8pPr>
            <a:lvl9pPr>
              <a:defRPr sz="1050" b="0">
                <a:solidFill>
                  <a:srgbClr val="526971"/>
                </a:solidFill>
                <a:latin typeface="Arial"/>
                <a:ea typeface="Arial"/>
                <a:cs typeface="Arial"/>
              </a:defRPr>
            </a:lvl9pPr>
          </a:lstStyle>
          <a:p xmlns:a="http://schemas.openxmlformats.org/drawingml/2006/main">
            <a:pPr>
              <a:defRPr sz="1050" b="0">
                <a:solidFill>
                  <a:srgbClr val="526971"/>
                </a:solidFill>
                <a:latin typeface="Arial"/>
                <a:ea typeface="Arial"/>
                <a:cs typeface="Arial"/>
              </a:defRPr>
            </a:pPr>
            <a:r>
              <a:rPr sz="1050" b="0">
                <a:solidFill>
                  <a:srgbClr val="526971"/>
                </a:solidFill>
                <a:latin typeface="Arial"/>
                <a:ea typeface="Arial"/>
                <a:cs typeface="Arial"/>
              </a:rPr>
              <a:t>PMID 20516114 / conditional research proposal</a:t>
            </a:r>
          </a:p>
        </p:txBody>
      </p:sp>
      <p:sp>
        <p:nvSpPr>
          <p:cNvPr id="3" name="1">
            <a:extLst xmlns:a="http://schemas.openxmlformats.org/drawingml/2006/main">
              <a:ext uri="{FF2B5EF4-FFF2-40B4-BE49-F238E27FC236}">
                <a16:creationId xmlns:a16="http://schemas.microsoft.com/office/drawing/2014/main" id="{05576805-9A8F-415A-B772-755B9AB68C3F}"/>
              </a:ext>
            </a:extLst>
          </p:cNvPr>
          <p:cNvSpPr>
            <a:spLocks xmlns:a="http://schemas.openxmlformats.org/drawingml/2006/main" noGrp="1"/>
          </p:cNvSpPr>
          <p:nvPr/>
        </p:nvSpPr>
        <p:spPr>
          <a:xfrm xmlns:a="http://schemas.openxmlformats.org/drawingml/2006/main">
            <a:off x="11334750" y="6400800"/>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1</a:t>
            </a:r>
          </a:p>
        </p:txBody>
      </p:sp>
      <p:sp>
        <p:nvSpPr>
          <p:cNvPr id="4" name="Arimoclomol for&#10;BUB1B-MVA">
            <a:extLst xmlns:a="http://schemas.openxmlformats.org/drawingml/2006/main">
              <a:ext uri="{FF2B5EF4-FFF2-40B4-BE49-F238E27FC236}">
                <a16:creationId xmlns:a16="http://schemas.microsoft.com/office/drawing/2014/main" id="{2583EFEF-578A-4014-9D7D-12F0DFD4DECA}"/>
              </a:ext>
            </a:extLst>
          </p:cNvPr>
          <p:cNvSpPr>
            <a:spLocks xmlns:a="http://schemas.openxmlformats.org/drawingml/2006/main" noGrp="1"/>
          </p:cNvSpPr>
          <p:nvPr/>
        </p:nvSpPr>
        <p:spPr>
          <a:xfrm xmlns:a="http://schemas.openxmlformats.org/drawingml/2006/main">
            <a:off x="609600" y="12382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950" b="1">
                <a:solidFill>
                  <a:srgbClr val="17333E"/>
                </a:solidFill>
                <a:latin typeface="Arial"/>
                <a:ea typeface="Arial"/>
                <a:cs typeface="Arial"/>
              </a:defRPr>
            </a:defPPr>
            <a:lvl1pPr>
              <a:defRPr sz="4950" b="1">
                <a:solidFill>
                  <a:srgbClr val="17333E"/>
                </a:solidFill>
                <a:latin typeface="Arial"/>
                <a:ea typeface="Arial"/>
                <a:cs typeface="Arial"/>
              </a:defRPr>
            </a:lvl1pPr>
            <a:lvl2pPr>
              <a:defRPr sz="4950" b="1">
                <a:solidFill>
                  <a:srgbClr val="17333E"/>
                </a:solidFill>
                <a:latin typeface="Arial"/>
                <a:ea typeface="Arial"/>
                <a:cs typeface="Arial"/>
              </a:defRPr>
            </a:lvl2pPr>
            <a:lvl3pPr>
              <a:defRPr sz="4950" b="1">
                <a:solidFill>
                  <a:srgbClr val="17333E"/>
                </a:solidFill>
                <a:latin typeface="Arial"/>
                <a:ea typeface="Arial"/>
                <a:cs typeface="Arial"/>
              </a:defRPr>
            </a:lvl3pPr>
            <a:lvl4pPr>
              <a:defRPr sz="4950" b="1">
                <a:solidFill>
                  <a:srgbClr val="17333E"/>
                </a:solidFill>
                <a:latin typeface="Arial"/>
                <a:ea typeface="Arial"/>
                <a:cs typeface="Arial"/>
              </a:defRPr>
            </a:lvl4pPr>
            <a:lvl5pPr>
              <a:defRPr sz="4950" b="1">
                <a:solidFill>
                  <a:srgbClr val="17333E"/>
                </a:solidFill>
                <a:latin typeface="Arial"/>
                <a:ea typeface="Arial"/>
                <a:cs typeface="Arial"/>
              </a:defRPr>
            </a:lvl5pPr>
            <a:lvl6pPr>
              <a:defRPr sz="4950" b="1">
                <a:solidFill>
                  <a:srgbClr val="17333E"/>
                </a:solidFill>
                <a:latin typeface="Arial"/>
                <a:ea typeface="Arial"/>
                <a:cs typeface="Arial"/>
              </a:defRPr>
            </a:lvl6pPr>
            <a:lvl7pPr>
              <a:defRPr sz="4950" b="1">
                <a:solidFill>
                  <a:srgbClr val="17333E"/>
                </a:solidFill>
                <a:latin typeface="Arial"/>
                <a:ea typeface="Arial"/>
                <a:cs typeface="Arial"/>
              </a:defRPr>
            </a:lvl7pPr>
            <a:lvl8pPr>
              <a:defRPr sz="4950" b="1">
                <a:solidFill>
                  <a:srgbClr val="17333E"/>
                </a:solidFill>
                <a:latin typeface="Arial"/>
                <a:ea typeface="Arial"/>
                <a:cs typeface="Arial"/>
              </a:defRPr>
            </a:lvl8pPr>
            <a:lvl9pPr>
              <a:defRPr sz="4950" b="1">
                <a:solidFill>
                  <a:srgbClr val="17333E"/>
                </a:solidFill>
                <a:latin typeface="Arial"/>
                <a:ea typeface="Arial"/>
                <a:cs typeface="Arial"/>
              </a:defRPr>
            </a:lvl9pPr>
          </a:lstStyle>
          <a:p xmlns:a="http://schemas.openxmlformats.org/drawingml/2006/main">
            <a:pPr>
              <a:defRPr sz="4950" b="1">
                <a:solidFill>
                  <a:srgbClr val="17333E"/>
                </a:solidFill>
                <a:latin typeface="Arial"/>
                <a:ea typeface="Arial"/>
                <a:cs typeface="Arial"/>
              </a:defRPr>
            </a:pPr>
            <a:r>
              <a:rPr sz="4950" b="1">
                <a:solidFill>
                  <a:srgbClr val="17333E"/>
                </a:solidFill>
                <a:latin typeface="Arial"/>
                <a:ea typeface="Arial"/>
                <a:cs typeface="Arial"/>
              </a:rPr>
              <a:t>Arimoclomol for</a:t>
            </a:r>
          </a:p>
          <a:p xmlns:a="http://schemas.openxmlformats.org/drawingml/2006/main">
            <a:pPr>
              <a:defRPr sz="4950" b="1">
                <a:solidFill>
                  <a:srgbClr val="17333E"/>
                </a:solidFill>
                <a:latin typeface="Arial"/>
                <a:ea typeface="Arial"/>
                <a:cs typeface="Arial"/>
              </a:defRPr>
            </a:pPr>
            <a:r>
              <a:rPr sz="4950" b="1">
                <a:solidFill>
                  <a:srgbClr val="17333E"/>
                </a:solidFill>
                <a:latin typeface="Arial"/>
                <a:ea typeface="Arial"/>
                <a:cs typeface="Arial"/>
              </a:rPr>
              <a:t>BUB1B-MVA</a:t>
            </a:r>
          </a:p>
        </p:txBody>
      </p:sp>
      <p:sp>
        <p:nvSpPr>
          <p:cNvPr id="5" name="Can functional BubR1 be restored?">
            <a:extLst xmlns:a="http://schemas.openxmlformats.org/drawingml/2006/main">
              <a:ext uri="{FF2B5EF4-FFF2-40B4-BE49-F238E27FC236}">
                <a16:creationId xmlns:a16="http://schemas.microsoft.com/office/drawing/2014/main" id="{35FC44C4-1D65-4391-81A6-4B54265C4360}"/>
              </a:ext>
            </a:extLst>
          </p:cNvPr>
          <p:cNvSpPr>
            <a:spLocks xmlns:a="http://schemas.openxmlformats.org/drawingml/2006/main" noGrp="1"/>
          </p:cNvSpPr>
          <p:nvPr/>
        </p:nvSpPr>
        <p:spPr>
          <a:xfrm xmlns:a="http://schemas.openxmlformats.org/drawingml/2006/main">
            <a:off x="609600" y="342900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450" b="1">
                <a:solidFill>
                  <a:srgbClr val="176C63"/>
                </a:solidFill>
                <a:latin typeface="Arial"/>
                <a:ea typeface="Arial"/>
                <a:cs typeface="Arial"/>
              </a:defRPr>
            </a:defPPr>
            <a:lvl1pPr>
              <a:defRPr sz="3450" b="1">
                <a:solidFill>
                  <a:srgbClr val="176C63"/>
                </a:solidFill>
                <a:latin typeface="Arial"/>
                <a:ea typeface="Arial"/>
                <a:cs typeface="Arial"/>
              </a:defRPr>
            </a:lvl1pPr>
            <a:lvl2pPr>
              <a:defRPr sz="3450" b="1">
                <a:solidFill>
                  <a:srgbClr val="176C63"/>
                </a:solidFill>
                <a:latin typeface="Arial"/>
                <a:ea typeface="Arial"/>
                <a:cs typeface="Arial"/>
              </a:defRPr>
            </a:lvl2pPr>
            <a:lvl3pPr>
              <a:defRPr sz="3450" b="1">
                <a:solidFill>
                  <a:srgbClr val="176C63"/>
                </a:solidFill>
                <a:latin typeface="Arial"/>
                <a:ea typeface="Arial"/>
                <a:cs typeface="Arial"/>
              </a:defRPr>
            </a:lvl3pPr>
            <a:lvl4pPr>
              <a:defRPr sz="3450" b="1">
                <a:solidFill>
                  <a:srgbClr val="176C63"/>
                </a:solidFill>
                <a:latin typeface="Arial"/>
                <a:ea typeface="Arial"/>
                <a:cs typeface="Arial"/>
              </a:defRPr>
            </a:lvl4pPr>
            <a:lvl5pPr>
              <a:defRPr sz="3450" b="1">
                <a:solidFill>
                  <a:srgbClr val="176C63"/>
                </a:solidFill>
                <a:latin typeface="Arial"/>
                <a:ea typeface="Arial"/>
                <a:cs typeface="Arial"/>
              </a:defRPr>
            </a:lvl5pPr>
            <a:lvl6pPr>
              <a:defRPr sz="3450" b="1">
                <a:solidFill>
                  <a:srgbClr val="176C63"/>
                </a:solidFill>
                <a:latin typeface="Arial"/>
                <a:ea typeface="Arial"/>
                <a:cs typeface="Arial"/>
              </a:defRPr>
            </a:lvl6pPr>
            <a:lvl7pPr>
              <a:defRPr sz="3450" b="1">
                <a:solidFill>
                  <a:srgbClr val="176C63"/>
                </a:solidFill>
                <a:latin typeface="Arial"/>
                <a:ea typeface="Arial"/>
                <a:cs typeface="Arial"/>
              </a:defRPr>
            </a:lvl7pPr>
            <a:lvl8pPr>
              <a:defRPr sz="3450" b="1">
                <a:solidFill>
                  <a:srgbClr val="176C63"/>
                </a:solidFill>
                <a:latin typeface="Arial"/>
                <a:ea typeface="Arial"/>
                <a:cs typeface="Arial"/>
              </a:defRPr>
            </a:lvl8pPr>
            <a:lvl9pPr>
              <a:defRPr sz="3450" b="1">
                <a:solidFill>
                  <a:srgbClr val="176C63"/>
                </a:solidFill>
                <a:latin typeface="Arial"/>
                <a:ea typeface="Arial"/>
                <a:cs typeface="Arial"/>
              </a:defRPr>
            </a:lvl9pPr>
          </a:lstStyle>
          <a:p xmlns:a="http://schemas.openxmlformats.org/drawingml/2006/main">
            <a:pPr>
              <a:defRPr sz="3450" b="1">
                <a:solidFill>
                  <a:srgbClr val="176C63"/>
                </a:solidFill>
                <a:latin typeface="Arial"/>
                <a:ea typeface="Arial"/>
                <a:cs typeface="Arial"/>
              </a:defRPr>
            </a:pPr>
            <a:r>
              <a:rPr sz="3450" b="1">
                <a:solidFill>
                  <a:srgbClr val="176C63"/>
                </a:solidFill>
                <a:latin typeface="Arial"/>
                <a:ea typeface="Arial"/>
                <a:cs typeface="Arial"/>
              </a:rPr>
              <a:t>Can functional BubR1 be restored?</a:t>
            </a:r>
          </a:p>
        </p:txBody>
      </p:sp>
      <p:sp>
        <p:nvSpPr>
          <p:cNvPr id="6" name="Conditional laboratory candidate">
            <a:extLst xmlns:a="http://schemas.openxmlformats.org/drawingml/2006/main">
              <a:ext uri="{FF2B5EF4-FFF2-40B4-BE49-F238E27FC236}">
                <a16:creationId xmlns:a16="http://schemas.microsoft.com/office/drawing/2014/main" id="{2BB56AE7-AC13-42C1-9D11-DF0B8242BB9C}"/>
              </a:ext>
            </a:extLst>
          </p:cNvPr>
          <p:cNvSpPr>
            <a:spLocks xmlns:a="http://schemas.openxmlformats.org/drawingml/2006/main" noGrp="1"/>
          </p:cNvSpPr>
          <p:nvPr/>
        </p:nvSpPr>
        <p:spPr>
          <a:xfrm xmlns:a="http://schemas.openxmlformats.org/drawingml/2006/main">
            <a:off x="609600" y="4629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7333E"/>
                </a:solidFill>
                <a:latin typeface="Arial"/>
                <a:ea typeface="Arial"/>
                <a:cs typeface="Arial"/>
              </a:defRPr>
            </a:defPPr>
            <a:lvl1pPr>
              <a:defRPr sz="2250" b="0">
                <a:solidFill>
                  <a:srgbClr val="17333E"/>
                </a:solidFill>
                <a:latin typeface="Arial"/>
                <a:ea typeface="Arial"/>
                <a:cs typeface="Arial"/>
              </a:defRPr>
            </a:lvl1pPr>
            <a:lvl2pPr>
              <a:defRPr sz="2250" b="0">
                <a:solidFill>
                  <a:srgbClr val="17333E"/>
                </a:solidFill>
                <a:latin typeface="Arial"/>
                <a:ea typeface="Arial"/>
                <a:cs typeface="Arial"/>
              </a:defRPr>
            </a:lvl2pPr>
            <a:lvl3pPr>
              <a:defRPr sz="2250" b="0">
                <a:solidFill>
                  <a:srgbClr val="17333E"/>
                </a:solidFill>
                <a:latin typeface="Arial"/>
                <a:ea typeface="Arial"/>
                <a:cs typeface="Arial"/>
              </a:defRPr>
            </a:lvl3pPr>
            <a:lvl4pPr>
              <a:defRPr sz="2250" b="0">
                <a:solidFill>
                  <a:srgbClr val="17333E"/>
                </a:solidFill>
                <a:latin typeface="Arial"/>
                <a:ea typeface="Arial"/>
                <a:cs typeface="Arial"/>
              </a:defRPr>
            </a:lvl4pPr>
            <a:lvl5pPr>
              <a:defRPr sz="2250" b="0">
                <a:solidFill>
                  <a:srgbClr val="17333E"/>
                </a:solidFill>
                <a:latin typeface="Arial"/>
                <a:ea typeface="Arial"/>
                <a:cs typeface="Arial"/>
              </a:defRPr>
            </a:lvl5pPr>
            <a:lvl6pPr>
              <a:defRPr sz="2250" b="0">
                <a:solidFill>
                  <a:srgbClr val="17333E"/>
                </a:solidFill>
                <a:latin typeface="Arial"/>
                <a:ea typeface="Arial"/>
                <a:cs typeface="Arial"/>
              </a:defRPr>
            </a:lvl6pPr>
            <a:lvl7pPr>
              <a:defRPr sz="2250" b="0">
                <a:solidFill>
                  <a:srgbClr val="17333E"/>
                </a:solidFill>
                <a:latin typeface="Arial"/>
                <a:ea typeface="Arial"/>
                <a:cs typeface="Arial"/>
              </a:defRPr>
            </a:lvl7pPr>
            <a:lvl8pPr>
              <a:defRPr sz="2250" b="0">
                <a:solidFill>
                  <a:srgbClr val="17333E"/>
                </a:solidFill>
                <a:latin typeface="Arial"/>
                <a:ea typeface="Arial"/>
                <a:cs typeface="Arial"/>
              </a:defRPr>
            </a:lvl8pPr>
            <a:lvl9pPr>
              <a:defRPr sz="2250" b="0">
                <a:solidFill>
                  <a:srgbClr val="17333E"/>
                </a:solidFill>
                <a:latin typeface="Arial"/>
                <a:ea typeface="Arial"/>
                <a:cs typeface="Arial"/>
              </a:defRPr>
            </a:lvl9pPr>
          </a:lstStyle>
          <a:p xmlns:a="http://schemas.openxmlformats.org/drawingml/2006/main">
            <a:pPr>
              <a:defRPr sz="2250" b="0">
                <a:solidFill>
                  <a:srgbClr val="17333E"/>
                </a:solidFill>
                <a:latin typeface="Arial"/>
                <a:ea typeface="Arial"/>
                <a:cs typeface="Arial"/>
              </a:defRPr>
            </a:pPr>
            <a:r>
              <a:rPr sz="2250" b="0">
                <a:solidFill>
                  <a:srgbClr val="17333E"/>
                </a:solidFill>
                <a:latin typeface="Arial"/>
                <a:ea typeface="Arial"/>
                <a:cs typeface="Arial"/>
              </a:rPr>
              <a:t>Conditional laboratory candidate</a:t>
            </a:r>
          </a:p>
        </p:txBody>
      </p:sp>
      <p:sp>
        <p:nvSpPr>
          <p:cNvPr id="7" name="N1002K function and drug rescue remain unmeas">
            <a:extLst xmlns:a="http://schemas.openxmlformats.org/drawingml/2006/main">
              <a:ext uri="{FF2B5EF4-FFF2-40B4-BE49-F238E27FC236}">
                <a16:creationId xmlns:a16="http://schemas.microsoft.com/office/drawing/2014/main" id="{7A669689-540D-485D-87AF-E9228400D8FB}"/>
              </a:ext>
            </a:extLst>
          </p:cNvPr>
          <p:cNvSpPr>
            <a:spLocks xmlns:a="http://schemas.openxmlformats.org/drawingml/2006/main" noGrp="1"/>
          </p:cNvSpPr>
          <p:nvPr/>
        </p:nvSpPr>
        <p:spPr>
          <a:xfrm xmlns:a="http://schemas.openxmlformats.org/drawingml/2006/main">
            <a:off x="609600" y="523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526971"/>
                </a:solidFill>
                <a:latin typeface="Arial"/>
                <a:ea typeface="Arial"/>
                <a:cs typeface="Arial"/>
              </a:defRPr>
            </a:defPPr>
            <a:lvl1pPr>
              <a:defRPr sz="2100" b="0">
                <a:solidFill>
                  <a:srgbClr val="526971"/>
                </a:solidFill>
                <a:latin typeface="Arial"/>
                <a:ea typeface="Arial"/>
                <a:cs typeface="Arial"/>
              </a:defRPr>
            </a:lvl1pPr>
            <a:lvl2pPr>
              <a:defRPr sz="2100" b="0">
                <a:solidFill>
                  <a:srgbClr val="526971"/>
                </a:solidFill>
                <a:latin typeface="Arial"/>
                <a:ea typeface="Arial"/>
                <a:cs typeface="Arial"/>
              </a:defRPr>
            </a:lvl2pPr>
            <a:lvl3pPr>
              <a:defRPr sz="2100" b="0">
                <a:solidFill>
                  <a:srgbClr val="526971"/>
                </a:solidFill>
                <a:latin typeface="Arial"/>
                <a:ea typeface="Arial"/>
                <a:cs typeface="Arial"/>
              </a:defRPr>
            </a:lvl3pPr>
            <a:lvl4pPr>
              <a:defRPr sz="2100" b="0">
                <a:solidFill>
                  <a:srgbClr val="526971"/>
                </a:solidFill>
                <a:latin typeface="Arial"/>
                <a:ea typeface="Arial"/>
                <a:cs typeface="Arial"/>
              </a:defRPr>
            </a:lvl4pPr>
            <a:lvl5pPr>
              <a:defRPr sz="2100" b="0">
                <a:solidFill>
                  <a:srgbClr val="526971"/>
                </a:solidFill>
                <a:latin typeface="Arial"/>
                <a:ea typeface="Arial"/>
                <a:cs typeface="Arial"/>
              </a:defRPr>
            </a:lvl5pPr>
            <a:lvl6pPr>
              <a:defRPr sz="2100" b="0">
                <a:solidFill>
                  <a:srgbClr val="526971"/>
                </a:solidFill>
                <a:latin typeface="Arial"/>
                <a:ea typeface="Arial"/>
                <a:cs typeface="Arial"/>
              </a:defRPr>
            </a:lvl6pPr>
            <a:lvl7pPr>
              <a:defRPr sz="2100" b="0">
                <a:solidFill>
                  <a:srgbClr val="526971"/>
                </a:solidFill>
                <a:latin typeface="Arial"/>
                <a:ea typeface="Arial"/>
                <a:cs typeface="Arial"/>
              </a:defRPr>
            </a:lvl7pPr>
            <a:lvl8pPr>
              <a:defRPr sz="2100" b="0">
                <a:solidFill>
                  <a:srgbClr val="526971"/>
                </a:solidFill>
                <a:latin typeface="Arial"/>
                <a:ea typeface="Arial"/>
                <a:cs typeface="Arial"/>
              </a:defRPr>
            </a:lvl8pPr>
            <a:lvl9pPr>
              <a:defRPr sz="2100" b="0">
                <a:solidFill>
                  <a:srgbClr val="526971"/>
                </a:solidFill>
                <a:latin typeface="Arial"/>
                <a:ea typeface="Arial"/>
                <a:cs typeface="Arial"/>
              </a:defRPr>
            </a:lvl9pPr>
          </a:lstStyle>
          <a:p xmlns:a="http://schemas.openxmlformats.org/drawingml/2006/main">
            <a:pPr>
              <a:defRPr sz="2100" b="0">
                <a:solidFill>
                  <a:srgbClr val="526971"/>
                </a:solidFill>
                <a:latin typeface="Arial"/>
                <a:ea typeface="Arial"/>
                <a:cs typeface="Arial"/>
              </a:defRPr>
            </a:pPr>
            <a:r>
              <a:rPr sz="2100" b="0">
                <a:solidFill>
                  <a:srgbClr val="526971"/>
                </a:solidFill>
                <a:latin typeface="Arial"/>
                <a:ea typeface="Arial"/>
                <a:cs typeface="Arial"/>
              </a:rPr>
              <a:t>N1002K function and drug rescue remain unmeasured</a:t>
            </a:r>
          </a:p>
        </p:txBody>
      </p:sp>
    </p:spTree>
    <p:extLst>
      <p:ext uri="{BB962C8B-B14F-4D97-AF65-F5344CB8AC3E}">
        <p14:creationId xmlns:p14="http://schemas.microsoft.com/office/powerpoint/2010/main" val="1312196261"/>
      </p:ext>
    </p:extLst>
  </p:cSld>
</p:sld>
</file>

<file path=ppt/slides/slide2.xml><?xml version="1.0" encoding="utf-8"?>
<p:sld xmlns:p="http://schemas.openxmlformats.org/presentationml/2006/main">
  <p:cSld>
    <p:bg>
      <p:bgPr>
        <a:solidFill xmlns:a="http://schemas.openxmlformats.org/drawingml/2006/main">
          <a:srgbClr val="F2F6F5"/>
        </a:solidFill>
      </p:bgPr>
    </p:bg>
    <p:spTree>
      <p:nvGrpSpPr>
        <p:cNvPr id="1" name=""/>
        <p:cNvGrpSpPr/>
        <p:nvPr/>
      </p:nvGrpSpPr>
      <p:grpSpPr>
        <a:xfrm xmlns:a="http://schemas.openxmlformats.org/drawingml/2006/main"/>
      </p:grpSpPr>
      <p:sp>
        <p:nvSpPr>
          <p:cNvPr id="8" name="02 / THE COMPARISON">
            <a:extLst xmlns:a="http://schemas.openxmlformats.org/drawingml/2006/main">
              <a:ext uri="{FF2B5EF4-FFF2-40B4-BE49-F238E27FC236}">
                <a16:creationId xmlns:a16="http://schemas.microsoft.com/office/drawing/2014/main" id="{BE197E96-F6E5-4D56-B173-9EBD97966710}"/>
              </a:ext>
            </a:extLst>
          </p:cNvPr>
          <p:cNvSpPr>
            <a:spLocks xmlns:a="http://schemas.openxmlformats.org/drawingml/2006/main" noGrp="1"/>
          </p:cNvSpPr>
          <p:nvPr/>
        </p:nvSpPr>
        <p:spPr>
          <a:xfrm xmlns:a="http://schemas.openxmlformats.org/drawingml/2006/main">
            <a:off x="609600" y="3429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176C63"/>
                </a:solidFill>
                <a:latin typeface="Arial"/>
                <a:ea typeface="Arial"/>
                <a:cs typeface="Arial"/>
              </a:defRPr>
            </a:defPPr>
            <a:lvl1pPr>
              <a:defRPr sz="1350" b="1">
                <a:solidFill>
                  <a:srgbClr val="176C63"/>
                </a:solidFill>
                <a:latin typeface="Arial"/>
                <a:ea typeface="Arial"/>
                <a:cs typeface="Arial"/>
              </a:defRPr>
            </a:lvl1pPr>
            <a:lvl2pPr>
              <a:defRPr sz="1350" b="1">
                <a:solidFill>
                  <a:srgbClr val="176C63"/>
                </a:solidFill>
                <a:latin typeface="Arial"/>
                <a:ea typeface="Arial"/>
                <a:cs typeface="Arial"/>
              </a:defRPr>
            </a:lvl2pPr>
            <a:lvl3pPr>
              <a:defRPr sz="1350" b="1">
                <a:solidFill>
                  <a:srgbClr val="176C63"/>
                </a:solidFill>
                <a:latin typeface="Arial"/>
                <a:ea typeface="Arial"/>
                <a:cs typeface="Arial"/>
              </a:defRPr>
            </a:lvl3pPr>
            <a:lvl4pPr>
              <a:defRPr sz="1350" b="1">
                <a:solidFill>
                  <a:srgbClr val="176C63"/>
                </a:solidFill>
                <a:latin typeface="Arial"/>
                <a:ea typeface="Arial"/>
                <a:cs typeface="Arial"/>
              </a:defRPr>
            </a:lvl4pPr>
            <a:lvl5pPr>
              <a:defRPr sz="1350" b="1">
                <a:solidFill>
                  <a:srgbClr val="176C63"/>
                </a:solidFill>
                <a:latin typeface="Arial"/>
                <a:ea typeface="Arial"/>
                <a:cs typeface="Arial"/>
              </a:defRPr>
            </a:lvl5pPr>
            <a:lvl6pPr>
              <a:defRPr sz="1350" b="1">
                <a:solidFill>
                  <a:srgbClr val="176C63"/>
                </a:solidFill>
                <a:latin typeface="Arial"/>
                <a:ea typeface="Arial"/>
                <a:cs typeface="Arial"/>
              </a:defRPr>
            </a:lvl6pPr>
            <a:lvl7pPr>
              <a:defRPr sz="1350" b="1">
                <a:solidFill>
                  <a:srgbClr val="176C63"/>
                </a:solidFill>
                <a:latin typeface="Arial"/>
                <a:ea typeface="Arial"/>
                <a:cs typeface="Arial"/>
              </a:defRPr>
            </a:lvl7pPr>
            <a:lvl8pPr>
              <a:defRPr sz="1350" b="1">
                <a:solidFill>
                  <a:srgbClr val="176C63"/>
                </a:solidFill>
                <a:latin typeface="Arial"/>
                <a:ea typeface="Arial"/>
                <a:cs typeface="Arial"/>
              </a:defRPr>
            </a:lvl8pPr>
            <a:lvl9pPr>
              <a:defRPr sz="1350" b="1">
                <a:solidFill>
                  <a:srgbClr val="176C63"/>
                </a:solidFill>
                <a:latin typeface="Arial"/>
                <a:ea typeface="Arial"/>
                <a:cs typeface="Arial"/>
              </a:defRPr>
            </a:lvl9pPr>
          </a:lstStyle>
          <a:p xmlns:a="http://schemas.openxmlformats.org/drawingml/2006/main">
            <a:pPr>
              <a:defRPr sz="1350" b="1">
                <a:solidFill>
                  <a:srgbClr val="176C63"/>
                </a:solidFill>
                <a:latin typeface="Arial"/>
                <a:ea typeface="Arial"/>
                <a:cs typeface="Arial"/>
              </a:defRPr>
            </a:pPr>
            <a:r>
              <a:rPr sz="1350" b="1">
                <a:solidFill>
                  <a:srgbClr val="176C63"/>
                </a:solidFill>
                <a:latin typeface="Arial"/>
                <a:ea typeface="Arial"/>
                <a:cs typeface="Arial"/>
              </a:rPr>
              <a:t>02 / THE COMPARISON</a:t>
            </a:r>
          </a:p>
        </p:txBody>
      </p:sp>
      <p:sp>
        <p:nvSpPr>
          <p:cNvPr id="2" name="The candidate must beat credible alternatives">
            <a:extLst xmlns:a="http://schemas.openxmlformats.org/drawingml/2006/main">
              <a:ext uri="{FF2B5EF4-FFF2-40B4-BE49-F238E27FC236}">
                <a16:creationId xmlns:a16="http://schemas.microsoft.com/office/drawing/2014/main" id="{6ED2297E-BBDC-4559-9336-A4342BE3AB57}"/>
              </a:ext>
            </a:extLst>
          </p:cNvPr>
          <p:cNvSpPr>
            <a:spLocks xmlns:a="http://schemas.openxmlformats.org/drawingml/2006/main" noGrp="1"/>
          </p:cNvSpPr>
          <p:nvPr/>
        </p:nvSpPr>
        <p:spPr>
          <a:xfrm xmlns:a="http://schemas.openxmlformats.org/drawingml/2006/main">
            <a:off x="609600" y="8191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7333E"/>
                </a:solidFill>
                <a:latin typeface="Arial"/>
                <a:ea typeface="Arial"/>
                <a:cs typeface="Arial"/>
              </a:defRPr>
            </a:defPPr>
            <a:lvl1pPr>
              <a:defRPr sz="3150" b="1">
                <a:solidFill>
                  <a:srgbClr val="17333E"/>
                </a:solidFill>
                <a:latin typeface="Arial"/>
                <a:ea typeface="Arial"/>
                <a:cs typeface="Arial"/>
              </a:defRPr>
            </a:lvl1pPr>
            <a:lvl2pPr>
              <a:defRPr sz="3150" b="1">
                <a:solidFill>
                  <a:srgbClr val="17333E"/>
                </a:solidFill>
                <a:latin typeface="Arial"/>
                <a:ea typeface="Arial"/>
                <a:cs typeface="Arial"/>
              </a:defRPr>
            </a:lvl2pPr>
            <a:lvl3pPr>
              <a:defRPr sz="3150" b="1">
                <a:solidFill>
                  <a:srgbClr val="17333E"/>
                </a:solidFill>
                <a:latin typeface="Arial"/>
                <a:ea typeface="Arial"/>
                <a:cs typeface="Arial"/>
              </a:defRPr>
            </a:lvl3pPr>
            <a:lvl4pPr>
              <a:defRPr sz="3150" b="1">
                <a:solidFill>
                  <a:srgbClr val="17333E"/>
                </a:solidFill>
                <a:latin typeface="Arial"/>
                <a:ea typeface="Arial"/>
                <a:cs typeface="Arial"/>
              </a:defRPr>
            </a:lvl4pPr>
            <a:lvl5pPr>
              <a:defRPr sz="3150" b="1">
                <a:solidFill>
                  <a:srgbClr val="17333E"/>
                </a:solidFill>
                <a:latin typeface="Arial"/>
                <a:ea typeface="Arial"/>
                <a:cs typeface="Arial"/>
              </a:defRPr>
            </a:lvl5pPr>
            <a:lvl6pPr>
              <a:defRPr sz="3150" b="1">
                <a:solidFill>
                  <a:srgbClr val="17333E"/>
                </a:solidFill>
                <a:latin typeface="Arial"/>
                <a:ea typeface="Arial"/>
                <a:cs typeface="Arial"/>
              </a:defRPr>
            </a:lvl6pPr>
            <a:lvl7pPr>
              <a:defRPr sz="3150" b="1">
                <a:solidFill>
                  <a:srgbClr val="17333E"/>
                </a:solidFill>
                <a:latin typeface="Arial"/>
                <a:ea typeface="Arial"/>
                <a:cs typeface="Arial"/>
              </a:defRPr>
            </a:lvl7pPr>
            <a:lvl8pPr>
              <a:defRPr sz="3150" b="1">
                <a:solidFill>
                  <a:srgbClr val="17333E"/>
                </a:solidFill>
                <a:latin typeface="Arial"/>
                <a:ea typeface="Arial"/>
                <a:cs typeface="Arial"/>
              </a:defRPr>
            </a:lvl8pPr>
            <a:lvl9pPr>
              <a:defRPr sz="3150" b="1">
                <a:solidFill>
                  <a:srgbClr val="17333E"/>
                </a:solidFill>
                <a:latin typeface="Arial"/>
                <a:ea typeface="Arial"/>
                <a:cs typeface="Arial"/>
              </a:defRPr>
            </a:lvl9pPr>
          </a:lstStyle>
          <a:p xmlns:a="http://schemas.openxmlformats.org/drawingml/2006/main">
            <a:pPr>
              <a:defRPr sz="3150" b="1">
                <a:solidFill>
                  <a:srgbClr val="17333E"/>
                </a:solidFill>
                <a:latin typeface="Arial"/>
                <a:ea typeface="Arial"/>
                <a:cs typeface="Arial"/>
              </a:defRPr>
            </a:pPr>
            <a:r>
              <a:rPr sz="3150" b="1">
                <a:solidFill>
                  <a:srgbClr val="17333E"/>
                </a:solidFill>
                <a:latin typeface="Arial"/>
                <a:ea typeface="Arial"/>
                <a:cs typeface="Arial"/>
              </a:rPr>
              <a:t>The candidate must beat credible alternatives</a:t>
            </a:r>
          </a:p>
        </p:txBody>
      </p:sp>
      <p:sp>
        <p:nvSpPr>
          <p:cNvPr id="3" name="Different evidence strengths, one unresolved ">
            <a:extLst xmlns:a="http://schemas.openxmlformats.org/drawingml/2006/main">
              <a:ext uri="{FF2B5EF4-FFF2-40B4-BE49-F238E27FC236}">
                <a16:creationId xmlns:a16="http://schemas.microsoft.com/office/drawing/2014/main" id="{A3C5EB06-135B-4CFF-A836-33D6E731648D}"/>
              </a:ext>
            </a:extLst>
          </p:cNvPr>
          <p:cNvSpPr>
            <a:spLocks xmlns:a="http://schemas.openxmlformats.org/drawingml/2006/main" noGrp="1"/>
          </p:cNvSpPr>
          <p:nvPr/>
        </p:nvSpPr>
        <p:spPr>
          <a:xfrm xmlns:a="http://schemas.openxmlformats.org/drawingml/2006/main">
            <a:off x="609600" y="147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Different evidence strengths, one unresolved functional question</a:t>
            </a:r>
          </a:p>
        </p:txBody>
      </p:sp>
      <p:sp>
        <p:nvSpPr>
          <p:cNvPr id="4" name="PMIDs 31900865, 24825348, 22069317 / MIPLYFFA">
            <a:extLst xmlns:a="http://schemas.openxmlformats.org/drawingml/2006/main">
              <a:ext uri="{FF2B5EF4-FFF2-40B4-BE49-F238E27FC236}">
                <a16:creationId xmlns:a16="http://schemas.microsoft.com/office/drawing/2014/main" id="{861B76DF-41B3-402B-85F2-B988EAB7DA9A}"/>
              </a:ext>
            </a:extLst>
          </p:cNvPr>
          <p:cNvSpPr>
            <a:spLocks xmlns:a="http://schemas.openxmlformats.org/drawingml/2006/main" noGrp="1"/>
          </p:cNvSpPr>
          <p:nvPr/>
        </p:nvSpPr>
        <p:spPr>
          <a:xfrm xmlns:a="http://schemas.openxmlformats.org/drawingml/2006/main">
            <a:off x="609600" y="64198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526971"/>
                </a:solidFill>
                <a:latin typeface="Arial"/>
                <a:ea typeface="Arial"/>
                <a:cs typeface="Arial"/>
              </a:defRPr>
            </a:defPPr>
            <a:lvl1pPr>
              <a:defRPr sz="1050" b="0">
                <a:solidFill>
                  <a:srgbClr val="526971"/>
                </a:solidFill>
                <a:latin typeface="Arial"/>
                <a:ea typeface="Arial"/>
                <a:cs typeface="Arial"/>
              </a:defRPr>
            </a:lvl1pPr>
            <a:lvl2pPr>
              <a:defRPr sz="1050" b="0">
                <a:solidFill>
                  <a:srgbClr val="526971"/>
                </a:solidFill>
                <a:latin typeface="Arial"/>
                <a:ea typeface="Arial"/>
                <a:cs typeface="Arial"/>
              </a:defRPr>
            </a:lvl2pPr>
            <a:lvl3pPr>
              <a:defRPr sz="1050" b="0">
                <a:solidFill>
                  <a:srgbClr val="526971"/>
                </a:solidFill>
                <a:latin typeface="Arial"/>
                <a:ea typeface="Arial"/>
                <a:cs typeface="Arial"/>
              </a:defRPr>
            </a:lvl3pPr>
            <a:lvl4pPr>
              <a:defRPr sz="1050" b="0">
                <a:solidFill>
                  <a:srgbClr val="526971"/>
                </a:solidFill>
                <a:latin typeface="Arial"/>
                <a:ea typeface="Arial"/>
                <a:cs typeface="Arial"/>
              </a:defRPr>
            </a:lvl4pPr>
            <a:lvl5pPr>
              <a:defRPr sz="1050" b="0">
                <a:solidFill>
                  <a:srgbClr val="526971"/>
                </a:solidFill>
                <a:latin typeface="Arial"/>
                <a:ea typeface="Arial"/>
                <a:cs typeface="Arial"/>
              </a:defRPr>
            </a:lvl5pPr>
            <a:lvl6pPr>
              <a:defRPr sz="1050" b="0">
                <a:solidFill>
                  <a:srgbClr val="526971"/>
                </a:solidFill>
                <a:latin typeface="Arial"/>
                <a:ea typeface="Arial"/>
                <a:cs typeface="Arial"/>
              </a:defRPr>
            </a:lvl6pPr>
            <a:lvl7pPr>
              <a:defRPr sz="1050" b="0">
                <a:solidFill>
                  <a:srgbClr val="526971"/>
                </a:solidFill>
                <a:latin typeface="Arial"/>
                <a:ea typeface="Arial"/>
                <a:cs typeface="Arial"/>
              </a:defRPr>
            </a:lvl7pPr>
            <a:lvl8pPr>
              <a:defRPr sz="1050" b="0">
                <a:solidFill>
                  <a:srgbClr val="526971"/>
                </a:solidFill>
                <a:latin typeface="Arial"/>
                <a:ea typeface="Arial"/>
                <a:cs typeface="Arial"/>
              </a:defRPr>
            </a:lvl8pPr>
            <a:lvl9pPr>
              <a:defRPr sz="1050" b="0">
                <a:solidFill>
                  <a:srgbClr val="526971"/>
                </a:solidFill>
                <a:latin typeface="Arial"/>
                <a:ea typeface="Arial"/>
                <a:cs typeface="Arial"/>
              </a:defRPr>
            </a:lvl9pPr>
          </a:lstStyle>
          <a:p xmlns:a="http://schemas.openxmlformats.org/drawingml/2006/main">
            <a:pPr>
              <a:defRPr sz="1050" b="0">
                <a:solidFill>
                  <a:srgbClr val="526971"/>
                </a:solidFill>
                <a:latin typeface="Arial"/>
                <a:ea typeface="Arial"/>
                <a:cs typeface="Arial"/>
              </a:defRPr>
            </a:pPr>
            <a:r>
              <a:rPr sz="1050" b="0">
                <a:solidFill>
                  <a:srgbClr val="526971"/>
                </a:solidFill>
                <a:latin typeface="Arial"/>
                <a:ea typeface="Arial"/>
                <a:cs typeface="Arial"/>
              </a:rPr>
              <a:t>PMIDs 31900865, 24825348, 22069317 / MIPLYFFA and BUPHENYL labels</a:t>
            </a:r>
          </a:p>
        </p:txBody>
      </p:sp>
      <p:sp>
        <p:nvSpPr>
          <p:cNvPr id="5" name="2">
            <a:extLst xmlns:a="http://schemas.openxmlformats.org/drawingml/2006/main">
              <a:ext uri="{FF2B5EF4-FFF2-40B4-BE49-F238E27FC236}">
                <a16:creationId xmlns:a16="http://schemas.microsoft.com/office/drawing/2014/main" id="{B8109330-5F19-44C2-841F-C9C6AAE87572}"/>
              </a:ext>
            </a:extLst>
          </p:cNvPr>
          <p:cNvSpPr>
            <a:spLocks xmlns:a="http://schemas.openxmlformats.org/drawingml/2006/main" noGrp="1"/>
          </p:cNvSpPr>
          <p:nvPr/>
        </p:nvSpPr>
        <p:spPr>
          <a:xfrm xmlns:a="http://schemas.openxmlformats.org/drawingml/2006/main">
            <a:off x="11334750" y="6400800"/>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2</a:t>
            </a:r>
          </a:p>
        </p:txBody>
      </p:sp>
      <p:graphicFrame>
        <p:nvGraphicFramePr>
          <p:cNvPr id="6" name="">
            <a:extLst xmlns:a="http://schemas.openxmlformats.org/drawingml/2006/main">
              <a:ext uri="{FF2B5EF4-FFF2-40B4-BE49-F238E27FC236}">
                <a16:creationId xmlns:a16="http://schemas.microsoft.com/office/drawing/2014/main" id="{17C9AA8F-17A8-4AD2-8827-C5758B2C0EA8}"/>
              </a:ext>
            </a:extLst>
          </p:cNvPr>
          <p:cNvGraphicFramePr/>
          <p:nvPr/>
        </p:nvGraphicFramePr>
        <p:xfrm>
          <a:off xmlns:a="http://schemas.openxmlformats.org/drawingml/2006/main" x="609600" y="2114550"/>
          <a:ext xmlns:a="http://schemas.openxmlformats.org/drawingml/2006/main" cx="10972800" cy="3238500"/>
        </p:xfrm>
        <a:graphic xmlns:a="http://schemas.openxmlformats.org/drawingml/2006/main">
          <a:graphicData uri="http://schemas.openxmlformats.org/drawingml/2006/table">
            <a:tbl>
              <a:tblPr/>
              <a:tblGrid>
                <a:gridCol w="2238375"/>
                <a:gridCol w="4667250"/>
                <a:gridCol w="4067175"/>
              </a:tblGrid>
              <a:tr h="809625">
                <a:tc>
                  <a:txBody>
                    <a:bodyPr/>
                    <a:lstStyle/>
                    <a:p>
                      <a:r>
                        <a:rPr sz="1950" b="1">
                          <a:solidFill>
                            <a:srgbClr val="FFFFFF"/>
                          </a:solidFill>
                          <a:latin typeface="Arial"/>
                          <a:ea typeface="Arial"/>
                          <a:cs typeface="Arial"/>
                        </a:rPr>
                        <a:t>Candidate</a:t>
                      </a:r>
                    </a:p>
                  </a:txBody>
                  <a:tcPr marL="142875" marR="142875" marT="114300" marB="95250" anchor="ctr">
                    <a:lnL w="9525">
                      <a:solidFill>
                        <a:srgbClr val="CADAD5"/>
                      </a:solidFill>
                      <a:prstDash val="solid"/>
                    </a:lnL>
                    <a:lnR w="9525">
                      <a:solidFill>
                        <a:srgbClr val="CADAD5"/>
                      </a:solidFill>
                      <a:prstDash val="solid"/>
                    </a:lnR>
                    <a:lnT w="9525">
                      <a:solidFill>
                        <a:srgbClr val="CADAD5"/>
                      </a:solidFill>
                      <a:prstDash val="solid"/>
                    </a:lnT>
                    <a:lnB w="9525">
                      <a:solidFill>
                        <a:srgbClr val="CADAD5"/>
                      </a:solidFill>
                      <a:prstDash val="solid"/>
                    </a:lnB>
                    <a:solidFill>
                      <a:srgbClr val="176C63"/>
                    </a:solidFill>
                  </a:tcPr>
                </a:tc>
                <a:tc>
                  <a:txBody>
                    <a:bodyPr/>
                    <a:lstStyle/>
                    <a:p>
                      <a:r>
                        <a:rPr sz="1950" b="1">
                          <a:solidFill>
                            <a:srgbClr val="FFFFFF"/>
                          </a:solidFill>
                          <a:latin typeface="Arial"/>
                          <a:ea typeface="Arial"/>
                          <a:cs typeface="Arial"/>
                        </a:rPr>
                        <a:t>Strongest relevant support</a:t>
                      </a:r>
                    </a:p>
                  </a:txBody>
                  <a:tcPr marL="142875" marR="142875" marT="114300" marB="95250" anchor="ctr">
                    <a:lnR w="9525">
                      <a:solidFill>
                        <a:srgbClr val="CADAD5"/>
                      </a:solidFill>
                      <a:prstDash val="solid"/>
                    </a:lnR>
                    <a:lnT w="9525">
                      <a:solidFill>
                        <a:srgbClr val="CADAD5"/>
                      </a:solidFill>
                      <a:prstDash val="solid"/>
                    </a:lnT>
                    <a:lnB w="9525">
                      <a:solidFill>
                        <a:srgbClr val="CADAD5"/>
                      </a:solidFill>
                      <a:prstDash val="solid"/>
                    </a:lnB>
                    <a:solidFill>
                      <a:srgbClr val="176C63"/>
                    </a:solidFill>
                  </a:tcPr>
                </a:tc>
                <a:tc>
                  <a:txBody>
                    <a:bodyPr/>
                    <a:lstStyle/>
                    <a:p>
                      <a:r>
                        <a:rPr sz="1950" b="1">
                          <a:solidFill>
                            <a:srgbClr val="FFFFFF"/>
                          </a:solidFill>
                          <a:latin typeface="Arial"/>
                          <a:ea typeface="Arial"/>
                          <a:cs typeface="Arial"/>
                        </a:rPr>
                        <a:t>Unresolved link</a:t>
                      </a:r>
                    </a:p>
                  </a:txBody>
                  <a:tcPr marL="142875" marR="142875" marT="114300" marB="95250" anchor="ctr">
                    <a:lnR w="9525">
                      <a:solidFill>
                        <a:srgbClr val="CADAD5"/>
                      </a:solidFill>
                      <a:prstDash val="solid"/>
                    </a:lnR>
                    <a:lnT w="9525">
                      <a:solidFill>
                        <a:srgbClr val="CADAD5"/>
                      </a:solidFill>
                      <a:prstDash val="solid"/>
                    </a:lnT>
                    <a:lnB w="9525">
                      <a:solidFill>
                        <a:srgbClr val="CADAD5"/>
                      </a:solidFill>
                      <a:prstDash val="solid"/>
                    </a:lnB>
                    <a:solidFill>
                      <a:srgbClr val="176C63"/>
                    </a:solidFill>
                  </a:tcPr>
                </a:tc>
              </a:tr>
              <a:tr h="809625">
                <a:tc>
                  <a:txBody>
                    <a:bodyPr/>
                    <a:lstStyle/>
                    <a:p>
                      <a:r>
                        <a:rPr sz="1950" b="1">
                          <a:solidFill>
                            <a:srgbClr val="17333E"/>
                          </a:solidFill>
                          <a:latin typeface="Arial"/>
                          <a:ea typeface="Arial"/>
                          <a:cs typeface="Arial"/>
                        </a:rPr>
                        <a:t>Arimoclomol</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FFFFFF"/>
                    </a:solidFill>
                  </a:tcPr>
                </a:tc>
                <a:tc>
                  <a:txBody>
                    <a:bodyPr/>
                    <a:lstStyle/>
                    <a:p>
                      <a:r>
                        <a:rPr sz="1950" b="0">
                          <a:solidFill>
                            <a:srgbClr val="17333E"/>
                          </a:solidFill>
                          <a:latin typeface="Arial"/>
                          <a:ea typeface="Arial"/>
                          <a:cs typeface="Arial"/>
                        </a:rPr>
                        <a:t>Human exposure record</a:t>
                      </a:r>
                    </a:p>
                    <a:p>
                      <a:r>
                        <a:rPr sz="1950" b="0">
                          <a:solidFill>
                            <a:srgbClr val="17333E"/>
                          </a:solidFill>
                          <a:latin typeface="Arial"/>
                          <a:ea typeface="Arial"/>
                          <a:cs typeface="Arial"/>
                        </a:rPr>
                        <a:t>Conditional Hsp70 response</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c>
                  <a:txBody>
                    <a:bodyPr/>
                    <a:lstStyle/>
                    <a:p>
                      <a:r>
                        <a:rPr sz="1950" b="0">
                          <a:solidFill>
                            <a:srgbClr val="17333E"/>
                          </a:solidFill>
                          <a:latin typeface="Arial"/>
                          <a:ea typeface="Arial"/>
                          <a:cs typeface="Arial"/>
                        </a:rPr>
                        <a:t>Functional mutant BubR1 rescue</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r>
              <a:tr h="809625">
                <a:tc>
                  <a:txBody>
                    <a:bodyPr/>
                    <a:lstStyle/>
                    <a:p>
                      <a:r>
                        <a:rPr sz="1950" b="1">
                          <a:solidFill>
                            <a:srgbClr val="17333E"/>
                          </a:solidFill>
                          <a:latin typeface="Arial"/>
                          <a:ea typeface="Arial"/>
                          <a:cs typeface="Arial"/>
                        </a:rPr>
                        <a:t>NMN</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E9F1EE"/>
                    </a:solidFill>
                  </a:tcPr>
                </a:tc>
                <a:tc>
                  <a:txBody>
                    <a:bodyPr/>
                    <a:lstStyle/>
                    <a:p>
                      <a:r>
                        <a:rPr sz="1950" b="0">
                          <a:solidFill>
                            <a:srgbClr val="17333E"/>
                          </a:solidFill>
                          <a:latin typeface="Arial"/>
                          <a:ea typeface="Arial"/>
                          <a:cs typeface="Arial"/>
                        </a:rPr>
                        <a:t>Direct BubR1 increase</a:t>
                      </a:r>
                    </a:p>
                    <a:p>
                      <a:r>
                        <a:rPr sz="1950" b="0">
                          <a:solidFill>
                            <a:srgbClr val="17333E"/>
                          </a:solidFill>
                          <a:latin typeface="Arial"/>
                          <a:ea typeface="Arial"/>
                          <a:cs typeface="Arial"/>
                        </a:rPr>
                        <a:t>MEFs and aged WT mouse testes</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c>
                  <a:txBody>
                    <a:bodyPr/>
                    <a:lstStyle/>
                    <a:p>
                      <a:r>
                        <a:rPr sz="1950" b="0">
                          <a:solidFill>
                            <a:srgbClr val="17333E"/>
                          </a:solidFill>
                          <a:latin typeface="Arial"/>
                          <a:ea typeface="Arial"/>
                          <a:cs typeface="Arial"/>
                        </a:rPr>
                        <a:t>Mutant function and translation</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r>
              <a:tr h="809625">
                <a:tc>
                  <a:txBody>
                    <a:bodyPr/>
                    <a:lstStyle/>
                    <a:p>
                      <a:r>
                        <a:rPr sz="1950" b="1">
                          <a:solidFill>
                            <a:srgbClr val="17333E"/>
                          </a:solidFill>
                          <a:latin typeface="Arial"/>
                          <a:ea typeface="Arial"/>
                          <a:cs typeface="Arial"/>
                        </a:rPr>
                        <a:t>4-PBA</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FFFFFF"/>
                    </a:solidFill>
                  </a:tcPr>
                </a:tc>
                <a:tc>
                  <a:txBody>
                    <a:bodyPr/>
                    <a:lstStyle/>
                    <a:p>
                      <a:r>
                        <a:rPr sz="1950" b="0">
                          <a:solidFill>
                            <a:srgbClr val="17333E"/>
                          </a:solidFill>
                          <a:latin typeface="Arial"/>
                          <a:ea typeface="Arial"/>
                          <a:cs typeface="Arial"/>
                        </a:rPr>
                        <a:t>Transient Hsp70 increase</a:t>
                      </a:r>
                    </a:p>
                    <a:p>
                      <a:r>
                        <a:rPr sz="1950" b="0">
                          <a:solidFill>
                            <a:srgbClr val="17333E"/>
                          </a:solidFill>
                          <a:latin typeface="Arial"/>
                          <a:ea typeface="Arial"/>
                          <a:cs typeface="Arial"/>
                        </a:rPr>
                        <a:t>CF epithelial cells</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c>
                  <a:txBody>
                    <a:bodyPr/>
                    <a:lstStyle/>
                    <a:p>
                      <a:r>
                        <a:rPr sz="1950" b="0">
                          <a:solidFill>
                            <a:srgbClr val="17333E"/>
                          </a:solidFill>
                          <a:latin typeface="Arial"/>
                          <a:ea typeface="Arial"/>
                          <a:cs typeface="Arial"/>
                        </a:rPr>
                        <a:t>BubR1 response and function</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r>
            </a:tbl>
          </a:graphicData>
        </a:graphic>
      </p:graphicFrame>
      <p:sp>
        <p:nvSpPr>
          <p:cNvPr id="7" name="Same functional and fate endpoints. Candidate">
            <a:extLst xmlns:a="http://schemas.openxmlformats.org/drawingml/2006/main">
              <a:ext uri="{FF2B5EF4-FFF2-40B4-BE49-F238E27FC236}">
                <a16:creationId xmlns:a16="http://schemas.microsoft.com/office/drawing/2014/main" id="{9B82C925-0BB9-4EE3-939F-F1ACBFD9370A}"/>
              </a:ext>
            </a:extLst>
          </p:cNvPr>
          <p:cNvSpPr>
            <a:spLocks xmlns:a="http://schemas.openxmlformats.org/drawingml/2006/main" noGrp="1"/>
          </p:cNvSpPr>
          <p:nvPr/>
        </p:nvSpPr>
        <p:spPr>
          <a:xfrm xmlns:a="http://schemas.openxmlformats.org/drawingml/2006/main">
            <a:off x="609600" y="56483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1">
                <a:solidFill>
                  <a:srgbClr val="176C63"/>
                </a:solidFill>
                <a:latin typeface="Arial"/>
                <a:ea typeface="Arial"/>
                <a:cs typeface="Arial"/>
              </a:defRPr>
            </a:defPPr>
            <a:lvl1pPr>
              <a:defRPr sz="1950" b="1">
                <a:solidFill>
                  <a:srgbClr val="176C63"/>
                </a:solidFill>
                <a:latin typeface="Arial"/>
                <a:ea typeface="Arial"/>
                <a:cs typeface="Arial"/>
              </a:defRPr>
            </a:lvl1pPr>
            <a:lvl2pPr>
              <a:defRPr sz="1950" b="1">
                <a:solidFill>
                  <a:srgbClr val="176C63"/>
                </a:solidFill>
                <a:latin typeface="Arial"/>
                <a:ea typeface="Arial"/>
                <a:cs typeface="Arial"/>
              </a:defRPr>
            </a:lvl2pPr>
            <a:lvl3pPr>
              <a:defRPr sz="1950" b="1">
                <a:solidFill>
                  <a:srgbClr val="176C63"/>
                </a:solidFill>
                <a:latin typeface="Arial"/>
                <a:ea typeface="Arial"/>
                <a:cs typeface="Arial"/>
              </a:defRPr>
            </a:lvl3pPr>
            <a:lvl4pPr>
              <a:defRPr sz="1950" b="1">
                <a:solidFill>
                  <a:srgbClr val="176C63"/>
                </a:solidFill>
                <a:latin typeface="Arial"/>
                <a:ea typeface="Arial"/>
                <a:cs typeface="Arial"/>
              </a:defRPr>
            </a:lvl4pPr>
            <a:lvl5pPr>
              <a:defRPr sz="1950" b="1">
                <a:solidFill>
                  <a:srgbClr val="176C63"/>
                </a:solidFill>
                <a:latin typeface="Arial"/>
                <a:ea typeface="Arial"/>
                <a:cs typeface="Arial"/>
              </a:defRPr>
            </a:lvl5pPr>
            <a:lvl6pPr>
              <a:defRPr sz="1950" b="1">
                <a:solidFill>
                  <a:srgbClr val="176C63"/>
                </a:solidFill>
                <a:latin typeface="Arial"/>
                <a:ea typeface="Arial"/>
                <a:cs typeface="Arial"/>
              </a:defRPr>
            </a:lvl6pPr>
            <a:lvl7pPr>
              <a:defRPr sz="1950" b="1">
                <a:solidFill>
                  <a:srgbClr val="176C63"/>
                </a:solidFill>
                <a:latin typeface="Arial"/>
                <a:ea typeface="Arial"/>
                <a:cs typeface="Arial"/>
              </a:defRPr>
            </a:lvl7pPr>
            <a:lvl8pPr>
              <a:defRPr sz="1950" b="1">
                <a:solidFill>
                  <a:srgbClr val="176C63"/>
                </a:solidFill>
                <a:latin typeface="Arial"/>
                <a:ea typeface="Arial"/>
                <a:cs typeface="Arial"/>
              </a:defRPr>
            </a:lvl8pPr>
            <a:lvl9pPr>
              <a:defRPr sz="1950" b="1">
                <a:solidFill>
                  <a:srgbClr val="176C63"/>
                </a:solidFill>
                <a:latin typeface="Arial"/>
                <a:ea typeface="Arial"/>
                <a:cs typeface="Arial"/>
              </a:defRPr>
            </a:lvl9pPr>
          </a:lstStyle>
          <a:p xmlns:a="http://schemas.openxmlformats.org/drawingml/2006/main">
            <a:pPr>
              <a:defRPr sz="1950" b="1">
                <a:solidFill>
                  <a:srgbClr val="176C63"/>
                </a:solidFill>
                <a:latin typeface="Arial"/>
                <a:ea typeface="Arial"/>
                <a:cs typeface="Arial"/>
              </a:defRPr>
            </a:pPr>
            <a:r>
              <a:rPr sz="1950" b="1">
                <a:solidFill>
                  <a:srgbClr val="176C63"/>
                </a:solidFill>
                <a:latin typeface="Arial"/>
                <a:ea typeface="Arial"/>
                <a:cs typeface="Arial"/>
              </a:rPr>
              <a:t>Same functional and fate endpoints. Candidate-specific exposure limits.</a:t>
            </a:r>
          </a:p>
        </p:txBody>
      </p:sp>
    </p:spTree>
    <p:extLst>
      <p:ext uri="{BB962C8B-B14F-4D97-AF65-F5344CB8AC3E}">
        <p14:creationId xmlns:p14="http://schemas.microsoft.com/office/powerpoint/2010/main" val="733236192"/>
      </p:ext>
    </p:extLst>
  </p:cSld>
</p:sld>
</file>

<file path=ppt/slides/slide3.xml><?xml version="1.0" encoding="utf-8"?>
<p:sld xmlns:p="http://schemas.openxmlformats.org/presentationml/2006/main">
  <p:cSld>
    <p:bg>
      <p:bgPr>
        <a:solidFill xmlns:a="http://schemas.openxmlformats.org/drawingml/2006/main">
          <a:srgbClr val="F2F6F5"/>
        </a:solidFill>
      </p:bgPr>
    </p:bg>
    <p:spTree>
      <p:nvGrpSpPr>
        <p:cNvPr id="1" name=""/>
        <p:cNvGrpSpPr/>
        <p:nvPr/>
      </p:nvGrpSpPr>
      <p:grpSpPr>
        <a:xfrm xmlns:a="http://schemas.openxmlformats.org/drawingml/2006/main"/>
      </p:grpSpPr>
      <p:sp>
        <p:nvSpPr>
          <p:cNvPr id="16" name="03 / THE PROPOSED TEST">
            <a:extLst xmlns:a="http://schemas.openxmlformats.org/drawingml/2006/main">
              <a:ext uri="{FF2B5EF4-FFF2-40B4-BE49-F238E27FC236}">
                <a16:creationId xmlns:a16="http://schemas.microsoft.com/office/drawing/2014/main" id="{4CA4CC03-A6E6-42E1-92FC-A8FCD5D42A77}"/>
              </a:ext>
            </a:extLst>
          </p:cNvPr>
          <p:cNvSpPr>
            <a:spLocks xmlns:a="http://schemas.openxmlformats.org/drawingml/2006/main" noGrp="1"/>
          </p:cNvSpPr>
          <p:nvPr/>
        </p:nvSpPr>
        <p:spPr>
          <a:xfrm xmlns:a="http://schemas.openxmlformats.org/drawingml/2006/main">
            <a:off x="609600" y="3429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176C63"/>
                </a:solidFill>
                <a:latin typeface="Arial"/>
                <a:ea typeface="Arial"/>
                <a:cs typeface="Arial"/>
              </a:defRPr>
            </a:defPPr>
            <a:lvl1pPr>
              <a:defRPr sz="1350" b="1">
                <a:solidFill>
                  <a:srgbClr val="176C63"/>
                </a:solidFill>
                <a:latin typeface="Arial"/>
                <a:ea typeface="Arial"/>
                <a:cs typeface="Arial"/>
              </a:defRPr>
            </a:lvl1pPr>
            <a:lvl2pPr>
              <a:defRPr sz="1350" b="1">
                <a:solidFill>
                  <a:srgbClr val="176C63"/>
                </a:solidFill>
                <a:latin typeface="Arial"/>
                <a:ea typeface="Arial"/>
                <a:cs typeface="Arial"/>
              </a:defRPr>
            </a:lvl2pPr>
            <a:lvl3pPr>
              <a:defRPr sz="1350" b="1">
                <a:solidFill>
                  <a:srgbClr val="176C63"/>
                </a:solidFill>
                <a:latin typeface="Arial"/>
                <a:ea typeface="Arial"/>
                <a:cs typeface="Arial"/>
              </a:defRPr>
            </a:lvl3pPr>
            <a:lvl4pPr>
              <a:defRPr sz="1350" b="1">
                <a:solidFill>
                  <a:srgbClr val="176C63"/>
                </a:solidFill>
                <a:latin typeface="Arial"/>
                <a:ea typeface="Arial"/>
                <a:cs typeface="Arial"/>
              </a:defRPr>
            </a:lvl4pPr>
            <a:lvl5pPr>
              <a:defRPr sz="1350" b="1">
                <a:solidFill>
                  <a:srgbClr val="176C63"/>
                </a:solidFill>
                <a:latin typeface="Arial"/>
                <a:ea typeface="Arial"/>
                <a:cs typeface="Arial"/>
              </a:defRPr>
            </a:lvl5pPr>
            <a:lvl6pPr>
              <a:defRPr sz="1350" b="1">
                <a:solidFill>
                  <a:srgbClr val="176C63"/>
                </a:solidFill>
                <a:latin typeface="Arial"/>
                <a:ea typeface="Arial"/>
                <a:cs typeface="Arial"/>
              </a:defRPr>
            </a:lvl6pPr>
            <a:lvl7pPr>
              <a:defRPr sz="1350" b="1">
                <a:solidFill>
                  <a:srgbClr val="176C63"/>
                </a:solidFill>
                <a:latin typeface="Arial"/>
                <a:ea typeface="Arial"/>
                <a:cs typeface="Arial"/>
              </a:defRPr>
            </a:lvl7pPr>
            <a:lvl8pPr>
              <a:defRPr sz="1350" b="1">
                <a:solidFill>
                  <a:srgbClr val="176C63"/>
                </a:solidFill>
                <a:latin typeface="Arial"/>
                <a:ea typeface="Arial"/>
                <a:cs typeface="Arial"/>
              </a:defRPr>
            </a:lvl8pPr>
            <a:lvl9pPr>
              <a:defRPr sz="1350" b="1">
                <a:solidFill>
                  <a:srgbClr val="176C63"/>
                </a:solidFill>
                <a:latin typeface="Arial"/>
                <a:ea typeface="Arial"/>
                <a:cs typeface="Arial"/>
              </a:defRPr>
            </a:lvl9pPr>
          </a:lstStyle>
          <a:p xmlns:a="http://schemas.openxmlformats.org/drawingml/2006/main">
            <a:pPr>
              <a:defRPr sz="1350" b="1">
                <a:solidFill>
                  <a:srgbClr val="176C63"/>
                </a:solidFill>
                <a:latin typeface="Arial"/>
                <a:ea typeface="Arial"/>
                <a:cs typeface="Arial"/>
              </a:defRPr>
            </a:pPr>
            <a:r>
              <a:rPr sz="1350" b="1">
                <a:solidFill>
                  <a:srgbClr val="176C63"/>
                </a:solidFill>
                <a:latin typeface="Arial"/>
                <a:ea typeface="Arial"/>
                <a:cs typeface="Arial"/>
              </a:rPr>
              <a:t>03 / THE PROPOSED TEST</a:t>
            </a:r>
          </a:p>
        </p:txBody>
      </p:sp>
      <p:sp>
        <p:nvSpPr>
          <p:cNvPr id="2" name="The decisive experiment">
            <a:extLst xmlns:a="http://schemas.openxmlformats.org/drawingml/2006/main">
              <a:ext uri="{FF2B5EF4-FFF2-40B4-BE49-F238E27FC236}">
                <a16:creationId xmlns:a16="http://schemas.microsoft.com/office/drawing/2014/main" id="{9C709C16-3198-4061-BEB5-38B92827CC74}"/>
              </a:ext>
            </a:extLst>
          </p:cNvPr>
          <p:cNvSpPr>
            <a:spLocks xmlns:a="http://schemas.openxmlformats.org/drawingml/2006/main" noGrp="1"/>
          </p:cNvSpPr>
          <p:nvPr/>
        </p:nvSpPr>
        <p:spPr>
          <a:xfrm xmlns:a="http://schemas.openxmlformats.org/drawingml/2006/main">
            <a:off x="609600" y="8191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7333E"/>
                </a:solidFill>
                <a:latin typeface="Arial"/>
                <a:ea typeface="Arial"/>
                <a:cs typeface="Arial"/>
              </a:defRPr>
            </a:defPPr>
            <a:lvl1pPr>
              <a:defRPr sz="3150" b="1">
                <a:solidFill>
                  <a:srgbClr val="17333E"/>
                </a:solidFill>
                <a:latin typeface="Arial"/>
                <a:ea typeface="Arial"/>
                <a:cs typeface="Arial"/>
              </a:defRPr>
            </a:lvl1pPr>
            <a:lvl2pPr>
              <a:defRPr sz="3150" b="1">
                <a:solidFill>
                  <a:srgbClr val="17333E"/>
                </a:solidFill>
                <a:latin typeface="Arial"/>
                <a:ea typeface="Arial"/>
                <a:cs typeface="Arial"/>
              </a:defRPr>
            </a:lvl2pPr>
            <a:lvl3pPr>
              <a:defRPr sz="3150" b="1">
                <a:solidFill>
                  <a:srgbClr val="17333E"/>
                </a:solidFill>
                <a:latin typeface="Arial"/>
                <a:ea typeface="Arial"/>
                <a:cs typeface="Arial"/>
              </a:defRPr>
            </a:lvl3pPr>
            <a:lvl4pPr>
              <a:defRPr sz="3150" b="1">
                <a:solidFill>
                  <a:srgbClr val="17333E"/>
                </a:solidFill>
                <a:latin typeface="Arial"/>
                <a:ea typeface="Arial"/>
                <a:cs typeface="Arial"/>
              </a:defRPr>
            </a:lvl4pPr>
            <a:lvl5pPr>
              <a:defRPr sz="3150" b="1">
                <a:solidFill>
                  <a:srgbClr val="17333E"/>
                </a:solidFill>
                <a:latin typeface="Arial"/>
                <a:ea typeface="Arial"/>
                <a:cs typeface="Arial"/>
              </a:defRPr>
            </a:lvl5pPr>
            <a:lvl6pPr>
              <a:defRPr sz="3150" b="1">
                <a:solidFill>
                  <a:srgbClr val="17333E"/>
                </a:solidFill>
                <a:latin typeface="Arial"/>
                <a:ea typeface="Arial"/>
                <a:cs typeface="Arial"/>
              </a:defRPr>
            </a:lvl6pPr>
            <a:lvl7pPr>
              <a:defRPr sz="3150" b="1">
                <a:solidFill>
                  <a:srgbClr val="17333E"/>
                </a:solidFill>
                <a:latin typeface="Arial"/>
                <a:ea typeface="Arial"/>
                <a:cs typeface="Arial"/>
              </a:defRPr>
            </a:lvl7pPr>
            <a:lvl8pPr>
              <a:defRPr sz="3150" b="1">
                <a:solidFill>
                  <a:srgbClr val="17333E"/>
                </a:solidFill>
                <a:latin typeface="Arial"/>
                <a:ea typeface="Arial"/>
                <a:cs typeface="Arial"/>
              </a:defRPr>
            </a:lvl8pPr>
            <a:lvl9pPr>
              <a:defRPr sz="3150" b="1">
                <a:solidFill>
                  <a:srgbClr val="17333E"/>
                </a:solidFill>
                <a:latin typeface="Arial"/>
                <a:ea typeface="Arial"/>
                <a:cs typeface="Arial"/>
              </a:defRPr>
            </a:lvl9pPr>
          </a:lstStyle>
          <a:p xmlns:a="http://schemas.openxmlformats.org/drawingml/2006/main">
            <a:pPr>
              <a:defRPr sz="3150" b="1">
                <a:solidFill>
                  <a:srgbClr val="17333E"/>
                </a:solidFill>
                <a:latin typeface="Arial"/>
                <a:ea typeface="Arial"/>
                <a:cs typeface="Arial"/>
              </a:defRPr>
            </a:pPr>
            <a:r>
              <a:rPr sz="3150" b="1">
                <a:solidFill>
                  <a:srgbClr val="17333E"/>
                </a:solidFill>
                <a:latin typeface="Arial"/>
                <a:ea typeface="Arial"/>
                <a:cs typeface="Arial"/>
              </a:rPr>
              <a:t>The decisive experiment</a:t>
            </a:r>
          </a:p>
        </p:txBody>
      </p:sp>
      <p:sp>
        <p:nvSpPr>
          <p:cNvPr id="3" name="Full-length protein, matched abundance, measu">
            <a:extLst xmlns:a="http://schemas.openxmlformats.org/drawingml/2006/main">
              <a:ext uri="{FF2B5EF4-FFF2-40B4-BE49-F238E27FC236}">
                <a16:creationId xmlns:a16="http://schemas.microsoft.com/office/drawing/2014/main" id="{4AF5DD64-9E88-4264-AB54-7EE33733ED51}"/>
              </a:ext>
            </a:extLst>
          </p:cNvPr>
          <p:cNvSpPr>
            <a:spLocks xmlns:a="http://schemas.openxmlformats.org/drawingml/2006/main" noGrp="1"/>
          </p:cNvSpPr>
          <p:nvPr/>
        </p:nvSpPr>
        <p:spPr>
          <a:xfrm xmlns:a="http://schemas.openxmlformats.org/drawingml/2006/main">
            <a:off x="609600" y="147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Full-length protein, matched abundance, measured function</a:t>
            </a:r>
          </a:p>
        </p:txBody>
      </p:sp>
      <p:sp>
        <p:nvSpPr>
          <p:cNvPr id="4" name="Functional rescue plan / laboratory readiness">
            <a:extLst xmlns:a="http://schemas.openxmlformats.org/drawingml/2006/main">
              <a:ext uri="{FF2B5EF4-FFF2-40B4-BE49-F238E27FC236}">
                <a16:creationId xmlns:a16="http://schemas.microsoft.com/office/drawing/2014/main" id="{035DD270-D96A-4C28-8834-138E0A1D0E9E}"/>
              </a:ext>
            </a:extLst>
          </p:cNvPr>
          <p:cNvSpPr>
            <a:spLocks xmlns:a="http://schemas.openxmlformats.org/drawingml/2006/main" noGrp="1"/>
          </p:cNvSpPr>
          <p:nvPr/>
        </p:nvSpPr>
        <p:spPr>
          <a:xfrm xmlns:a="http://schemas.openxmlformats.org/drawingml/2006/main">
            <a:off x="609600" y="64198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526971"/>
                </a:solidFill>
                <a:latin typeface="Arial"/>
                <a:ea typeface="Arial"/>
                <a:cs typeface="Arial"/>
              </a:defRPr>
            </a:defPPr>
            <a:lvl1pPr>
              <a:defRPr sz="1050" b="0">
                <a:solidFill>
                  <a:srgbClr val="526971"/>
                </a:solidFill>
                <a:latin typeface="Arial"/>
                <a:ea typeface="Arial"/>
                <a:cs typeface="Arial"/>
              </a:defRPr>
            </a:lvl1pPr>
            <a:lvl2pPr>
              <a:defRPr sz="1050" b="0">
                <a:solidFill>
                  <a:srgbClr val="526971"/>
                </a:solidFill>
                <a:latin typeface="Arial"/>
                <a:ea typeface="Arial"/>
                <a:cs typeface="Arial"/>
              </a:defRPr>
            </a:lvl2pPr>
            <a:lvl3pPr>
              <a:defRPr sz="1050" b="0">
                <a:solidFill>
                  <a:srgbClr val="526971"/>
                </a:solidFill>
                <a:latin typeface="Arial"/>
                <a:ea typeface="Arial"/>
                <a:cs typeface="Arial"/>
              </a:defRPr>
            </a:lvl3pPr>
            <a:lvl4pPr>
              <a:defRPr sz="1050" b="0">
                <a:solidFill>
                  <a:srgbClr val="526971"/>
                </a:solidFill>
                <a:latin typeface="Arial"/>
                <a:ea typeface="Arial"/>
                <a:cs typeface="Arial"/>
              </a:defRPr>
            </a:lvl4pPr>
            <a:lvl5pPr>
              <a:defRPr sz="1050" b="0">
                <a:solidFill>
                  <a:srgbClr val="526971"/>
                </a:solidFill>
                <a:latin typeface="Arial"/>
                <a:ea typeface="Arial"/>
                <a:cs typeface="Arial"/>
              </a:defRPr>
            </a:lvl5pPr>
            <a:lvl6pPr>
              <a:defRPr sz="1050" b="0">
                <a:solidFill>
                  <a:srgbClr val="526971"/>
                </a:solidFill>
                <a:latin typeface="Arial"/>
                <a:ea typeface="Arial"/>
                <a:cs typeface="Arial"/>
              </a:defRPr>
            </a:lvl6pPr>
            <a:lvl7pPr>
              <a:defRPr sz="1050" b="0">
                <a:solidFill>
                  <a:srgbClr val="526971"/>
                </a:solidFill>
                <a:latin typeface="Arial"/>
                <a:ea typeface="Arial"/>
                <a:cs typeface="Arial"/>
              </a:defRPr>
            </a:lvl7pPr>
            <a:lvl8pPr>
              <a:defRPr sz="1050" b="0">
                <a:solidFill>
                  <a:srgbClr val="526971"/>
                </a:solidFill>
                <a:latin typeface="Arial"/>
                <a:ea typeface="Arial"/>
                <a:cs typeface="Arial"/>
              </a:defRPr>
            </a:lvl8pPr>
            <a:lvl9pPr>
              <a:defRPr sz="1050" b="0">
                <a:solidFill>
                  <a:srgbClr val="526971"/>
                </a:solidFill>
                <a:latin typeface="Arial"/>
                <a:ea typeface="Arial"/>
                <a:cs typeface="Arial"/>
              </a:defRPr>
            </a:lvl9pPr>
          </a:lstStyle>
          <a:p xmlns:a="http://schemas.openxmlformats.org/drawingml/2006/main">
            <a:pPr>
              <a:defRPr sz="1050" b="0">
                <a:solidFill>
                  <a:srgbClr val="526971"/>
                </a:solidFill>
                <a:latin typeface="Arial"/>
                <a:ea typeface="Arial"/>
                <a:cs typeface="Arial"/>
              </a:defRPr>
            </a:pPr>
            <a:r>
              <a:rPr sz="1050" b="0">
                <a:solidFill>
                  <a:srgbClr val="526971"/>
                </a:solidFill>
                <a:latin typeface="Arial"/>
                <a:ea typeface="Arial"/>
                <a:cs typeface="Arial"/>
              </a:rPr>
              <a:t>Functional rescue plan / laboratory readiness / proposed experiments</a:t>
            </a:r>
          </a:p>
        </p:txBody>
      </p:sp>
      <p:sp>
        <p:nvSpPr>
          <p:cNvPr id="5" name="3">
            <a:extLst xmlns:a="http://schemas.openxmlformats.org/drawingml/2006/main">
              <a:ext uri="{FF2B5EF4-FFF2-40B4-BE49-F238E27FC236}">
                <a16:creationId xmlns:a16="http://schemas.microsoft.com/office/drawing/2014/main" id="{45B90AD9-9465-4C38-A38C-379EDE27E8BE}"/>
              </a:ext>
            </a:extLst>
          </p:cNvPr>
          <p:cNvSpPr>
            <a:spLocks xmlns:a="http://schemas.openxmlformats.org/drawingml/2006/main" noGrp="1"/>
          </p:cNvSpPr>
          <p:nvPr/>
        </p:nvSpPr>
        <p:spPr>
          <a:xfrm xmlns:a="http://schemas.openxmlformats.org/drawingml/2006/main">
            <a:off x="11334750" y="6400800"/>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3</a:t>
            </a:r>
          </a:p>
        </p:txBody>
      </p:sp>
      <p:sp>
        <p:nvSpPr>
          <p:cNvPr id="6" name="1">
            <a:extLst xmlns:a="http://schemas.openxmlformats.org/drawingml/2006/main">
              <a:ext uri="{FF2B5EF4-FFF2-40B4-BE49-F238E27FC236}">
                <a16:creationId xmlns:a16="http://schemas.microsoft.com/office/drawing/2014/main" id="{7BDA9A49-E682-4611-B60B-64605E943123}"/>
              </a:ext>
            </a:extLst>
          </p:cNvPr>
          <p:cNvSpPr>
            <a:spLocks xmlns:a="http://schemas.openxmlformats.org/drawingml/2006/main" noGrp="1"/>
          </p:cNvSpPr>
          <p:nvPr/>
        </p:nvSpPr>
        <p:spPr>
          <a:xfrm xmlns:a="http://schemas.openxmlformats.org/drawingml/2006/main">
            <a:off x="609600" y="22288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76C63"/>
                </a:solidFill>
                <a:latin typeface="Arial"/>
                <a:ea typeface="Arial"/>
                <a:cs typeface="Arial"/>
              </a:defRPr>
            </a:defPPr>
            <a:lvl1pPr>
              <a:defRPr sz="3300" b="1">
                <a:solidFill>
                  <a:srgbClr val="176C63"/>
                </a:solidFill>
                <a:latin typeface="Arial"/>
                <a:ea typeface="Arial"/>
                <a:cs typeface="Arial"/>
              </a:defRPr>
            </a:lvl1pPr>
            <a:lvl2pPr>
              <a:defRPr sz="3300" b="1">
                <a:solidFill>
                  <a:srgbClr val="176C63"/>
                </a:solidFill>
                <a:latin typeface="Arial"/>
                <a:ea typeface="Arial"/>
                <a:cs typeface="Arial"/>
              </a:defRPr>
            </a:lvl2pPr>
            <a:lvl3pPr>
              <a:defRPr sz="3300" b="1">
                <a:solidFill>
                  <a:srgbClr val="176C63"/>
                </a:solidFill>
                <a:latin typeface="Arial"/>
                <a:ea typeface="Arial"/>
                <a:cs typeface="Arial"/>
              </a:defRPr>
            </a:lvl3pPr>
            <a:lvl4pPr>
              <a:defRPr sz="3300" b="1">
                <a:solidFill>
                  <a:srgbClr val="176C63"/>
                </a:solidFill>
                <a:latin typeface="Arial"/>
                <a:ea typeface="Arial"/>
                <a:cs typeface="Arial"/>
              </a:defRPr>
            </a:lvl4pPr>
            <a:lvl5pPr>
              <a:defRPr sz="3300" b="1">
                <a:solidFill>
                  <a:srgbClr val="176C63"/>
                </a:solidFill>
                <a:latin typeface="Arial"/>
                <a:ea typeface="Arial"/>
                <a:cs typeface="Arial"/>
              </a:defRPr>
            </a:lvl5pPr>
            <a:lvl6pPr>
              <a:defRPr sz="3300" b="1">
                <a:solidFill>
                  <a:srgbClr val="176C63"/>
                </a:solidFill>
                <a:latin typeface="Arial"/>
                <a:ea typeface="Arial"/>
                <a:cs typeface="Arial"/>
              </a:defRPr>
            </a:lvl6pPr>
            <a:lvl7pPr>
              <a:defRPr sz="3300" b="1">
                <a:solidFill>
                  <a:srgbClr val="176C63"/>
                </a:solidFill>
                <a:latin typeface="Arial"/>
                <a:ea typeface="Arial"/>
                <a:cs typeface="Arial"/>
              </a:defRPr>
            </a:lvl7pPr>
            <a:lvl8pPr>
              <a:defRPr sz="3300" b="1">
                <a:solidFill>
                  <a:srgbClr val="176C63"/>
                </a:solidFill>
                <a:latin typeface="Arial"/>
                <a:ea typeface="Arial"/>
                <a:cs typeface="Arial"/>
              </a:defRPr>
            </a:lvl8pPr>
            <a:lvl9pPr>
              <a:defRPr sz="3300" b="1">
                <a:solidFill>
                  <a:srgbClr val="176C63"/>
                </a:solidFill>
                <a:latin typeface="Arial"/>
                <a:ea typeface="Arial"/>
                <a:cs typeface="Arial"/>
              </a:defRPr>
            </a:lvl9pPr>
          </a:lstStyle>
          <a:p xmlns:a="http://schemas.openxmlformats.org/drawingml/2006/main">
            <a:pPr>
              <a:defRPr sz="3300" b="1">
                <a:solidFill>
                  <a:srgbClr val="176C63"/>
                </a:solidFill>
                <a:latin typeface="Arial"/>
                <a:ea typeface="Arial"/>
                <a:cs typeface="Arial"/>
              </a:defRPr>
            </a:pPr>
            <a:r>
              <a:rPr sz="3300" b="1">
                <a:solidFill>
                  <a:srgbClr val="176C63"/>
                </a:solidFill>
                <a:latin typeface="Arial"/>
                <a:ea typeface="Arial"/>
                <a:cs typeface="Arial"/>
              </a:rPr>
              <a:t>1</a:t>
            </a:r>
          </a:p>
        </p:txBody>
      </p:sp>
      <p:sp>
        <p:nvSpPr>
          <p:cNvPr id="7" name="Establish the variant defect">
            <a:extLst xmlns:a="http://schemas.openxmlformats.org/drawingml/2006/main">
              <a:ext uri="{FF2B5EF4-FFF2-40B4-BE49-F238E27FC236}">
                <a16:creationId xmlns:a16="http://schemas.microsoft.com/office/drawing/2014/main" id="{9BEDBF97-58D8-4030-883D-255DFA6E9547}"/>
              </a:ext>
            </a:extLst>
          </p:cNvPr>
          <p:cNvSpPr>
            <a:spLocks xmlns:a="http://schemas.openxmlformats.org/drawingml/2006/main" noGrp="1"/>
          </p:cNvSpPr>
          <p:nvPr/>
        </p:nvSpPr>
        <p:spPr>
          <a:xfrm xmlns:a="http://schemas.openxmlformats.org/drawingml/2006/main">
            <a:off x="1381125" y="2228850"/>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17333E"/>
                </a:solidFill>
                <a:latin typeface="Arial"/>
                <a:ea typeface="Arial"/>
                <a:cs typeface="Arial"/>
              </a:defRPr>
            </a:defPPr>
            <a:lvl1pPr>
              <a:defRPr sz="2400" b="1">
                <a:solidFill>
                  <a:srgbClr val="17333E"/>
                </a:solidFill>
                <a:latin typeface="Arial"/>
                <a:ea typeface="Arial"/>
                <a:cs typeface="Arial"/>
              </a:defRPr>
            </a:lvl1pPr>
            <a:lvl2pPr>
              <a:defRPr sz="2400" b="1">
                <a:solidFill>
                  <a:srgbClr val="17333E"/>
                </a:solidFill>
                <a:latin typeface="Arial"/>
                <a:ea typeface="Arial"/>
                <a:cs typeface="Arial"/>
              </a:defRPr>
            </a:lvl2pPr>
            <a:lvl3pPr>
              <a:defRPr sz="2400" b="1">
                <a:solidFill>
                  <a:srgbClr val="17333E"/>
                </a:solidFill>
                <a:latin typeface="Arial"/>
                <a:ea typeface="Arial"/>
                <a:cs typeface="Arial"/>
              </a:defRPr>
            </a:lvl3pPr>
            <a:lvl4pPr>
              <a:defRPr sz="2400" b="1">
                <a:solidFill>
                  <a:srgbClr val="17333E"/>
                </a:solidFill>
                <a:latin typeface="Arial"/>
                <a:ea typeface="Arial"/>
                <a:cs typeface="Arial"/>
              </a:defRPr>
            </a:lvl4pPr>
            <a:lvl5pPr>
              <a:defRPr sz="2400" b="1">
                <a:solidFill>
                  <a:srgbClr val="17333E"/>
                </a:solidFill>
                <a:latin typeface="Arial"/>
                <a:ea typeface="Arial"/>
                <a:cs typeface="Arial"/>
              </a:defRPr>
            </a:lvl5pPr>
            <a:lvl6pPr>
              <a:defRPr sz="2400" b="1">
                <a:solidFill>
                  <a:srgbClr val="17333E"/>
                </a:solidFill>
                <a:latin typeface="Arial"/>
                <a:ea typeface="Arial"/>
                <a:cs typeface="Arial"/>
              </a:defRPr>
            </a:lvl6pPr>
            <a:lvl7pPr>
              <a:defRPr sz="2400" b="1">
                <a:solidFill>
                  <a:srgbClr val="17333E"/>
                </a:solidFill>
                <a:latin typeface="Arial"/>
                <a:ea typeface="Arial"/>
                <a:cs typeface="Arial"/>
              </a:defRPr>
            </a:lvl7pPr>
            <a:lvl8pPr>
              <a:defRPr sz="2400" b="1">
                <a:solidFill>
                  <a:srgbClr val="17333E"/>
                </a:solidFill>
                <a:latin typeface="Arial"/>
                <a:ea typeface="Arial"/>
                <a:cs typeface="Arial"/>
              </a:defRPr>
            </a:lvl8pPr>
            <a:lvl9pPr>
              <a:defRPr sz="2400" b="1">
                <a:solidFill>
                  <a:srgbClr val="17333E"/>
                </a:solidFill>
                <a:latin typeface="Arial"/>
                <a:ea typeface="Arial"/>
                <a:cs typeface="Arial"/>
              </a:defRPr>
            </a:lvl9pPr>
          </a:lstStyle>
          <a:p xmlns:a="http://schemas.openxmlformats.org/drawingml/2006/main">
            <a:pPr>
              <a:defRPr sz="2400" b="1">
                <a:solidFill>
                  <a:srgbClr val="17333E"/>
                </a:solidFill>
                <a:latin typeface="Arial"/>
                <a:ea typeface="Arial"/>
                <a:cs typeface="Arial"/>
              </a:defRPr>
            </a:pPr>
            <a:r>
              <a:rPr sz="2400" b="1">
                <a:solidFill>
                  <a:srgbClr val="17333E"/>
                </a:solidFill>
                <a:latin typeface="Arial"/>
                <a:ea typeface="Arial"/>
                <a:cs typeface="Arial"/>
              </a:rPr>
              <a:t>Establish the variant defect</a:t>
            </a:r>
          </a:p>
        </p:txBody>
      </p:sp>
      <p:sp>
        <p:nvSpPr>
          <p:cNvPr id="8" name="Full-length WT and N1002K at qualified matche">
            <a:extLst xmlns:a="http://schemas.openxmlformats.org/drawingml/2006/main">
              <a:ext uri="{FF2B5EF4-FFF2-40B4-BE49-F238E27FC236}">
                <a16:creationId xmlns:a16="http://schemas.microsoft.com/office/drawing/2014/main" id="{FFF7716B-37EB-43A6-B2A3-CD4CD0068CBE}"/>
              </a:ext>
            </a:extLst>
          </p:cNvPr>
          <p:cNvSpPr>
            <a:spLocks xmlns:a="http://schemas.openxmlformats.org/drawingml/2006/main" noGrp="1"/>
          </p:cNvSpPr>
          <p:nvPr/>
        </p:nvSpPr>
        <p:spPr>
          <a:xfrm xmlns:a="http://schemas.openxmlformats.org/drawingml/2006/main">
            <a:off x="1381125" y="26670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526971"/>
                </a:solidFill>
                <a:latin typeface="Arial"/>
                <a:ea typeface="Arial"/>
                <a:cs typeface="Arial"/>
              </a:defRPr>
            </a:defPPr>
            <a:lvl1pPr>
              <a:defRPr sz="1950" b="0">
                <a:solidFill>
                  <a:srgbClr val="526971"/>
                </a:solidFill>
                <a:latin typeface="Arial"/>
                <a:ea typeface="Arial"/>
                <a:cs typeface="Arial"/>
              </a:defRPr>
            </a:lvl1pPr>
            <a:lvl2pPr>
              <a:defRPr sz="1950" b="0">
                <a:solidFill>
                  <a:srgbClr val="526971"/>
                </a:solidFill>
                <a:latin typeface="Arial"/>
                <a:ea typeface="Arial"/>
                <a:cs typeface="Arial"/>
              </a:defRPr>
            </a:lvl2pPr>
            <a:lvl3pPr>
              <a:defRPr sz="1950" b="0">
                <a:solidFill>
                  <a:srgbClr val="526971"/>
                </a:solidFill>
                <a:latin typeface="Arial"/>
                <a:ea typeface="Arial"/>
                <a:cs typeface="Arial"/>
              </a:defRPr>
            </a:lvl3pPr>
            <a:lvl4pPr>
              <a:defRPr sz="1950" b="0">
                <a:solidFill>
                  <a:srgbClr val="526971"/>
                </a:solidFill>
                <a:latin typeface="Arial"/>
                <a:ea typeface="Arial"/>
                <a:cs typeface="Arial"/>
              </a:defRPr>
            </a:lvl4pPr>
            <a:lvl5pPr>
              <a:defRPr sz="1950" b="0">
                <a:solidFill>
                  <a:srgbClr val="526971"/>
                </a:solidFill>
                <a:latin typeface="Arial"/>
                <a:ea typeface="Arial"/>
                <a:cs typeface="Arial"/>
              </a:defRPr>
            </a:lvl5pPr>
            <a:lvl6pPr>
              <a:defRPr sz="1950" b="0">
                <a:solidFill>
                  <a:srgbClr val="526971"/>
                </a:solidFill>
                <a:latin typeface="Arial"/>
                <a:ea typeface="Arial"/>
                <a:cs typeface="Arial"/>
              </a:defRPr>
            </a:lvl6pPr>
            <a:lvl7pPr>
              <a:defRPr sz="1950" b="0">
                <a:solidFill>
                  <a:srgbClr val="526971"/>
                </a:solidFill>
                <a:latin typeface="Arial"/>
                <a:ea typeface="Arial"/>
                <a:cs typeface="Arial"/>
              </a:defRPr>
            </a:lvl7pPr>
            <a:lvl8pPr>
              <a:defRPr sz="1950" b="0">
                <a:solidFill>
                  <a:srgbClr val="526971"/>
                </a:solidFill>
                <a:latin typeface="Arial"/>
                <a:ea typeface="Arial"/>
                <a:cs typeface="Arial"/>
              </a:defRPr>
            </a:lvl8pPr>
            <a:lvl9pPr>
              <a:defRPr sz="1950" b="0">
                <a:solidFill>
                  <a:srgbClr val="526971"/>
                </a:solidFill>
                <a:latin typeface="Arial"/>
                <a:ea typeface="Arial"/>
                <a:cs typeface="Arial"/>
              </a:defRPr>
            </a:lvl9pPr>
          </a:lstStyle>
          <a:p xmlns:a="http://schemas.openxmlformats.org/drawingml/2006/main">
            <a:pPr>
              <a:defRPr sz="1950" b="0">
                <a:solidFill>
                  <a:srgbClr val="526971"/>
                </a:solidFill>
                <a:latin typeface="Arial"/>
                <a:ea typeface="Arial"/>
                <a:cs typeface="Arial"/>
              </a:defRPr>
            </a:pPr>
            <a:r>
              <a:rPr sz="1950" b="0">
                <a:solidFill>
                  <a:srgbClr val="526971"/>
                </a:solidFill>
                <a:latin typeface="Arial"/>
                <a:ea typeface="Arial"/>
                <a:cs typeface="Arial"/>
              </a:rPr>
              <a:t>Full-length WT and N1002K at qualified matched abundance</a:t>
            </a:r>
          </a:p>
        </p:txBody>
      </p:sp>
      <p:sp>
        <p:nvSpPr>
          <p:cNvPr id="9" name="2">
            <a:extLst xmlns:a="http://schemas.openxmlformats.org/drawingml/2006/main">
              <a:ext uri="{FF2B5EF4-FFF2-40B4-BE49-F238E27FC236}">
                <a16:creationId xmlns:a16="http://schemas.microsoft.com/office/drawing/2014/main" id="{4E5EDE3A-3281-4CED-B558-E9DA3B2AD373}"/>
              </a:ext>
            </a:extLst>
          </p:cNvPr>
          <p:cNvSpPr>
            <a:spLocks xmlns:a="http://schemas.openxmlformats.org/drawingml/2006/main" noGrp="1"/>
          </p:cNvSpPr>
          <p:nvPr/>
        </p:nvSpPr>
        <p:spPr>
          <a:xfrm xmlns:a="http://schemas.openxmlformats.org/drawingml/2006/main">
            <a:off x="609600" y="33718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76C63"/>
                </a:solidFill>
                <a:latin typeface="Arial"/>
                <a:ea typeface="Arial"/>
                <a:cs typeface="Arial"/>
              </a:defRPr>
            </a:defPPr>
            <a:lvl1pPr>
              <a:defRPr sz="3300" b="1">
                <a:solidFill>
                  <a:srgbClr val="176C63"/>
                </a:solidFill>
                <a:latin typeface="Arial"/>
                <a:ea typeface="Arial"/>
                <a:cs typeface="Arial"/>
              </a:defRPr>
            </a:lvl1pPr>
            <a:lvl2pPr>
              <a:defRPr sz="3300" b="1">
                <a:solidFill>
                  <a:srgbClr val="176C63"/>
                </a:solidFill>
                <a:latin typeface="Arial"/>
                <a:ea typeface="Arial"/>
                <a:cs typeface="Arial"/>
              </a:defRPr>
            </a:lvl2pPr>
            <a:lvl3pPr>
              <a:defRPr sz="3300" b="1">
                <a:solidFill>
                  <a:srgbClr val="176C63"/>
                </a:solidFill>
                <a:latin typeface="Arial"/>
                <a:ea typeface="Arial"/>
                <a:cs typeface="Arial"/>
              </a:defRPr>
            </a:lvl3pPr>
            <a:lvl4pPr>
              <a:defRPr sz="3300" b="1">
                <a:solidFill>
                  <a:srgbClr val="176C63"/>
                </a:solidFill>
                <a:latin typeface="Arial"/>
                <a:ea typeface="Arial"/>
                <a:cs typeface="Arial"/>
              </a:defRPr>
            </a:lvl4pPr>
            <a:lvl5pPr>
              <a:defRPr sz="3300" b="1">
                <a:solidFill>
                  <a:srgbClr val="176C63"/>
                </a:solidFill>
                <a:latin typeface="Arial"/>
                <a:ea typeface="Arial"/>
                <a:cs typeface="Arial"/>
              </a:defRPr>
            </a:lvl5pPr>
            <a:lvl6pPr>
              <a:defRPr sz="3300" b="1">
                <a:solidFill>
                  <a:srgbClr val="176C63"/>
                </a:solidFill>
                <a:latin typeface="Arial"/>
                <a:ea typeface="Arial"/>
                <a:cs typeface="Arial"/>
              </a:defRPr>
            </a:lvl6pPr>
            <a:lvl7pPr>
              <a:defRPr sz="3300" b="1">
                <a:solidFill>
                  <a:srgbClr val="176C63"/>
                </a:solidFill>
                <a:latin typeface="Arial"/>
                <a:ea typeface="Arial"/>
                <a:cs typeface="Arial"/>
              </a:defRPr>
            </a:lvl7pPr>
            <a:lvl8pPr>
              <a:defRPr sz="3300" b="1">
                <a:solidFill>
                  <a:srgbClr val="176C63"/>
                </a:solidFill>
                <a:latin typeface="Arial"/>
                <a:ea typeface="Arial"/>
                <a:cs typeface="Arial"/>
              </a:defRPr>
            </a:lvl8pPr>
            <a:lvl9pPr>
              <a:defRPr sz="3300" b="1">
                <a:solidFill>
                  <a:srgbClr val="176C63"/>
                </a:solidFill>
                <a:latin typeface="Arial"/>
                <a:ea typeface="Arial"/>
                <a:cs typeface="Arial"/>
              </a:defRPr>
            </a:lvl9pPr>
          </a:lstStyle>
          <a:p xmlns:a="http://schemas.openxmlformats.org/drawingml/2006/main">
            <a:pPr>
              <a:defRPr sz="3300" b="1">
                <a:solidFill>
                  <a:srgbClr val="176C63"/>
                </a:solidFill>
                <a:latin typeface="Arial"/>
                <a:ea typeface="Arial"/>
                <a:cs typeface="Arial"/>
              </a:defRPr>
            </a:pPr>
            <a:r>
              <a:rPr sz="3300" b="1">
                <a:solidFill>
                  <a:srgbClr val="176C63"/>
                </a:solidFill>
                <a:latin typeface="Arial"/>
                <a:ea typeface="Arial"/>
                <a:cs typeface="Arial"/>
              </a:rPr>
              <a:t>2</a:t>
            </a:r>
          </a:p>
        </p:txBody>
      </p:sp>
      <p:sp>
        <p:nvSpPr>
          <p:cNvPr id="10" name="Compare function, exposure and cell fate">
            <a:extLst xmlns:a="http://schemas.openxmlformats.org/drawingml/2006/main">
              <a:ext uri="{FF2B5EF4-FFF2-40B4-BE49-F238E27FC236}">
                <a16:creationId xmlns:a16="http://schemas.microsoft.com/office/drawing/2014/main" id="{802D4A94-6EF9-4C15-A6EF-AFF7F1C4F551}"/>
              </a:ext>
            </a:extLst>
          </p:cNvPr>
          <p:cNvSpPr>
            <a:spLocks xmlns:a="http://schemas.openxmlformats.org/drawingml/2006/main" noGrp="1"/>
          </p:cNvSpPr>
          <p:nvPr/>
        </p:nvSpPr>
        <p:spPr>
          <a:xfrm xmlns:a="http://schemas.openxmlformats.org/drawingml/2006/main">
            <a:off x="1381125" y="3371850"/>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17333E"/>
                </a:solidFill>
                <a:latin typeface="Arial"/>
                <a:ea typeface="Arial"/>
                <a:cs typeface="Arial"/>
              </a:defRPr>
            </a:defPPr>
            <a:lvl1pPr>
              <a:defRPr sz="2400" b="1">
                <a:solidFill>
                  <a:srgbClr val="17333E"/>
                </a:solidFill>
                <a:latin typeface="Arial"/>
                <a:ea typeface="Arial"/>
                <a:cs typeface="Arial"/>
              </a:defRPr>
            </a:lvl1pPr>
            <a:lvl2pPr>
              <a:defRPr sz="2400" b="1">
                <a:solidFill>
                  <a:srgbClr val="17333E"/>
                </a:solidFill>
                <a:latin typeface="Arial"/>
                <a:ea typeface="Arial"/>
                <a:cs typeface="Arial"/>
              </a:defRPr>
            </a:lvl2pPr>
            <a:lvl3pPr>
              <a:defRPr sz="2400" b="1">
                <a:solidFill>
                  <a:srgbClr val="17333E"/>
                </a:solidFill>
                <a:latin typeface="Arial"/>
                <a:ea typeface="Arial"/>
                <a:cs typeface="Arial"/>
              </a:defRPr>
            </a:lvl3pPr>
            <a:lvl4pPr>
              <a:defRPr sz="2400" b="1">
                <a:solidFill>
                  <a:srgbClr val="17333E"/>
                </a:solidFill>
                <a:latin typeface="Arial"/>
                <a:ea typeface="Arial"/>
                <a:cs typeface="Arial"/>
              </a:defRPr>
            </a:lvl4pPr>
            <a:lvl5pPr>
              <a:defRPr sz="2400" b="1">
                <a:solidFill>
                  <a:srgbClr val="17333E"/>
                </a:solidFill>
                <a:latin typeface="Arial"/>
                <a:ea typeface="Arial"/>
                <a:cs typeface="Arial"/>
              </a:defRPr>
            </a:lvl5pPr>
            <a:lvl6pPr>
              <a:defRPr sz="2400" b="1">
                <a:solidFill>
                  <a:srgbClr val="17333E"/>
                </a:solidFill>
                <a:latin typeface="Arial"/>
                <a:ea typeface="Arial"/>
                <a:cs typeface="Arial"/>
              </a:defRPr>
            </a:lvl6pPr>
            <a:lvl7pPr>
              <a:defRPr sz="2400" b="1">
                <a:solidFill>
                  <a:srgbClr val="17333E"/>
                </a:solidFill>
                <a:latin typeface="Arial"/>
                <a:ea typeface="Arial"/>
                <a:cs typeface="Arial"/>
              </a:defRPr>
            </a:lvl7pPr>
            <a:lvl8pPr>
              <a:defRPr sz="2400" b="1">
                <a:solidFill>
                  <a:srgbClr val="17333E"/>
                </a:solidFill>
                <a:latin typeface="Arial"/>
                <a:ea typeface="Arial"/>
                <a:cs typeface="Arial"/>
              </a:defRPr>
            </a:lvl8pPr>
            <a:lvl9pPr>
              <a:defRPr sz="2400" b="1">
                <a:solidFill>
                  <a:srgbClr val="17333E"/>
                </a:solidFill>
                <a:latin typeface="Arial"/>
                <a:ea typeface="Arial"/>
                <a:cs typeface="Arial"/>
              </a:defRPr>
            </a:lvl9pPr>
          </a:lstStyle>
          <a:p xmlns:a="http://schemas.openxmlformats.org/drawingml/2006/main">
            <a:pPr>
              <a:defRPr sz="2400" b="1">
                <a:solidFill>
                  <a:srgbClr val="17333E"/>
                </a:solidFill>
                <a:latin typeface="Arial"/>
                <a:ea typeface="Arial"/>
                <a:cs typeface="Arial"/>
              </a:defRPr>
            </a:pPr>
            <a:r>
              <a:rPr sz="2400" b="1">
                <a:solidFill>
                  <a:srgbClr val="17333E"/>
                </a:solidFill>
                <a:latin typeface="Arial"/>
                <a:ea typeface="Arial"/>
                <a:cs typeface="Arial"/>
              </a:rPr>
              <a:t>Compare function, exposure and cell fate</a:t>
            </a:r>
          </a:p>
        </p:txBody>
      </p:sp>
      <p:sp>
        <p:nvSpPr>
          <p:cNvPr id="11" name="Segregation errors with division, death and a">
            <a:extLst xmlns:a="http://schemas.openxmlformats.org/drawingml/2006/main">
              <a:ext uri="{FF2B5EF4-FFF2-40B4-BE49-F238E27FC236}">
                <a16:creationId xmlns:a16="http://schemas.microsoft.com/office/drawing/2014/main" id="{A31ADFBF-12A2-4B73-9892-7019091A1ECD}"/>
              </a:ext>
            </a:extLst>
          </p:cNvPr>
          <p:cNvSpPr>
            <a:spLocks xmlns:a="http://schemas.openxmlformats.org/drawingml/2006/main" noGrp="1"/>
          </p:cNvSpPr>
          <p:nvPr/>
        </p:nvSpPr>
        <p:spPr>
          <a:xfrm xmlns:a="http://schemas.openxmlformats.org/drawingml/2006/main">
            <a:off x="1381125" y="38100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526971"/>
                </a:solidFill>
                <a:latin typeface="Arial"/>
                <a:ea typeface="Arial"/>
                <a:cs typeface="Arial"/>
              </a:defRPr>
            </a:defPPr>
            <a:lvl1pPr>
              <a:defRPr sz="1950" b="0">
                <a:solidFill>
                  <a:srgbClr val="526971"/>
                </a:solidFill>
                <a:latin typeface="Arial"/>
                <a:ea typeface="Arial"/>
                <a:cs typeface="Arial"/>
              </a:defRPr>
            </a:lvl1pPr>
            <a:lvl2pPr>
              <a:defRPr sz="1950" b="0">
                <a:solidFill>
                  <a:srgbClr val="526971"/>
                </a:solidFill>
                <a:latin typeface="Arial"/>
                <a:ea typeface="Arial"/>
                <a:cs typeface="Arial"/>
              </a:defRPr>
            </a:lvl2pPr>
            <a:lvl3pPr>
              <a:defRPr sz="1950" b="0">
                <a:solidFill>
                  <a:srgbClr val="526971"/>
                </a:solidFill>
                <a:latin typeface="Arial"/>
                <a:ea typeface="Arial"/>
                <a:cs typeface="Arial"/>
              </a:defRPr>
            </a:lvl3pPr>
            <a:lvl4pPr>
              <a:defRPr sz="1950" b="0">
                <a:solidFill>
                  <a:srgbClr val="526971"/>
                </a:solidFill>
                <a:latin typeface="Arial"/>
                <a:ea typeface="Arial"/>
                <a:cs typeface="Arial"/>
              </a:defRPr>
            </a:lvl4pPr>
            <a:lvl5pPr>
              <a:defRPr sz="1950" b="0">
                <a:solidFill>
                  <a:srgbClr val="526971"/>
                </a:solidFill>
                <a:latin typeface="Arial"/>
                <a:ea typeface="Arial"/>
                <a:cs typeface="Arial"/>
              </a:defRPr>
            </a:lvl5pPr>
            <a:lvl6pPr>
              <a:defRPr sz="1950" b="0">
                <a:solidFill>
                  <a:srgbClr val="526971"/>
                </a:solidFill>
                <a:latin typeface="Arial"/>
                <a:ea typeface="Arial"/>
                <a:cs typeface="Arial"/>
              </a:defRPr>
            </a:lvl6pPr>
            <a:lvl7pPr>
              <a:defRPr sz="1950" b="0">
                <a:solidFill>
                  <a:srgbClr val="526971"/>
                </a:solidFill>
                <a:latin typeface="Arial"/>
                <a:ea typeface="Arial"/>
                <a:cs typeface="Arial"/>
              </a:defRPr>
            </a:lvl7pPr>
            <a:lvl8pPr>
              <a:defRPr sz="1950" b="0">
                <a:solidFill>
                  <a:srgbClr val="526971"/>
                </a:solidFill>
                <a:latin typeface="Arial"/>
                <a:ea typeface="Arial"/>
                <a:cs typeface="Arial"/>
              </a:defRPr>
            </a:lvl8pPr>
            <a:lvl9pPr>
              <a:defRPr sz="1950" b="0">
                <a:solidFill>
                  <a:srgbClr val="526971"/>
                </a:solidFill>
                <a:latin typeface="Arial"/>
                <a:ea typeface="Arial"/>
                <a:cs typeface="Arial"/>
              </a:defRPr>
            </a:lvl9pPr>
          </a:lstStyle>
          <a:p xmlns:a="http://schemas.openxmlformats.org/drawingml/2006/main">
            <a:pPr>
              <a:defRPr sz="1950" b="0">
                <a:solidFill>
                  <a:srgbClr val="526971"/>
                </a:solidFill>
                <a:latin typeface="Arial"/>
                <a:ea typeface="Arial"/>
                <a:cs typeface="Arial"/>
              </a:defRPr>
            </a:pPr>
            <a:r>
              <a:rPr sz="1950" b="0">
                <a:solidFill>
                  <a:srgbClr val="526971"/>
                </a:solidFill>
                <a:latin typeface="Arial"/>
                <a:ea typeface="Arial"/>
                <a:cs typeface="Arial"/>
              </a:rPr>
              <a:t>Segregation errors with division, death and arrest denominators</a:t>
            </a:r>
          </a:p>
        </p:txBody>
      </p:sp>
      <p:sp>
        <p:nvSpPr>
          <p:cNvPr id="12" name="3">
            <a:extLst xmlns:a="http://schemas.openxmlformats.org/drawingml/2006/main">
              <a:ext uri="{FF2B5EF4-FFF2-40B4-BE49-F238E27FC236}">
                <a16:creationId xmlns:a16="http://schemas.microsoft.com/office/drawing/2014/main" id="{0BB8BF8A-D949-45B7-81DB-43EF75EA0A5C}"/>
              </a:ext>
            </a:extLst>
          </p:cNvPr>
          <p:cNvSpPr>
            <a:spLocks xmlns:a="http://schemas.openxmlformats.org/drawingml/2006/main" noGrp="1"/>
          </p:cNvSpPr>
          <p:nvPr/>
        </p:nvSpPr>
        <p:spPr>
          <a:xfrm xmlns:a="http://schemas.openxmlformats.org/drawingml/2006/main">
            <a:off x="609600" y="45148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76C63"/>
                </a:solidFill>
                <a:latin typeface="Arial"/>
                <a:ea typeface="Arial"/>
                <a:cs typeface="Arial"/>
              </a:defRPr>
            </a:defPPr>
            <a:lvl1pPr>
              <a:defRPr sz="3300" b="1">
                <a:solidFill>
                  <a:srgbClr val="176C63"/>
                </a:solidFill>
                <a:latin typeface="Arial"/>
                <a:ea typeface="Arial"/>
                <a:cs typeface="Arial"/>
              </a:defRPr>
            </a:lvl1pPr>
            <a:lvl2pPr>
              <a:defRPr sz="3300" b="1">
                <a:solidFill>
                  <a:srgbClr val="176C63"/>
                </a:solidFill>
                <a:latin typeface="Arial"/>
                <a:ea typeface="Arial"/>
                <a:cs typeface="Arial"/>
              </a:defRPr>
            </a:lvl2pPr>
            <a:lvl3pPr>
              <a:defRPr sz="3300" b="1">
                <a:solidFill>
                  <a:srgbClr val="176C63"/>
                </a:solidFill>
                <a:latin typeface="Arial"/>
                <a:ea typeface="Arial"/>
                <a:cs typeface="Arial"/>
              </a:defRPr>
            </a:lvl3pPr>
            <a:lvl4pPr>
              <a:defRPr sz="3300" b="1">
                <a:solidFill>
                  <a:srgbClr val="176C63"/>
                </a:solidFill>
                <a:latin typeface="Arial"/>
                <a:ea typeface="Arial"/>
                <a:cs typeface="Arial"/>
              </a:defRPr>
            </a:lvl4pPr>
            <a:lvl5pPr>
              <a:defRPr sz="3300" b="1">
                <a:solidFill>
                  <a:srgbClr val="176C63"/>
                </a:solidFill>
                <a:latin typeface="Arial"/>
                <a:ea typeface="Arial"/>
                <a:cs typeface="Arial"/>
              </a:defRPr>
            </a:lvl5pPr>
            <a:lvl6pPr>
              <a:defRPr sz="3300" b="1">
                <a:solidFill>
                  <a:srgbClr val="176C63"/>
                </a:solidFill>
                <a:latin typeface="Arial"/>
                <a:ea typeface="Arial"/>
                <a:cs typeface="Arial"/>
              </a:defRPr>
            </a:lvl6pPr>
            <a:lvl7pPr>
              <a:defRPr sz="3300" b="1">
                <a:solidFill>
                  <a:srgbClr val="176C63"/>
                </a:solidFill>
                <a:latin typeface="Arial"/>
                <a:ea typeface="Arial"/>
                <a:cs typeface="Arial"/>
              </a:defRPr>
            </a:lvl7pPr>
            <a:lvl8pPr>
              <a:defRPr sz="3300" b="1">
                <a:solidFill>
                  <a:srgbClr val="176C63"/>
                </a:solidFill>
                <a:latin typeface="Arial"/>
                <a:ea typeface="Arial"/>
                <a:cs typeface="Arial"/>
              </a:defRPr>
            </a:lvl8pPr>
            <a:lvl9pPr>
              <a:defRPr sz="3300" b="1">
                <a:solidFill>
                  <a:srgbClr val="176C63"/>
                </a:solidFill>
                <a:latin typeface="Arial"/>
                <a:ea typeface="Arial"/>
                <a:cs typeface="Arial"/>
              </a:defRPr>
            </a:lvl9pPr>
          </a:lstStyle>
          <a:p xmlns:a="http://schemas.openxmlformats.org/drawingml/2006/main">
            <a:pPr>
              <a:defRPr sz="3300" b="1">
                <a:solidFill>
                  <a:srgbClr val="176C63"/>
                </a:solidFill>
                <a:latin typeface="Arial"/>
                <a:ea typeface="Arial"/>
                <a:cs typeface="Arial"/>
              </a:defRPr>
            </a:pPr>
            <a:r>
              <a:rPr sz="3300" b="1">
                <a:solidFill>
                  <a:srgbClr val="176C63"/>
                </a:solidFill>
                <a:latin typeface="Arial"/>
                <a:ea typeface="Arial"/>
                <a:cs typeface="Arial"/>
              </a:rPr>
              <a:t>3</a:t>
            </a:r>
          </a:p>
        </p:txBody>
      </p:sp>
      <p:sp>
        <p:nvSpPr>
          <p:cNvPr id="13" name="Apply a decision that can stop the lead">
            <a:extLst xmlns:a="http://schemas.openxmlformats.org/drawingml/2006/main">
              <a:ext uri="{FF2B5EF4-FFF2-40B4-BE49-F238E27FC236}">
                <a16:creationId xmlns:a16="http://schemas.microsoft.com/office/drawing/2014/main" id="{E37836EC-B01A-48C9-9F25-134C3A8E2B3B}"/>
              </a:ext>
            </a:extLst>
          </p:cNvPr>
          <p:cNvSpPr>
            <a:spLocks xmlns:a="http://schemas.openxmlformats.org/drawingml/2006/main" noGrp="1"/>
          </p:cNvSpPr>
          <p:nvPr/>
        </p:nvSpPr>
        <p:spPr>
          <a:xfrm xmlns:a="http://schemas.openxmlformats.org/drawingml/2006/main">
            <a:off x="1381125" y="4514850"/>
            <a:ext cx="9906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17333E"/>
                </a:solidFill>
                <a:latin typeface="Arial"/>
                <a:ea typeface="Arial"/>
                <a:cs typeface="Arial"/>
              </a:defRPr>
            </a:defPPr>
            <a:lvl1pPr>
              <a:defRPr sz="2400" b="1">
                <a:solidFill>
                  <a:srgbClr val="17333E"/>
                </a:solidFill>
                <a:latin typeface="Arial"/>
                <a:ea typeface="Arial"/>
                <a:cs typeface="Arial"/>
              </a:defRPr>
            </a:lvl1pPr>
            <a:lvl2pPr>
              <a:defRPr sz="2400" b="1">
                <a:solidFill>
                  <a:srgbClr val="17333E"/>
                </a:solidFill>
                <a:latin typeface="Arial"/>
                <a:ea typeface="Arial"/>
                <a:cs typeface="Arial"/>
              </a:defRPr>
            </a:lvl2pPr>
            <a:lvl3pPr>
              <a:defRPr sz="2400" b="1">
                <a:solidFill>
                  <a:srgbClr val="17333E"/>
                </a:solidFill>
                <a:latin typeface="Arial"/>
                <a:ea typeface="Arial"/>
                <a:cs typeface="Arial"/>
              </a:defRPr>
            </a:lvl3pPr>
            <a:lvl4pPr>
              <a:defRPr sz="2400" b="1">
                <a:solidFill>
                  <a:srgbClr val="17333E"/>
                </a:solidFill>
                <a:latin typeface="Arial"/>
                <a:ea typeface="Arial"/>
                <a:cs typeface="Arial"/>
              </a:defRPr>
            </a:lvl4pPr>
            <a:lvl5pPr>
              <a:defRPr sz="2400" b="1">
                <a:solidFill>
                  <a:srgbClr val="17333E"/>
                </a:solidFill>
                <a:latin typeface="Arial"/>
                <a:ea typeface="Arial"/>
                <a:cs typeface="Arial"/>
              </a:defRPr>
            </a:lvl5pPr>
            <a:lvl6pPr>
              <a:defRPr sz="2400" b="1">
                <a:solidFill>
                  <a:srgbClr val="17333E"/>
                </a:solidFill>
                <a:latin typeface="Arial"/>
                <a:ea typeface="Arial"/>
                <a:cs typeface="Arial"/>
              </a:defRPr>
            </a:lvl6pPr>
            <a:lvl7pPr>
              <a:defRPr sz="2400" b="1">
                <a:solidFill>
                  <a:srgbClr val="17333E"/>
                </a:solidFill>
                <a:latin typeface="Arial"/>
                <a:ea typeface="Arial"/>
                <a:cs typeface="Arial"/>
              </a:defRPr>
            </a:lvl7pPr>
            <a:lvl8pPr>
              <a:defRPr sz="2400" b="1">
                <a:solidFill>
                  <a:srgbClr val="17333E"/>
                </a:solidFill>
                <a:latin typeface="Arial"/>
                <a:ea typeface="Arial"/>
                <a:cs typeface="Arial"/>
              </a:defRPr>
            </a:lvl8pPr>
            <a:lvl9pPr>
              <a:defRPr sz="2400" b="1">
                <a:solidFill>
                  <a:srgbClr val="17333E"/>
                </a:solidFill>
                <a:latin typeface="Arial"/>
                <a:ea typeface="Arial"/>
                <a:cs typeface="Arial"/>
              </a:defRPr>
            </a:lvl9pPr>
          </a:lstStyle>
          <a:p xmlns:a="http://schemas.openxmlformats.org/drawingml/2006/main">
            <a:pPr>
              <a:defRPr sz="2400" b="1">
                <a:solidFill>
                  <a:srgbClr val="17333E"/>
                </a:solidFill>
                <a:latin typeface="Arial"/>
                <a:ea typeface="Arial"/>
                <a:cs typeface="Arial"/>
              </a:defRPr>
            </a:pPr>
            <a:r>
              <a:rPr sz="2400" b="1">
                <a:solidFill>
                  <a:srgbClr val="17333E"/>
                </a:solidFill>
                <a:latin typeface="Arial"/>
                <a:ea typeface="Arial"/>
                <a:cs typeface="Arial"/>
              </a:rPr>
              <a:t>Apply a decision that can stop the lead</a:t>
            </a:r>
          </a:p>
        </p:txBody>
      </p:sp>
      <p:sp>
        <p:nvSpPr>
          <p:cNvPr id="14" name="Prespecified benefit bounds and independent c">
            <a:extLst xmlns:a="http://schemas.openxmlformats.org/drawingml/2006/main">
              <a:ext uri="{FF2B5EF4-FFF2-40B4-BE49-F238E27FC236}">
                <a16:creationId xmlns:a16="http://schemas.microsoft.com/office/drawing/2014/main" id="{C9D0A587-7164-48D8-A61D-68CE5251032D}"/>
              </a:ext>
            </a:extLst>
          </p:cNvPr>
          <p:cNvSpPr>
            <a:spLocks xmlns:a="http://schemas.openxmlformats.org/drawingml/2006/main" noGrp="1"/>
          </p:cNvSpPr>
          <p:nvPr/>
        </p:nvSpPr>
        <p:spPr>
          <a:xfrm xmlns:a="http://schemas.openxmlformats.org/drawingml/2006/main">
            <a:off x="1381125" y="495300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526971"/>
                </a:solidFill>
                <a:latin typeface="Arial"/>
                <a:ea typeface="Arial"/>
                <a:cs typeface="Arial"/>
              </a:defRPr>
            </a:defPPr>
            <a:lvl1pPr>
              <a:defRPr sz="1950" b="0">
                <a:solidFill>
                  <a:srgbClr val="526971"/>
                </a:solidFill>
                <a:latin typeface="Arial"/>
                <a:ea typeface="Arial"/>
                <a:cs typeface="Arial"/>
              </a:defRPr>
            </a:lvl1pPr>
            <a:lvl2pPr>
              <a:defRPr sz="1950" b="0">
                <a:solidFill>
                  <a:srgbClr val="526971"/>
                </a:solidFill>
                <a:latin typeface="Arial"/>
                <a:ea typeface="Arial"/>
                <a:cs typeface="Arial"/>
              </a:defRPr>
            </a:lvl2pPr>
            <a:lvl3pPr>
              <a:defRPr sz="1950" b="0">
                <a:solidFill>
                  <a:srgbClr val="526971"/>
                </a:solidFill>
                <a:latin typeface="Arial"/>
                <a:ea typeface="Arial"/>
                <a:cs typeface="Arial"/>
              </a:defRPr>
            </a:lvl3pPr>
            <a:lvl4pPr>
              <a:defRPr sz="1950" b="0">
                <a:solidFill>
                  <a:srgbClr val="526971"/>
                </a:solidFill>
                <a:latin typeface="Arial"/>
                <a:ea typeface="Arial"/>
                <a:cs typeface="Arial"/>
              </a:defRPr>
            </a:lvl4pPr>
            <a:lvl5pPr>
              <a:defRPr sz="1950" b="0">
                <a:solidFill>
                  <a:srgbClr val="526971"/>
                </a:solidFill>
                <a:latin typeface="Arial"/>
                <a:ea typeface="Arial"/>
                <a:cs typeface="Arial"/>
              </a:defRPr>
            </a:lvl5pPr>
            <a:lvl6pPr>
              <a:defRPr sz="1950" b="0">
                <a:solidFill>
                  <a:srgbClr val="526971"/>
                </a:solidFill>
                <a:latin typeface="Arial"/>
                <a:ea typeface="Arial"/>
                <a:cs typeface="Arial"/>
              </a:defRPr>
            </a:lvl6pPr>
            <a:lvl7pPr>
              <a:defRPr sz="1950" b="0">
                <a:solidFill>
                  <a:srgbClr val="526971"/>
                </a:solidFill>
                <a:latin typeface="Arial"/>
                <a:ea typeface="Arial"/>
                <a:cs typeface="Arial"/>
              </a:defRPr>
            </a:lvl7pPr>
            <a:lvl8pPr>
              <a:defRPr sz="1950" b="0">
                <a:solidFill>
                  <a:srgbClr val="526971"/>
                </a:solidFill>
                <a:latin typeface="Arial"/>
                <a:ea typeface="Arial"/>
                <a:cs typeface="Arial"/>
              </a:defRPr>
            </a:lvl8pPr>
            <a:lvl9pPr>
              <a:defRPr sz="1950" b="0">
                <a:solidFill>
                  <a:srgbClr val="526971"/>
                </a:solidFill>
                <a:latin typeface="Arial"/>
                <a:ea typeface="Arial"/>
                <a:cs typeface="Arial"/>
              </a:defRPr>
            </a:lvl9pPr>
          </a:lstStyle>
          <a:p xmlns:a="http://schemas.openxmlformats.org/drawingml/2006/main">
            <a:pPr>
              <a:defRPr sz="1950" b="0">
                <a:solidFill>
                  <a:srgbClr val="526971"/>
                </a:solidFill>
                <a:latin typeface="Arial"/>
                <a:ea typeface="Arial"/>
                <a:cs typeface="Arial"/>
              </a:defRPr>
            </a:pPr>
            <a:r>
              <a:rPr sz="1950" b="0">
                <a:solidFill>
                  <a:srgbClr val="526971"/>
                </a:solidFill>
                <a:latin typeface="Arial"/>
                <a:ea typeface="Arial"/>
                <a:cs typeface="Arial"/>
              </a:rPr>
              <a:t>Prespecified benefit bounds and independent confirmation</a:t>
            </a:r>
          </a:p>
        </p:txBody>
      </p:sp>
      <p:sp>
        <p:nvSpPr>
          <p:cNvPr id="15" name="Open: laboratory acceptance, imaging qualific">
            <a:extLst xmlns:a="http://schemas.openxmlformats.org/drawingml/2006/main">
              <a:ext uri="{FF2B5EF4-FFF2-40B4-BE49-F238E27FC236}">
                <a16:creationId xmlns:a16="http://schemas.microsoft.com/office/drawing/2014/main" id="{1F9EFA35-9076-402A-B2AA-671DA05088E6}"/>
              </a:ext>
            </a:extLst>
          </p:cNvPr>
          <p:cNvSpPr>
            <a:spLocks xmlns:a="http://schemas.openxmlformats.org/drawingml/2006/main" noGrp="1"/>
          </p:cNvSpPr>
          <p:nvPr/>
        </p:nvSpPr>
        <p:spPr>
          <a:xfrm xmlns:a="http://schemas.openxmlformats.org/drawingml/2006/main">
            <a:off x="609600" y="58197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Open: laboratory acceptance, imaging qualification and complete costs</a:t>
            </a:r>
          </a:p>
        </p:txBody>
      </p:sp>
    </p:spTree>
    <p:extLst>
      <p:ext uri="{BB962C8B-B14F-4D97-AF65-F5344CB8AC3E}">
        <p14:creationId xmlns:p14="http://schemas.microsoft.com/office/powerpoint/2010/main" val="811551659"/>
      </p:ext>
    </p:extLst>
  </p:cSld>
</p:sld>
</file>

<file path=ppt/slides/slide4.xml><?xml version="1.0" encoding="utf-8"?>
<p:sld xmlns:p="http://schemas.openxmlformats.org/presentationml/2006/main">
  <p:cSld>
    <p:bg>
      <p:bgPr>
        <a:solidFill xmlns:a="http://schemas.openxmlformats.org/drawingml/2006/main">
          <a:srgbClr val="F2F6F5"/>
        </a:solidFill>
      </p:bgPr>
    </p:bg>
    <p:spTree>
      <p:nvGrpSpPr>
        <p:cNvPr id="1" name=""/>
        <p:cNvGrpSpPr/>
        <p:nvPr/>
      </p:nvGrpSpPr>
      <p:grpSpPr>
        <a:xfrm xmlns:a="http://schemas.openxmlformats.org/drawingml/2006/main"/>
      </p:grpSpPr>
      <p:sp>
        <p:nvSpPr>
          <p:cNvPr id="11" name="04 / THE WORKING DEMO">
            <a:extLst xmlns:a="http://schemas.openxmlformats.org/drawingml/2006/main">
              <a:ext uri="{FF2B5EF4-FFF2-40B4-BE49-F238E27FC236}">
                <a16:creationId xmlns:a16="http://schemas.microsoft.com/office/drawing/2014/main" id="{C0DDC6B9-0271-408E-B0C0-4764887037D6}"/>
              </a:ext>
            </a:extLst>
          </p:cNvPr>
          <p:cNvSpPr>
            <a:spLocks xmlns:a="http://schemas.openxmlformats.org/drawingml/2006/main" noGrp="1"/>
          </p:cNvSpPr>
          <p:nvPr/>
        </p:nvSpPr>
        <p:spPr>
          <a:xfrm xmlns:a="http://schemas.openxmlformats.org/drawingml/2006/main">
            <a:off x="609600" y="3429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176C63"/>
                </a:solidFill>
                <a:latin typeface="Arial"/>
                <a:ea typeface="Arial"/>
                <a:cs typeface="Arial"/>
              </a:defRPr>
            </a:defPPr>
            <a:lvl1pPr>
              <a:defRPr sz="1350" b="1">
                <a:solidFill>
                  <a:srgbClr val="176C63"/>
                </a:solidFill>
                <a:latin typeface="Arial"/>
                <a:ea typeface="Arial"/>
                <a:cs typeface="Arial"/>
              </a:defRPr>
            </a:lvl1pPr>
            <a:lvl2pPr>
              <a:defRPr sz="1350" b="1">
                <a:solidFill>
                  <a:srgbClr val="176C63"/>
                </a:solidFill>
                <a:latin typeface="Arial"/>
                <a:ea typeface="Arial"/>
                <a:cs typeface="Arial"/>
              </a:defRPr>
            </a:lvl2pPr>
            <a:lvl3pPr>
              <a:defRPr sz="1350" b="1">
                <a:solidFill>
                  <a:srgbClr val="176C63"/>
                </a:solidFill>
                <a:latin typeface="Arial"/>
                <a:ea typeface="Arial"/>
                <a:cs typeface="Arial"/>
              </a:defRPr>
            </a:lvl3pPr>
            <a:lvl4pPr>
              <a:defRPr sz="1350" b="1">
                <a:solidFill>
                  <a:srgbClr val="176C63"/>
                </a:solidFill>
                <a:latin typeface="Arial"/>
                <a:ea typeface="Arial"/>
                <a:cs typeface="Arial"/>
              </a:defRPr>
            </a:lvl4pPr>
            <a:lvl5pPr>
              <a:defRPr sz="1350" b="1">
                <a:solidFill>
                  <a:srgbClr val="176C63"/>
                </a:solidFill>
                <a:latin typeface="Arial"/>
                <a:ea typeface="Arial"/>
                <a:cs typeface="Arial"/>
              </a:defRPr>
            </a:lvl5pPr>
            <a:lvl6pPr>
              <a:defRPr sz="1350" b="1">
                <a:solidFill>
                  <a:srgbClr val="176C63"/>
                </a:solidFill>
                <a:latin typeface="Arial"/>
                <a:ea typeface="Arial"/>
                <a:cs typeface="Arial"/>
              </a:defRPr>
            </a:lvl6pPr>
            <a:lvl7pPr>
              <a:defRPr sz="1350" b="1">
                <a:solidFill>
                  <a:srgbClr val="176C63"/>
                </a:solidFill>
                <a:latin typeface="Arial"/>
                <a:ea typeface="Arial"/>
                <a:cs typeface="Arial"/>
              </a:defRPr>
            </a:lvl7pPr>
            <a:lvl8pPr>
              <a:defRPr sz="1350" b="1">
                <a:solidFill>
                  <a:srgbClr val="176C63"/>
                </a:solidFill>
                <a:latin typeface="Arial"/>
                <a:ea typeface="Arial"/>
                <a:cs typeface="Arial"/>
              </a:defRPr>
            </a:lvl8pPr>
            <a:lvl9pPr>
              <a:defRPr sz="1350" b="1">
                <a:solidFill>
                  <a:srgbClr val="176C63"/>
                </a:solidFill>
                <a:latin typeface="Arial"/>
                <a:ea typeface="Arial"/>
                <a:cs typeface="Arial"/>
              </a:defRPr>
            </a:lvl9pPr>
          </a:lstStyle>
          <a:p xmlns:a="http://schemas.openxmlformats.org/drawingml/2006/main">
            <a:pPr>
              <a:defRPr sz="1350" b="1">
                <a:solidFill>
                  <a:srgbClr val="176C63"/>
                </a:solidFill>
                <a:latin typeface="Arial"/>
                <a:ea typeface="Arial"/>
                <a:cs typeface="Arial"/>
              </a:defRPr>
            </a:pPr>
            <a:r>
              <a:rPr sz="1350" b="1">
                <a:solidFill>
                  <a:srgbClr val="176C63"/>
                </a:solidFill>
                <a:latin typeface="Arial"/>
                <a:ea typeface="Arial"/>
                <a:cs typeface="Arial"/>
              </a:rPr>
              <a:t>04 / THE WORKING DEMO</a:t>
            </a:r>
          </a:p>
        </p:txBody>
      </p:sp>
      <p:sp>
        <p:nvSpPr>
          <p:cNvPr id="2" name="The software distinguishes three misleading s">
            <a:extLst xmlns:a="http://schemas.openxmlformats.org/drawingml/2006/main">
              <a:ext uri="{FF2B5EF4-FFF2-40B4-BE49-F238E27FC236}">
                <a16:creationId xmlns:a16="http://schemas.microsoft.com/office/drawing/2014/main" id="{C3BE06EB-135C-4078-B8CE-3B3CAC0A7B29}"/>
              </a:ext>
            </a:extLst>
          </p:cNvPr>
          <p:cNvSpPr>
            <a:spLocks xmlns:a="http://schemas.openxmlformats.org/drawingml/2006/main" noGrp="1"/>
          </p:cNvSpPr>
          <p:nvPr/>
        </p:nvSpPr>
        <p:spPr>
          <a:xfrm xmlns:a="http://schemas.openxmlformats.org/drawingml/2006/main">
            <a:off x="609600" y="8191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850" b="1">
                <a:solidFill>
                  <a:srgbClr val="17333E"/>
                </a:solidFill>
                <a:latin typeface="Arial"/>
                <a:ea typeface="Arial"/>
                <a:cs typeface="Arial"/>
              </a:defRPr>
            </a:defPPr>
            <a:lvl1pPr>
              <a:defRPr sz="2850" b="1">
                <a:solidFill>
                  <a:srgbClr val="17333E"/>
                </a:solidFill>
                <a:latin typeface="Arial"/>
                <a:ea typeface="Arial"/>
                <a:cs typeface="Arial"/>
              </a:defRPr>
            </a:lvl1pPr>
            <a:lvl2pPr>
              <a:defRPr sz="2850" b="1">
                <a:solidFill>
                  <a:srgbClr val="17333E"/>
                </a:solidFill>
                <a:latin typeface="Arial"/>
                <a:ea typeface="Arial"/>
                <a:cs typeface="Arial"/>
              </a:defRPr>
            </a:lvl2pPr>
            <a:lvl3pPr>
              <a:defRPr sz="2850" b="1">
                <a:solidFill>
                  <a:srgbClr val="17333E"/>
                </a:solidFill>
                <a:latin typeface="Arial"/>
                <a:ea typeface="Arial"/>
                <a:cs typeface="Arial"/>
              </a:defRPr>
            </a:lvl3pPr>
            <a:lvl4pPr>
              <a:defRPr sz="2850" b="1">
                <a:solidFill>
                  <a:srgbClr val="17333E"/>
                </a:solidFill>
                <a:latin typeface="Arial"/>
                <a:ea typeface="Arial"/>
                <a:cs typeface="Arial"/>
              </a:defRPr>
            </a:lvl4pPr>
            <a:lvl5pPr>
              <a:defRPr sz="2850" b="1">
                <a:solidFill>
                  <a:srgbClr val="17333E"/>
                </a:solidFill>
                <a:latin typeface="Arial"/>
                <a:ea typeface="Arial"/>
                <a:cs typeface="Arial"/>
              </a:defRPr>
            </a:lvl5pPr>
            <a:lvl6pPr>
              <a:defRPr sz="2850" b="1">
                <a:solidFill>
                  <a:srgbClr val="17333E"/>
                </a:solidFill>
                <a:latin typeface="Arial"/>
                <a:ea typeface="Arial"/>
                <a:cs typeface="Arial"/>
              </a:defRPr>
            </a:lvl6pPr>
            <a:lvl7pPr>
              <a:defRPr sz="2850" b="1">
                <a:solidFill>
                  <a:srgbClr val="17333E"/>
                </a:solidFill>
                <a:latin typeface="Arial"/>
                <a:ea typeface="Arial"/>
                <a:cs typeface="Arial"/>
              </a:defRPr>
            </a:lvl7pPr>
            <a:lvl8pPr>
              <a:defRPr sz="2850" b="1">
                <a:solidFill>
                  <a:srgbClr val="17333E"/>
                </a:solidFill>
                <a:latin typeface="Arial"/>
                <a:ea typeface="Arial"/>
                <a:cs typeface="Arial"/>
              </a:defRPr>
            </a:lvl8pPr>
            <a:lvl9pPr>
              <a:defRPr sz="2850" b="1">
                <a:solidFill>
                  <a:srgbClr val="17333E"/>
                </a:solidFill>
                <a:latin typeface="Arial"/>
                <a:ea typeface="Arial"/>
                <a:cs typeface="Arial"/>
              </a:defRPr>
            </a:lvl9pPr>
          </a:lstStyle>
          <a:p xmlns:a="http://schemas.openxmlformats.org/drawingml/2006/main">
            <a:pPr>
              <a:defRPr sz="2850" b="1">
                <a:solidFill>
                  <a:srgbClr val="17333E"/>
                </a:solidFill>
                <a:latin typeface="Arial"/>
                <a:ea typeface="Arial"/>
                <a:cs typeface="Arial"/>
              </a:defRPr>
            </a:pPr>
            <a:r>
              <a:rPr sz="2850" b="1">
                <a:solidFill>
                  <a:srgbClr val="17333E"/>
                </a:solidFill>
                <a:latin typeface="Arial"/>
                <a:ea typeface="Arial"/>
                <a:cs typeface="Arial"/>
              </a:rPr>
              <a:t>The software distinguishes three misleading signals</a:t>
            </a:r>
          </a:p>
        </p:txBody>
      </p:sp>
      <p:sp>
        <p:nvSpPr>
          <p:cNvPr id="3" name="Recorded executions of the delivered Python d">
            <a:extLst xmlns:a="http://schemas.openxmlformats.org/drawingml/2006/main">
              <a:ext uri="{FF2B5EF4-FFF2-40B4-BE49-F238E27FC236}">
                <a16:creationId xmlns:a16="http://schemas.microsoft.com/office/drawing/2014/main" id="{E38F4B75-852B-443C-A219-D5435AA7F024}"/>
              </a:ext>
            </a:extLst>
          </p:cNvPr>
          <p:cNvSpPr>
            <a:spLocks xmlns:a="http://schemas.openxmlformats.org/drawingml/2006/main" noGrp="1"/>
          </p:cNvSpPr>
          <p:nvPr/>
        </p:nvSpPr>
        <p:spPr>
          <a:xfrm xmlns:a="http://schemas.openxmlformats.org/drawingml/2006/main">
            <a:off x="609600" y="147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Recorded executions of the delivered Python decision rules</a:t>
            </a:r>
          </a:p>
        </p:txBody>
      </p:sp>
      <p:sp>
        <p:nvSpPr>
          <p:cNvPr id="4" name="Three existing synthetic fixtures / replay.py">
            <a:extLst xmlns:a="http://schemas.openxmlformats.org/drawingml/2006/main">
              <a:ext uri="{FF2B5EF4-FFF2-40B4-BE49-F238E27FC236}">
                <a16:creationId xmlns:a16="http://schemas.microsoft.com/office/drawing/2014/main" id="{2807E0E3-5BB7-4C54-B6CC-74F84FC6420A}"/>
              </a:ext>
            </a:extLst>
          </p:cNvPr>
          <p:cNvSpPr>
            <a:spLocks xmlns:a="http://schemas.openxmlformats.org/drawingml/2006/main" noGrp="1"/>
          </p:cNvSpPr>
          <p:nvPr/>
        </p:nvSpPr>
        <p:spPr>
          <a:xfrm xmlns:a="http://schemas.openxmlformats.org/drawingml/2006/main">
            <a:off x="609600" y="64198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526971"/>
                </a:solidFill>
                <a:latin typeface="Arial"/>
                <a:ea typeface="Arial"/>
                <a:cs typeface="Arial"/>
              </a:defRPr>
            </a:defPPr>
            <a:lvl1pPr>
              <a:defRPr sz="1050" b="0">
                <a:solidFill>
                  <a:srgbClr val="526971"/>
                </a:solidFill>
                <a:latin typeface="Arial"/>
                <a:ea typeface="Arial"/>
                <a:cs typeface="Arial"/>
              </a:defRPr>
            </a:lvl1pPr>
            <a:lvl2pPr>
              <a:defRPr sz="1050" b="0">
                <a:solidFill>
                  <a:srgbClr val="526971"/>
                </a:solidFill>
                <a:latin typeface="Arial"/>
                <a:ea typeface="Arial"/>
                <a:cs typeface="Arial"/>
              </a:defRPr>
            </a:lvl2pPr>
            <a:lvl3pPr>
              <a:defRPr sz="1050" b="0">
                <a:solidFill>
                  <a:srgbClr val="526971"/>
                </a:solidFill>
                <a:latin typeface="Arial"/>
                <a:ea typeface="Arial"/>
                <a:cs typeface="Arial"/>
              </a:defRPr>
            </a:lvl3pPr>
            <a:lvl4pPr>
              <a:defRPr sz="1050" b="0">
                <a:solidFill>
                  <a:srgbClr val="526971"/>
                </a:solidFill>
                <a:latin typeface="Arial"/>
                <a:ea typeface="Arial"/>
                <a:cs typeface="Arial"/>
              </a:defRPr>
            </a:lvl4pPr>
            <a:lvl5pPr>
              <a:defRPr sz="1050" b="0">
                <a:solidFill>
                  <a:srgbClr val="526971"/>
                </a:solidFill>
                <a:latin typeface="Arial"/>
                <a:ea typeface="Arial"/>
                <a:cs typeface="Arial"/>
              </a:defRPr>
            </a:lvl5pPr>
            <a:lvl6pPr>
              <a:defRPr sz="1050" b="0">
                <a:solidFill>
                  <a:srgbClr val="526971"/>
                </a:solidFill>
                <a:latin typeface="Arial"/>
                <a:ea typeface="Arial"/>
                <a:cs typeface="Arial"/>
              </a:defRPr>
            </a:lvl6pPr>
            <a:lvl7pPr>
              <a:defRPr sz="1050" b="0">
                <a:solidFill>
                  <a:srgbClr val="526971"/>
                </a:solidFill>
                <a:latin typeface="Arial"/>
                <a:ea typeface="Arial"/>
                <a:cs typeface="Arial"/>
              </a:defRPr>
            </a:lvl7pPr>
            <a:lvl8pPr>
              <a:defRPr sz="1050" b="0">
                <a:solidFill>
                  <a:srgbClr val="526971"/>
                </a:solidFill>
                <a:latin typeface="Arial"/>
                <a:ea typeface="Arial"/>
                <a:cs typeface="Arial"/>
              </a:defRPr>
            </a:lvl8pPr>
            <a:lvl9pPr>
              <a:defRPr sz="1050" b="0">
                <a:solidFill>
                  <a:srgbClr val="526971"/>
                </a:solidFill>
                <a:latin typeface="Arial"/>
                <a:ea typeface="Arial"/>
                <a:cs typeface="Arial"/>
              </a:defRPr>
            </a:lvl9pPr>
          </a:lstStyle>
          <a:p xmlns:a="http://schemas.openxmlformats.org/drawingml/2006/main">
            <a:pPr>
              <a:defRPr sz="1050" b="0">
                <a:solidFill>
                  <a:srgbClr val="526971"/>
                </a:solidFill>
                <a:latin typeface="Arial"/>
                <a:ea typeface="Arial"/>
                <a:cs typeface="Arial"/>
              </a:defRPr>
            </a:pPr>
            <a:r>
              <a:rPr sz="1050" b="0">
                <a:solidFill>
                  <a:srgbClr val="526971"/>
                </a:solidFill>
                <a:latin typeface="Arial"/>
                <a:ea typeface="Arial"/>
                <a:cs typeface="Arial"/>
              </a:rPr>
              <a:t>Three existing synthetic fixtures / replay.py / 40-case frozen software evaluation</a:t>
            </a:r>
          </a:p>
        </p:txBody>
      </p:sp>
      <p:sp>
        <p:nvSpPr>
          <p:cNvPr id="5" name="4">
            <a:extLst xmlns:a="http://schemas.openxmlformats.org/drawingml/2006/main">
              <a:ext uri="{FF2B5EF4-FFF2-40B4-BE49-F238E27FC236}">
                <a16:creationId xmlns:a16="http://schemas.microsoft.com/office/drawing/2014/main" id="{8107E02E-6E5D-427B-BF5E-DE81C0B89921}"/>
              </a:ext>
            </a:extLst>
          </p:cNvPr>
          <p:cNvSpPr>
            <a:spLocks xmlns:a="http://schemas.openxmlformats.org/drawingml/2006/main" noGrp="1"/>
          </p:cNvSpPr>
          <p:nvPr/>
        </p:nvSpPr>
        <p:spPr>
          <a:xfrm xmlns:a="http://schemas.openxmlformats.org/drawingml/2006/main">
            <a:off x="11334750" y="6400800"/>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4</a:t>
            </a:r>
          </a:p>
        </p:txBody>
      </p:sp>
      <p:sp>
        <p:nvSpPr>
          <p:cNvPr id="6" name="Protein rises 40%">
            <a:extLst xmlns:a="http://schemas.openxmlformats.org/drawingml/2006/main">
              <a:ext uri="{FF2B5EF4-FFF2-40B4-BE49-F238E27FC236}">
                <a16:creationId xmlns:a16="http://schemas.microsoft.com/office/drawing/2014/main" id="{3EBF2B5D-45AB-4A74-9531-0E5F89F5BDD2}"/>
              </a:ext>
            </a:extLst>
          </p:cNvPr>
          <p:cNvSpPr>
            <a:spLocks xmlns:a="http://schemas.openxmlformats.org/drawingml/2006/main" noGrp="1"/>
          </p:cNvSpPr>
          <p:nvPr/>
        </p:nvSpPr>
        <p:spPr>
          <a:xfrm xmlns:a="http://schemas.openxmlformats.org/drawingml/2006/main">
            <a:off x="609600" y="236220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176C63"/>
                </a:solidFill>
                <a:latin typeface="Arial"/>
                <a:ea typeface="Arial"/>
                <a:cs typeface="Arial"/>
              </a:defRPr>
            </a:defPPr>
            <a:lvl1pPr>
              <a:defRPr sz="2550" b="1">
                <a:solidFill>
                  <a:srgbClr val="176C63"/>
                </a:solidFill>
                <a:latin typeface="Arial"/>
                <a:ea typeface="Arial"/>
                <a:cs typeface="Arial"/>
              </a:defRPr>
            </a:lvl1pPr>
            <a:lvl2pPr>
              <a:defRPr sz="2550" b="1">
                <a:solidFill>
                  <a:srgbClr val="176C63"/>
                </a:solidFill>
                <a:latin typeface="Arial"/>
                <a:ea typeface="Arial"/>
                <a:cs typeface="Arial"/>
              </a:defRPr>
            </a:lvl2pPr>
            <a:lvl3pPr>
              <a:defRPr sz="2550" b="1">
                <a:solidFill>
                  <a:srgbClr val="176C63"/>
                </a:solidFill>
                <a:latin typeface="Arial"/>
                <a:ea typeface="Arial"/>
                <a:cs typeface="Arial"/>
              </a:defRPr>
            </a:lvl3pPr>
            <a:lvl4pPr>
              <a:defRPr sz="2550" b="1">
                <a:solidFill>
                  <a:srgbClr val="176C63"/>
                </a:solidFill>
                <a:latin typeface="Arial"/>
                <a:ea typeface="Arial"/>
                <a:cs typeface="Arial"/>
              </a:defRPr>
            </a:lvl4pPr>
            <a:lvl5pPr>
              <a:defRPr sz="2550" b="1">
                <a:solidFill>
                  <a:srgbClr val="176C63"/>
                </a:solidFill>
                <a:latin typeface="Arial"/>
                <a:ea typeface="Arial"/>
                <a:cs typeface="Arial"/>
              </a:defRPr>
            </a:lvl5pPr>
            <a:lvl6pPr>
              <a:defRPr sz="2550" b="1">
                <a:solidFill>
                  <a:srgbClr val="176C63"/>
                </a:solidFill>
                <a:latin typeface="Arial"/>
                <a:ea typeface="Arial"/>
                <a:cs typeface="Arial"/>
              </a:defRPr>
            </a:lvl6pPr>
            <a:lvl7pPr>
              <a:defRPr sz="2550" b="1">
                <a:solidFill>
                  <a:srgbClr val="176C63"/>
                </a:solidFill>
                <a:latin typeface="Arial"/>
                <a:ea typeface="Arial"/>
                <a:cs typeface="Arial"/>
              </a:defRPr>
            </a:lvl7pPr>
            <a:lvl8pPr>
              <a:defRPr sz="2550" b="1">
                <a:solidFill>
                  <a:srgbClr val="176C63"/>
                </a:solidFill>
                <a:latin typeface="Arial"/>
                <a:ea typeface="Arial"/>
                <a:cs typeface="Arial"/>
              </a:defRPr>
            </a:lvl8pPr>
            <a:lvl9pPr>
              <a:defRPr sz="2550" b="1">
                <a:solidFill>
                  <a:srgbClr val="176C63"/>
                </a:solidFill>
                <a:latin typeface="Arial"/>
                <a:ea typeface="Arial"/>
                <a:cs typeface="Arial"/>
              </a:defRPr>
            </a:lvl9pPr>
          </a:lstStyle>
          <a:p xmlns:a="http://schemas.openxmlformats.org/drawingml/2006/main">
            <a:pPr>
              <a:defRPr sz="2550" b="1">
                <a:solidFill>
                  <a:srgbClr val="176C63"/>
                </a:solidFill>
                <a:latin typeface="Arial"/>
                <a:ea typeface="Arial"/>
                <a:cs typeface="Arial"/>
              </a:defRPr>
            </a:pPr>
            <a:r>
              <a:rPr sz="2550" b="1">
                <a:solidFill>
                  <a:srgbClr val="176C63"/>
                </a:solidFill>
                <a:latin typeface="Arial"/>
                <a:ea typeface="Arial"/>
                <a:cs typeface="Arial"/>
              </a:rPr>
              <a:t>Protein rises 40%</a:t>
            </a:r>
          </a:p>
        </p:txBody>
      </p:sp>
      <p:sp>
        <p:nvSpPr>
          <p:cNvPr id="7" name="Functional-benefit interval&#10;−2 to +4 percenta">
            <a:extLst xmlns:a="http://schemas.openxmlformats.org/drawingml/2006/main">
              <a:ext uri="{FF2B5EF4-FFF2-40B4-BE49-F238E27FC236}">
                <a16:creationId xmlns:a16="http://schemas.microsoft.com/office/drawing/2014/main" id="{DDBF2DA2-7F6A-4566-84BA-4EFA521673DE}"/>
              </a:ext>
            </a:extLst>
          </p:cNvPr>
          <p:cNvSpPr>
            <a:spLocks xmlns:a="http://schemas.openxmlformats.org/drawingml/2006/main" noGrp="1"/>
          </p:cNvSpPr>
          <p:nvPr/>
        </p:nvSpPr>
        <p:spPr>
          <a:xfrm xmlns:a="http://schemas.openxmlformats.org/drawingml/2006/main">
            <a:off x="609600" y="3476625"/>
            <a:ext cx="5048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7333E"/>
                </a:solidFill>
                <a:latin typeface="Arial"/>
                <a:ea typeface="Arial"/>
                <a:cs typeface="Arial"/>
              </a:defRPr>
            </a:defPPr>
            <a:lvl1pPr>
              <a:defRPr sz="2175" b="0">
                <a:solidFill>
                  <a:srgbClr val="17333E"/>
                </a:solidFill>
                <a:latin typeface="Arial"/>
                <a:ea typeface="Arial"/>
                <a:cs typeface="Arial"/>
              </a:defRPr>
            </a:lvl1pPr>
            <a:lvl2pPr>
              <a:defRPr sz="2175" b="0">
                <a:solidFill>
                  <a:srgbClr val="17333E"/>
                </a:solidFill>
                <a:latin typeface="Arial"/>
                <a:ea typeface="Arial"/>
                <a:cs typeface="Arial"/>
              </a:defRPr>
            </a:lvl2pPr>
            <a:lvl3pPr>
              <a:defRPr sz="2175" b="0">
                <a:solidFill>
                  <a:srgbClr val="17333E"/>
                </a:solidFill>
                <a:latin typeface="Arial"/>
                <a:ea typeface="Arial"/>
                <a:cs typeface="Arial"/>
              </a:defRPr>
            </a:lvl3pPr>
            <a:lvl4pPr>
              <a:defRPr sz="2175" b="0">
                <a:solidFill>
                  <a:srgbClr val="17333E"/>
                </a:solidFill>
                <a:latin typeface="Arial"/>
                <a:ea typeface="Arial"/>
                <a:cs typeface="Arial"/>
              </a:defRPr>
            </a:lvl4pPr>
            <a:lvl5pPr>
              <a:defRPr sz="2175" b="0">
                <a:solidFill>
                  <a:srgbClr val="17333E"/>
                </a:solidFill>
                <a:latin typeface="Arial"/>
                <a:ea typeface="Arial"/>
                <a:cs typeface="Arial"/>
              </a:defRPr>
            </a:lvl5pPr>
            <a:lvl6pPr>
              <a:defRPr sz="2175" b="0">
                <a:solidFill>
                  <a:srgbClr val="17333E"/>
                </a:solidFill>
                <a:latin typeface="Arial"/>
                <a:ea typeface="Arial"/>
                <a:cs typeface="Arial"/>
              </a:defRPr>
            </a:lvl6pPr>
            <a:lvl7pPr>
              <a:defRPr sz="2175" b="0">
                <a:solidFill>
                  <a:srgbClr val="17333E"/>
                </a:solidFill>
                <a:latin typeface="Arial"/>
                <a:ea typeface="Arial"/>
                <a:cs typeface="Arial"/>
              </a:defRPr>
            </a:lvl7pPr>
            <a:lvl8pPr>
              <a:defRPr sz="2175" b="0">
                <a:solidFill>
                  <a:srgbClr val="17333E"/>
                </a:solidFill>
                <a:latin typeface="Arial"/>
                <a:ea typeface="Arial"/>
                <a:cs typeface="Arial"/>
              </a:defRPr>
            </a:lvl8pPr>
            <a:lvl9pPr>
              <a:defRPr sz="2175" b="0">
                <a:solidFill>
                  <a:srgbClr val="17333E"/>
                </a:solidFill>
                <a:latin typeface="Arial"/>
                <a:ea typeface="Arial"/>
                <a:cs typeface="Arial"/>
              </a:defRPr>
            </a:lvl9pPr>
          </a:lstStyle>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Functional-benefit interval</a:t>
            </a:r>
          </a:p>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−2 to +4 percentage points</a:t>
            </a:r>
          </a:p>
        </p:txBody>
      </p:sp>
      <p:sp>
        <p:nvSpPr>
          <p:cNvPr id="8" name="Illustrative worthwhile benefit: 5 pp">
            <a:extLst xmlns:a="http://schemas.openxmlformats.org/drawingml/2006/main">
              <a:ext uri="{FF2B5EF4-FFF2-40B4-BE49-F238E27FC236}">
                <a16:creationId xmlns:a16="http://schemas.microsoft.com/office/drawing/2014/main" id="{D1CEF9B3-3F6E-45EB-BFB5-2A1FFF0999E6}"/>
              </a:ext>
            </a:extLst>
          </p:cNvPr>
          <p:cNvSpPr>
            <a:spLocks xmlns:a="http://schemas.openxmlformats.org/drawingml/2006/main" noGrp="1"/>
          </p:cNvSpPr>
          <p:nvPr/>
        </p:nvSpPr>
        <p:spPr>
          <a:xfrm xmlns:a="http://schemas.openxmlformats.org/drawingml/2006/main">
            <a:off x="609600" y="5029200"/>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526971"/>
                </a:solidFill>
                <a:latin typeface="Arial"/>
                <a:ea typeface="Arial"/>
                <a:cs typeface="Arial"/>
              </a:defRPr>
            </a:defPPr>
            <a:lvl1pPr>
              <a:defRPr sz="1725" b="0">
                <a:solidFill>
                  <a:srgbClr val="526971"/>
                </a:solidFill>
                <a:latin typeface="Arial"/>
                <a:ea typeface="Arial"/>
                <a:cs typeface="Arial"/>
              </a:defRPr>
            </a:lvl1pPr>
            <a:lvl2pPr>
              <a:defRPr sz="1725" b="0">
                <a:solidFill>
                  <a:srgbClr val="526971"/>
                </a:solidFill>
                <a:latin typeface="Arial"/>
                <a:ea typeface="Arial"/>
                <a:cs typeface="Arial"/>
              </a:defRPr>
            </a:lvl2pPr>
            <a:lvl3pPr>
              <a:defRPr sz="1725" b="0">
                <a:solidFill>
                  <a:srgbClr val="526971"/>
                </a:solidFill>
                <a:latin typeface="Arial"/>
                <a:ea typeface="Arial"/>
                <a:cs typeface="Arial"/>
              </a:defRPr>
            </a:lvl3pPr>
            <a:lvl4pPr>
              <a:defRPr sz="1725" b="0">
                <a:solidFill>
                  <a:srgbClr val="526971"/>
                </a:solidFill>
                <a:latin typeface="Arial"/>
                <a:ea typeface="Arial"/>
                <a:cs typeface="Arial"/>
              </a:defRPr>
            </a:lvl4pPr>
            <a:lvl5pPr>
              <a:defRPr sz="1725" b="0">
                <a:solidFill>
                  <a:srgbClr val="526971"/>
                </a:solidFill>
                <a:latin typeface="Arial"/>
                <a:ea typeface="Arial"/>
                <a:cs typeface="Arial"/>
              </a:defRPr>
            </a:lvl5pPr>
            <a:lvl6pPr>
              <a:defRPr sz="1725" b="0">
                <a:solidFill>
                  <a:srgbClr val="526971"/>
                </a:solidFill>
                <a:latin typeface="Arial"/>
                <a:ea typeface="Arial"/>
                <a:cs typeface="Arial"/>
              </a:defRPr>
            </a:lvl6pPr>
            <a:lvl7pPr>
              <a:defRPr sz="1725" b="0">
                <a:solidFill>
                  <a:srgbClr val="526971"/>
                </a:solidFill>
                <a:latin typeface="Arial"/>
                <a:ea typeface="Arial"/>
                <a:cs typeface="Arial"/>
              </a:defRPr>
            </a:lvl7pPr>
            <a:lvl8pPr>
              <a:defRPr sz="1725" b="0">
                <a:solidFill>
                  <a:srgbClr val="526971"/>
                </a:solidFill>
                <a:latin typeface="Arial"/>
                <a:ea typeface="Arial"/>
                <a:cs typeface="Arial"/>
              </a:defRPr>
            </a:lvl8pPr>
            <a:lvl9pPr>
              <a:defRPr sz="1725" b="0">
                <a:solidFill>
                  <a:srgbClr val="526971"/>
                </a:solidFill>
                <a:latin typeface="Arial"/>
                <a:ea typeface="Arial"/>
                <a:cs typeface="Arial"/>
              </a:defRPr>
            </a:lvl9pPr>
          </a:lstStyle>
          <a:p xmlns:a="http://schemas.openxmlformats.org/drawingml/2006/main">
            <a:pPr>
              <a:defRPr sz="1725" b="0">
                <a:solidFill>
                  <a:srgbClr val="526971"/>
                </a:solidFill>
                <a:latin typeface="Arial"/>
                <a:ea typeface="Arial"/>
                <a:cs typeface="Arial"/>
              </a:defRPr>
            </a:pPr>
            <a:r>
              <a:rPr sz="1725" b="0">
                <a:solidFill>
                  <a:srgbClr val="526971"/>
                </a:solidFill>
                <a:latin typeface="Arial"/>
                <a:ea typeface="Arial"/>
                <a:cs typeface="Arial"/>
              </a:rPr>
              <a:t>Illustrative worthwhile benefit: 5 pp</a:t>
            </a:r>
          </a:p>
        </p:txBody>
      </p:sp>
      <p:pic>
        <p:nvPicPr>
          <p:cNvPr id="9" name="">
            <a:extLst xmlns:a="http://schemas.openxmlformats.org/drawingml/2006/main">
              <a:ext uri="{FF2B5EF4-FFF2-40B4-BE49-F238E27FC236}">
                <a16:creationId xmlns:a16="http://schemas.microsoft.com/office/drawing/2014/main" id="{69C58357-FF1F-416F-9FCF-CB0860E0F172}"/>
              </a:ext>
            </a:extLst>
          </p:cNvPr>
          <p:cNvPicPr>
            <a:picLocks xmlns:a="http://schemas.openxmlformats.org/drawingml/2006/main" noChangeAspect="1"/>
          </p:cNvPicPr>
          <p:nvPr/>
        </p:nvPicPr>
        <p:blipFill>
          <a:blip xmlns:r="http://schemas.openxmlformats.org/officeDocument/2006/relationships" xmlns:a="http://schemas.openxmlformats.org/drawingml/2006/main" r:embed="R7c91df5cf18341af"/>
          <a:stretch xmlns:a="http://schemas.openxmlformats.org/drawingml/2006/main"/>
        </p:blipFill>
        <p:spPr>
          <a:xfrm xmlns:a="http://schemas.openxmlformats.org/drawingml/2006/main">
            <a:off x="6096000" y="2083052"/>
            <a:ext cx="5486400" cy="3701545"/>
          </a:xfrm>
          <a:prstGeom xmlns:a="http://schemas.openxmlformats.org/drawingml/2006/main" prst="rect">
            <a:avLst/>
          </a:prstGeom>
        </p:spPr>
      </p:pic>
      <p:sp>
        <p:nvSpPr>
          <p:cNvPr id="10" name="SYNTHETIC INPUTS / supplied intervals / recor">
            <a:extLst xmlns:a="http://schemas.openxmlformats.org/drawingml/2006/main">
              <a:ext uri="{FF2B5EF4-FFF2-40B4-BE49-F238E27FC236}">
                <a16:creationId xmlns:a16="http://schemas.microsoft.com/office/drawing/2014/main" id="{92A09E41-C7EB-4CF4-A65B-A003C7EBED74}"/>
              </a:ext>
            </a:extLst>
          </p:cNvPr>
          <p:cNvSpPr>
            <a:spLocks xmlns:a="http://schemas.openxmlformats.org/drawingml/2006/main" noGrp="1"/>
          </p:cNvSpPr>
          <p:nvPr/>
        </p:nvSpPr>
        <p:spPr>
          <a:xfrm xmlns:a="http://schemas.openxmlformats.org/drawingml/2006/main">
            <a:off x="609600" y="594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176C63"/>
                </a:solidFill>
                <a:latin typeface="Arial"/>
                <a:ea typeface="Arial"/>
                <a:cs typeface="Arial"/>
              </a:defRPr>
            </a:defPPr>
            <a:lvl1pPr>
              <a:defRPr sz="1800" b="1">
                <a:solidFill>
                  <a:srgbClr val="176C63"/>
                </a:solidFill>
                <a:latin typeface="Arial"/>
                <a:ea typeface="Arial"/>
                <a:cs typeface="Arial"/>
              </a:defRPr>
            </a:lvl1pPr>
            <a:lvl2pPr>
              <a:defRPr sz="1800" b="1">
                <a:solidFill>
                  <a:srgbClr val="176C63"/>
                </a:solidFill>
                <a:latin typeface="Arial"/>
                <a:ea typeface="Arial"/>
                <a:cs typeface="Arial"/>
              </a:defRPr>
            </a:lvl2pPr>
            <a:lvl3pPr>
              <a:defRPr sz="1800" b="1">
                <a:solidFill>
                  <a:srgbClr val="176C63"/>
                </a:solidFill>
                <a:latin typeface="Arial"/>
                <a:ea typeface="Arial"/>
                <a:cs typeface="Arial"/>
              </a:defRPr>
            </a:lvl3pPr>
            <a:lvl4pPr>
              <a:defRPr sz="1800" b="1">
                <a:solidFill>
                  <a:srgbClr val="176C63"/>
                </a:solidFill>
                <a:latin typeface="Arial"/>
                <a:ea typeface="Arial"/>
                <a:cs typeface="Arial"/>
              </a:defRPr>
            </a:lvl4pPr>
            <a:lvl5pPr>
              <a:defRPr sz="1800" b="1">
                <a:solidFill>
                  <a:srgbClr val="176C63"/>
                </a:solidFill>
                <a:latin typeface="Arial"/>
                <a:ea typeface="Arial"/>
                <a:cs typeface="Arial"/>
              </a:defRPr>
            </a:lvl5pPr>
            <a:lvl6pPr>
              <a:defRPr sz="1800" b="1">
                <a:solidFill>
                  <a:srgbClr val="176C63"/>
                </a:solidFill>
                <a:latin typeface="Arial"/>
                <a:ea typeface="Arial"/>
                <a:cs typeface="Arial"/>
              </a:defRPr>
            </a:lvl6pPr>
            <a:lvl7pPr>
              <a:defRPr sz="1800" b="1">
                <a:solidFill>
                  <a:srgbClr val="176C63"/>
                </a:solidFill>
                <a:latin typeface="Arial"/>
                <a:ea typeface="Arial"/>
                <a:cs typeface="Arial"/>
              </a:defRPr>
            </a:lvl7pPr>
            <a:lvl8pPr>
              <a:defRPr sz="1800" b="1">
                <a:solidFill>
                  <a:srgbClr val="176C63"/>
                </a:solidFill>
                <a:latin typeface="Arial"/>
                <a:ea typeface="Arial"/>
                <a:cs typeface="Arial"/>
              </a:defRPr>
            </a:lvl8pPr>
            <a:lvl9pPr>
              <a:defRPr sz="1800" b="1">
                <a:solidFill>
                  <a:srgbClr val="176C63"/>
                </a:solidFill>
                <a:latin typeface="Arial"/>
                <a:ea typeface="Arial"/>
                <a:cs typeface="Arial"/>
              </a:defRPr>
            </a:lvl9pPr>
          </a:lstStyle>
          <a:p xmlns:a="http://schemas.openxmlformats.org/drawingml/2006/main">
            <a:pPr>
              <a:defRPr sz="1800" b="1">
                <a:solidFill>
                  <a:srgbClr val="176C63"/>
                </a:solidFill>
                <a:latin typeface="Arial"/>
                <a:ea typeface="Arial"/>
                <a:cs typeface="Arial"/>
              </a:defRPr>
            </a:pPr>
            <a:r>
              <a:rPr sz="1800" b="1">
                <a:solidFill>
                  <a:srgbClr val="176C63"/>
                </a:solidFill>
                <a:latin typeface="Arial"/>
                <a:ea typeface="Arial"/>
                <a:cs typeface="Arial"/>
              </a:rPr>
              <a:t>SYNTHETIC INPUTS / supplied intervals / recorded Python executions</a:t>
            </a:r>
          </a:p>
        </p:txBody>
      </p:sp>
    </p:spTree>
    <p:extLst>
      <p:ext uri="{BB962C8B-B14F-4D97-AF65-F5344CB8AC3E}">
        <p14:creationId xmlns:p14="http://schemas.microsoft.com/office/powerpoint/2010/main" val="1575612811"/>
      </p:ext>
    </p:extLst>
  </p:cSld>
</p:sld>
</file>

<file path=ppt/slides/slide5.xml><?xml version="1.0" encoding="utf-8"?>
<p:sld xmlns:p="http://schemas.openxmlformats.org/presentationml/2006/main">
  <p:cSld>
    <p:bg>
      <p:bgPr>
        <a:solidFill xmlns:a="http://schemas.openxmlformats.org/drawingml/2006/main">
          <a:srgbClr val="F2F6F5"/>
        </a:solidFill>
      </p:bgPr>
    </p:bg>
    <p:spTree>
      <p:nvGrpSpPr>
        <p:cNvPr id="1" name=""/>
        <p:cNvGrpSpPr/>
        <p:nvPr/>
      </p:nvGrpSpPr>
      <p:grpSpPr>
        <a:xfrm xmlns:a="http://schemas.openxmlformats.org/drawingml/2006/main"/>
      </p:grpSpPr>
      <p:sp>
        <p:nvSpPr>
          <p:cNvPr id="11" name="05 / THE WORKING DEMO">
            <a:extLst xmlns:a="http://schemas.openxmlformats.org/drawingml/2006/main">
              <a:ext uri="{FF2B5EF4-FFF2-40B4-BE49-F238E27FC236}">
                <a16:creationId xmlns:a16="http://schemas.microsoft.com/office/drawing/2014/main" id="{14EF82FD-6E6B-4AC9-A0AC-009E74D765CA}"/>
              </a:ext>
            </a:extLst>
          </p:cNvPr>
          <p:cNvSpPr>
            <a:spLocks xmlns:a="http://schemas.openxmlformats.org/drawingml/2006/main" noGrp="1"/>
          </p:cNvSpPr>
          <p:nvPr/>
        </p:nvSpPr>
        <p:spPr>
          <a:xfrm xmlns:a="http://schemas.openxmlformats.org/drawingml/2006/main">
            <a:off x="609600" y="3429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176C63"/>
                </a:solidFill>
                <a:latin typeface="Arial"/>
                <a:ea typeface="Arial"/>
                <a:cs typeface="Arial"/>
              </a:defRPr>
            </a:defPPr>
            <a:lvl1pPr>
              <a:defRPr sz="1350" b="1">
                <a:solidFill>
                  <a:srgbClr val="176C63"/>
                </a:solidFill>
                <a:latin typeface="Arial"/>
                <a:ea typeface="Arial"/>
                <a:cs typeface="Arial"/>
              </a:defRPr>
            </a:lvl1pPr>
            <a:lvl2pPr>
              <a:defRPr sz="1350" b="1">
                <a:solidFill>
                  <a:srgbClr val="176C63"/>
                </a:solidFill>
                <a:latin typeface="Arial"/>
                <a:ea typeface="Arial"/>
                <a:cs typeface="Arial"/>
              </a:defRPr>
            </a:lvl2pPr>
            <a:lvl3pPr>
              <a:defRPr sz="1350" b="1">
                <a:solidFill>
                  <a:srgbClr val="176C63"/>
                </a:solidFill>
                <a:latin typeface="Arial"/>
                <a:ea typeface="Arial"/>
                <a:cs typeface="Arial"/>
              </a:defRPr>
            </a:lvl3pPr>
            <a:lvl4pPr>
              <a:defRPr sz="1350" b="1">
                <a:solidFill>
                  <a:srgbClr val="176C63"/>
                </a:solidFill>
                <a:latin typeface="Arial"/>
                <a:ea typeface="Arial"/>
                <a:cs typeface="Arial"/>
              </a:defRPr>
            </a:lvl4pPr>
            <a:lvl5pPr>
              <a:defRPr sz="1350" b="1">
                <a:solidFill>
                  <a:srgbClr val="176C63"/>
                </a:solidFill>
                <a:latin typeface="Arial"/>
                <a:ea typeface="Arial"/>
                <a:cs typeface="Arial"/>
              </a:defRPr>
            </a:lvl5pPr>
            <a:lvl6pPr>
              <a:defRPr sz="1350" b="1">
                <a:solidFill>
                  <a:srgbClr val="176C63"/>
                </a:solidFill>
                <a:latin typeface="Arial"/>
                <a:ea typeface="Arial"/>
                <a:cs typeface="Arial"/>
              </a:defRPr>
            </a:lvl6pPr>
            <a:lvl7pPr>
              <a:defRPr sz="1350" b="1">
                <a:solidFill>
                  <a:srgbClr val="176C63"/>
                </a:solidFill>
                <a:latin typeface="Arial"/>
                <a:ea typeface="Arial"/>
                <a:cs typeface="Arial"/>
              </a:defRPr>
            </a:lvl7pPr>
            <a:lvl8pPr>
              <a:defRPr sz="1350" b="1">
                <a:solidFill>
                  <a:srgbClr val="176C63"/>
                </a:solidFill>
                <a:latin typeface="Arial"/>
                <a:ea typeface="Arial"/>
                <a:cs typeface="Arial"/>
              </a:defRPr>
            </a:lvl8pPr>
            <a:lvl9pPr>
              <a:defRPr sz="1350" b="1">
                <a:solidFill>
                  <a:srgbClr val="176C63"/>
                </a:solidFill>
                <a:latin typeface="Arial"/>
                <a:ea typeface="Arial"/>
                <a:cs typeface="Arial"/>
              </a:defRPr>
            </a:lvl9pPr>
          </a:lstStyle>
          <a:p xmlns:a="http://schemas.openxmlformats.org/drawingml/2006/main">
            <a:pPr>
              <a:defRPr sz="1350" b="1">
                <a:solidFill>
                  <a:srgbClr val="176C63"/>
                </a:solidFill>
                <a:latin typeface="Arial"/>
                <a:ea typeface="Arial"/>
                <a:cs typeface="Arial"/>
              </a:defRPr>
            </a:pPr>
            <a:r>
              <a:rPr sz="1350" b="1">
                <a:solidFill>
                  <a:srgbClr val="176C63"/>
                </a:solidFill>
                <a:latin typeface="Arial"/>
                <a:ea typeface="Arial"/>
                <a:cs typeface="Arial"/>
              </a:rPr>
              <a:t>05 / THE WORKING DEMO</a:t>
            </a:r>
          </a:p>
        </p:txBody>
      </p:sp>
      <p:sp>
        <p:nvSpPr>
          <p:cNvPr id="2" name="A reusable gene-to-condition navigator">
            <a:extLst xmlns:a="http://schemas.openxmlformats.org/drawingml/2006/main">
              <a:ext uri="{FF2B5EF4-FFF2-40B4-BE49-F238E27FC236}">
                <a16:creationId xmlns:a16="http://schemas.microsoft.com/office/drawing/2014/main" id="{93833CDE-CD2F-47F2-9DDB-3643BE20B197}"/>
              </a:ext>
            </a:extLst>
          </p:cNvPr>
          <p:cNvSpPr>
            <a:spLocks xmlns:a="http://schemas.openxmlformats.org/drawingml/2006/main" noGrp="1"/>
          </p:cNvSpPr>
          <p:nvPr/>
        </p:nvSpPr>
        <p:spPr>
          <a:xfrm xmlns:a="http://schemas.openxmlformats.org/drawingml/2006/main">
            <a:off x="609600" y="8191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7333E"/>
                </a:solidFill>
                <a:latin typeface="Arial"/>
                <a:ea typeface="Arial"/>
                <a:cs typeface="Arial"/>
              </a:defRPr>
            </a:defPPr>
            <a:lvl1pPr>
              <a:defRPr sz="3150" b="1">
                <a:solidFill>
                  <a:srgbClr val="17333E"/>
                </a:solidFill>
                <a:latin typeface="Arial"/>
                <a:ea typeface="Arial"/>
                <a:cs typeface="Arial"/>
              </a:defRPr>
            </a:lvl1pPr>
            <a:lvl2pPr>
              <a:defRPr sz="3150" b="1">
                <a:solidFill>
                  <a:srgbClr val="17333E"/>
                </a:solidFill>
                <a:latin typeface="Arial"/>
                <a:ea typeface="Arial"/>
                <a:cs typeface="Arial"/>
              </a:defRPr>
            </a:lvl2pPr>
            <a:lvl3pPr>
              <a:defRPr sz="3150" b="1">
                <a:solidFill>
                  <a:srgbClr val="17333E"/>
                </a:solidFill>
                <a:latin typeface="Arial"/>
                <a:ea typeface="Arial"/>
                <a:cs typeface="Arial"/>
              </a:defRPr>
            </a:lvl3pPr>
            <a:lvl4pPr>
              <a:defRPr sz="3150" b="1">
                <a:solidFill>
                  <a:srgbClr val="17333E"/>
                </a:solidFill>
                <a:latin typeface="Arial"/>
                <a:ea typeface="Arial"/>
                <a:cs typeface="Arial"/>
              </a:defRPr>
            </a:lvl4pPr>
            <a:lvl5pPr>
              <a:defRPr sz="3150" b="1">
                <a:solidFill>
                  <a:srgbClr val="17333E"/>
                </a:solidFill>
                <a:latin typeface="Arial"/>
                <a:ea typeface="Arial"/>
                <a:cs typeface="Arial"/>
              </a:defRPr>
            </a:lvl5pPr>
            <a:lvl6pPr>
              <a:defRPr sz="3150" b="1">
                <a:solidFill>
                  <a:srgbClr val="17333E"/>
                </a:solidFill>
                <a:latin typeface="Arial"/>
                <a:ea typeface="Arial"/>
                <a:cs typeface="Arial"/>
              </a:defRPr>
            </a:lvl6pPr>
            <a:lvl7pPr>
              <a:defRPr sz="3150" b="1">
                <a:solidFill>
                  <a:srgbClr val="17333E"/>
                </a:solidFill>
                <a:latin typeface="Arial"/>
                <a:ea typeface="Arial"/>
                <a:cs typeface="Arial"/>
              </a:defRPr>
            </a:lvl7pPr>
            <a:lvl8pPr>
              <a:defRPr sz="3150" b="1">
                <a:solidFill>
                  <a:srgbClr val="17333E"/>
                </a:solidFill>
                <a:latin typeface="Arial"/>
                <a:ea typeface="Arial"/>
                <a:cs typeface="Arial"/>
              </a:defRPr>
            </a:lvl8pPr>
            <a:lvl9pPr>
              <a:defRPr sz="3150" b="1">
                <a:solidFill>
                  <a:srgbClr val="17333E"/>
                </a:solidFill>
                <a:latin typeface="Arial"/>
                <a:ea typeface="Arial"/>
                <a:cs typeface="Arial"/>
              </a:defRPr>
            </a:lvl9pPr>
          </a:lstStyle>
          <a:p xmlns:a="http://schemas.openxmlformats.org/drawingml/2006/main">
            <a:pPr>
              <a:defRPr sz="3150" b="1">
                <a:solidFill>
                  <a:srgbClr val="17333E"/>
                </a:solidFill>
                <a:latin typeface="Arial"/>
                <a:ea typeface="Arial"/>
                <a:cs typeface="Arial"/>
              </a:defRPr>
            </a:pPr>
            <a:r>
              <a:rPr sz="3150" b="1">
                <a:solidFill>
                  <a:srgbClr val="17333E"/>
                </a:solidFill>
                <a:latin typeface="Arial"/>
                <a:ea typeface="Arial"/>
                <a:cs typeface="Arial"/>
              </a:rPr>
              <a:t>A reusable gene-to-condition navigator</a:t>
            </a:r>
          </a:p>
        </p:txBody>
      </p:sp>
      <p:sp>
        <p:nvSpPr>
          <p:cNvPr id="3" name="Local queries with source evidence and unreso">
            <a:extLst xmlns:a="http://schemas.openxmlformats.org/drawingml/2006/main">
              <a:ext uri="{FF2B5EF4-FFF2-40B4-BE49-F238E27FC236}">
                <a16:creationId xmlns:a16="http://schemas.microsoft.com/office/drawing/2014/main" id="{94A29FB6-2C03-404F-9DD5-3E38EFFEFB5B}"/>
              </a:ext>
            </a:extLst>
          </p:cNvPr>
          <p:cNvSpPr>
            <a:spLocks xmlns:a="http://schemas.openxmlformats.org/drawingml/2006/main" noGrp="1"/>
          </p:cNvSpPr>
          <p:nvPr/>
        </p:nvSpPr>
        <p:spPr>
          <a:xfrm xmlns:a="http://schemas.openxmlformats.org/drawingml/2006/main">
            <a:off x="609600" y="147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Local queries with source evidence and unresolved cases visible</a:t>
            </a:r>
          </a:p>
        </p:txBody>
      </p:sp>
      <p:sp>
        <p:nvSpPr>
          <p:cNvPr id="4" name="Frozen 28-query audit / compact public benchm">
            <a:extLst xmlns:a="http://schemas.openxmlformats.org/drawingml/2006/main">
              <a:ext uri="{FF2B5EF4-FFF2-40B4-BE49-F238E27FC236}">
                <a16:creationId xmlns:a16="http://schemas.microsoft.com/office/drawing/2014/main" id="{768AFC13-1F6F-43EF-9116-077BA042CA8A}"/>
              </a:ext>
            </a:extLst>
          </p:cNvPr>
          <p:cNvSpPr>
            <a:spLocks xmlns:a="http://schemas.openxmlformats.org/drawingml/2006/main" noGrp="1"/>
          </p:cNvSpPr>
          <p:nvPr/>
        </p:nvSpPr>
        <p:spPr>
          <a:xfrm xmlns:a="http://schemas.openxmlformats.org/drawingml/2006/main">
            <a:off x="609600" y="64198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526971"/>
                </a:solidFill>
                <a:latin typeface="Arial"/>
                <a:ea typeface="Arial"/>
                <a:cs typeface="Arial"/>
              </a:defRPr>
            </a:defPPr>
            <a:lvl1pPr>
              <a:defRPr sz="1050" b="0">
                <a:solidFill>
                  <a:srgbClr val="526971"/>
                </a:solidFill>
                <a:latin typeface="Arial"/>
                <a:ea typeface="Arial"/>
                <a:cs typeface="Arial"/>
              </a:defRPr>
            </a:lvl1pPr>
            <a:lvl2pPr>
              <a:defRPr sz="1050" b="0">
                <a:solidFill>
                  <a:srgbClr val="526971"/>
                </a:solidFill>
                <a:latin typeface="Arial"/>
                <a:ea typeface="Arial"/>
                <a:cs typeface="Arial"/>
              </a:defRPr>
            </a:lvl2pPr>
            <a:lvl3pPr>
              <a:defRPr sz="1050" b="0">
                <a:solidFill>
                  <a:srgbClr val="526971"/>
                </a:solidFill>
                <a:latin typeface="Arial"/>
                <a:ea typeface="Arial"/>
                <a:cs typeface="Arial"/>
              </a:defRPr>
            </a:lvl3pPr>
            <a:lvl4pPr>
              <a:defRPr sz="1050" b="0">
                <a:solidFill>
                  <a:srgbClr val="526971"/>
                </a:solidFill>
                <a:latin typeface="Arial"/>
                <a:ea typeface="Arial"/>
                <a:cs typeface="Arial"/>
              </a:defRPr>
            </a:lvl4pPr>
            <a:lvl5pPr>
              <a:defRPr sz="1050" b="0">
                <a:solidFill>
                  <a:srgbClr val="526971"/>
                </a:solidFill>
                <a:latin typeface="Arial"/>
                <a:ea typeface="Arial"/>
                <a:cs typeface="Arial"/>
              </a:defRPr>
            </a:lvl5pPr>
            <a:lvl6pPr>
              <a:defRPr sz="1050" b="0">
                <a:solidFill>
                  <a:srgbClr val="526971"/>
                </a:solidFill>
                <a:latin typeface="Arial"/>
                <a:ea typeface="Arial"/>
                <a:cs typeface="Arial"/>
              </a:defRPr>
            </a:lvl6pPr>
            <a:lvl7pPr>
              <a:defRPr sz="1050" b="0">
                <a:solidFill>
                  <a:srgbClr val="526971"/>
                </a:solidFill>
                <a:latin typeface="Arial"/>
                <a:ea typeface="Arial"/>
                <a:cs typeface="Arial"/>
              </a:defRPr>
            </a:lvl7pPr>
            <a:lvl8pPr>
              <a:defRPr sz="1050" b="0">
                <a:solidFill>
                  <a:srgbClr val="526971"/>
                </a:solidFill>
                <a:latin typeface="Arial"/>
                <a:ea typeface="Arial"/>
                <a:cs typeface="Arial"/>
              </a:defRPr>
            </a:lvl8pPr>
            <a:lvl9pPr>
              <a:defRPr sz="1050" b="0">
                <a:solidFill>
                  <a:srgbClr val="526971"/>
                </a:solidFill>
                <a:latin typeface="Arial"/>
                <a:ea typeface="Arial"/>
                <a:cs typeface="Arial"/>
              </a:defRPr>
            </a:lvl9pPr>
          </a:lstStyle>
          <a:p xmlns:a="http://schemas.openxmlformats.org/drawingml/2006/main">
            <a:pPr>
              <a:defRPr sz="1050" b="0">
                <a:solidFill>
                  <a:srgbClr val="526971"/>
                </a:solidFill>
                <a:latin typeface="Arial"/>
                <a:ea typeface="Arial"/>
                <a:cs typeface="Arial"/>
              </a:defRPr>
            </a:pPr>
            <a:r>
              <a:rPr sz="1050" b="0">
                <a:solidFill>
                  <a:srgbClr val="526971"/>
                </a:solidFill>
                <a:latin typeface="Arial"/>
                <a:ea typeface="Arial"/>
                <a:cs typeface="Arial"/>
              </a:rPr>
              <a:t>Frozen 28-query audit / compact public benchmark / source-label recovery</a:t>
            </a:r>
          </a:p>
        </p:txBody>
      </p:sp>
      <p:sp>
        <p:nvSpPr>
          <p:cNvPr id="5" name="5">
            <a:extLst xmlns:a="http://schemas.openxmlformats.org/drawingml/2006/main">
              <a:ext uri="{FF2B5EF4-FFF2-40B4-BE49-F238E27FC236}">
                <a16:creationId xmlns:a16="http://schemas.microsoft.com/office/drawing/2014/main" id="{E4C49B76-25D5-485F-A174-8D0029FD5B55}"/>
              </a:ext>
            </a:extLst>
          </p:cNvPr>
          <p:cNvSpPr>
            <a:spLocks xmlns:a="http://schemas.openxmlformats.org/drawingml/2006/main" noGrp="1"/>
          </p:cNvSpPr>
          <p:nvPr/>
        </p:nvSpPr>
        <p:spPr>
          <a:xfrm xmlns:a="http://schemas.openxmlformats.org/drawingml/2006/main">
            <a:off x="11334750" y="6400800"/>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5</a:t>
            </a:r>
          </a:p>
        </p:txBody>
      </p:sp>
      <p:pic>
        <p:nvPicPr>
          <p:cNvPr id="6" name="">
            <a:extLst xmlns:a="http://schemas.openxmlformats.org/drawingml/2006/main">
              <a:ext uri="{FF2B5EF4-FFF2-40B4-BE49-F238E27FC236}">
                <a16:creationId xmlns:a16="http://schemas.microsoft.com/office/drawing/2014/main" id="{EB14987B-0482-44CA-B5FA-1BF5A66E2CEC}"/>
              </a:ext>
            </a:extLst>
          </p:cNvPr>
          <p:cNvPicPr>
            <a:picLocks xmlns:a="http://schemas.openxmlformats.org/drawingml/2006/main" noChangeAspect="1"/>
          </p:cNvPicPr>
          <p:nvPr/>
        </p:nvPicPr>
        <p:blipFill>
          <a:blip xmlns:r="http://schemas.openxmlformats.org/officeDocument/2006/relationships" xmlns:a="http://schemas.openxmlformats.org/drawingml/2006/main" r:embed="R151a40e2f1544448"/>
          <a:stretch xmlns:a="http://schemas.openxmlformats.org/drawingml/2006/main"/>
        </p:blipFill>
        <p:spPr>
          <a:xfrm xmlns:a="http://schemas.openxmlformats.org/drawingml/2006/main">
            <a:off x="1294209" y="2047875"/>
            <a:ext cx="5631656" cy="4095750"/>
          </a:xfrm>
          <a:prstGeom xmlns:a="http://schemas.openxmlformats.org/drawingml/2006/main" prst="rect">
            <a:avLst/>
          </a:prstGeom>
        </p:spPr>
      </p:pic>
      <p:sp>
        <p:nvSpPr>
          <p:cNvPr id="7" name="28 selected queries">
            <a:extLst xmlns:a="http://schemas.openxmlformats.org/drawingml/2006/main">
              <a:ext uri="{FF2B5EF4-FFF2-40B4-BE49-F238E27FC236}">
                <a16:creationId xmlns:a16="http://schemas.microsoft.com/office/drawing/2014/main" id="{F87E4259-6ADC-4887-B43F-38C0C6EE1C1A}"/>
              </a:ext>
            </a:extLst>
          </p:cNvPr>
          <p:cNvSpPr>
            <a:spLocks xmlns:a="http://schemas.openxmlformats.org/drawingml/2006/main" noGrp="1"/>
          </p:cNvSpPr>
          <p:nvPr/>
        </p:nvSpPr>
        <p:spPr>
          <a:xfrm xmlns:a="http://schemas.openxmlformats.org/drawingml/2006/main">
            <a:off x="8001000" y="2190750"/>
            <a:ext cx="3571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76C63"/>
                </a:solidFill>
                <a:latin typeface="Arial"/>
                <a:ea typeface="Arial"/>
                <a:cs typeface="Arial"/>
              </a:defRPr>
            </a:defPPr>
            <a:lvl1pPr>
              <a:defRPr sz="2325" b="1">
                <a:solidFill>
                  <a:srgbClr val="176C63"/>
                </a:solidFill>
                <a:latin typeface="Arial"/>
                <a:ea typeface="Arial"/>
                <a:cs typeface="Arial"/>
              </a:defRPr>
            </a:lvl1pPr>
            <a:lvl2pPr>
              <a:defRPr sz="2325" b="1">
                <a:solidFill>
                  <a:srgbClr val="176C63"/>
                </a:solidFill>
                <a:latin typeface="Arial"/>
                <a:ea typeface="Arial"/>
                <a:cs typeface="Arial"/>
              </a:defRPr>
            </a:lvl2pPr>
            <a:lvl3pPr>
              <a:defRPr sz="2325" b="1">
                <a:solidFill>
                  <a:srgbClr val="176C63"/>
                </a:solidFill>
                <a:latin typeface="Arial"/>
                <a:ea typeface="Arial"/>
                <a:cs typeface="Arial"/>
              </a:defRPr>
            </a:lvl3pPr>
            <a:lvl4pPr>
              <a:defRPr sz="2325" b="1">
                <a:solidFill>
                  <a:srgbClr val="176C63"/>
                </a:solidFill>
                <a:latin typeface="Arial"/>
                <a:ea typeface="Arial"/>
                <a:cs typeface="Arial"/>
              </a:defRPr>
            </a:lvl4pPr>
            <a:lvl5pPr>
              <a:defRPr sz="2325" b="1">
                <a:solidFill>
                  <a:srgbClr val="176C63"/>
                </a:solidFill>
                <a:latin typeface="Arial"/>
                <a:ea typeface="Arial"/>
                <a:cs typeface="Arial"/>
              </a:defRPr>
            </a:lvl5pPr>
            <a:lvl6pPr>
              <a:defRPr sz="2325" b="1">
                <a:solidFill>
                  <a:srgbClr val="176C63"/>
                </a:solidFill>
                <a:latin typeface="Arial"/>
                <a:ea typeface="Arial"/>
                <a:cs typeface="Arial"/>
              </a:defRPr>
            </a:lvl6pPr>
            <a:lvl7pPr>
              <a:defRPr sz="2325" b="1">
                <a:solidFill>
                  <a:srgbClr val="176C63"/>
                </a:solidFill>
                <a:latin typeface="Arial"/>
                <a:ea typeface="Arial"/>
                <a:cs typeface="Arial"/>
              </a:defRPr>
            </a:lvl7pPr>
            <a:lvl8pPr>
              <a:defRPr sz="2325" b="1">
                <a:solidFill>
                  <a:srgbClr val="176C63"/>
                </a:solidFill>
                <a:latin typeface="Arial"/>
                <a:ea typeface="Arial"/>
                <a:cs typeface="Arial"/>
              </a:defRPr>
            </a:lvl8pPr>
            <a:lvl9pPr>
              <a:defRPr sz="2325" b="1">
                <a:solidFill>
                  <a:srgbClr val="176C63"/>
                </a:solidFill>
                <a:latin typeface="Arial"/>
                <a:ea typeface="Arial"/>
                <a:cs typeface="Arial"/>
              </a:defRPr>
            </a:lvl9pPr>
          </a:lstStyle>
          <a:p xmlns:a="http://schemas.openxmlformats.org/drawingml/2006/main">
            <a:pPr>
              <a:defRPr sz="2325" b="1">
                <a:solidFill>
                  <a:srgbClr val="176C63"/>
                </a:solidFill>
                <a:latin typeface="Arial"/>
                <a:ea typeface="Arial"/>
                <a:cs typeface="Arial"/>
              </a:defRPr>
            </a:pPr>
            <a:r>
              <a:rPr sz="2325" b="1">
                <a:solidFill>
                  <a:srgbClr val="176C63"/>
                </a:solidFill>
                <a:latin typeface="Arial"/>
                <a:ea typeface="Arial"/>
                <a:cs typeface="Arial"/>
              </a:rPr>
              <a:t>28 selected queries</a:t>
            </a:r>
          </a:p>
        </p:txBody>
      </p:sp>
      <p:sp>
        <p:nvSpPr>
          <p:cNvPr id="8" name="47 source associations&#10;reviewed">
            <a:extLst xmlns:a="http://schemas.openxmlformats.org/drawingml/2006/main">
              <a:ext uri="{FF2B5EF4-FFF2-40B4-BE49-F238E27FC236}">
                <a16:creationId xmlns:a16="http://schemas.microsoft.com/office/drawing/2014/main" id="{85183557-6D01-4B25-AEC4-547A55437E2C}"/>
              </a:ext>
            </a:extLst>
          </p:cNvPr>
          <p:cNvSpPr>
            <a:spLocks xmlns:a="http://schemas.openxmlformats.org/drawingml/2006/main" noGrp="1"/>
          </p:cNvSpPr>
          <p:nvPr/>
        </p:nvSpPr>
        <p:spPr>
          <a:xfrm xmlns:a="http://schemas.openxmlformats.org/drawingml/2006/main">
            <a:off x="8001000" y="2905125"/>
            <a:ext cx="3571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7333E"/>
                </a:solidFill>
                <a:latin typeface="Arial"/>
                <a:ea typeface="Arial"/>
                <a:cs typeface="Arial"/>
              </a:defRPr>
            </a:defPPr>
            <a:lvl1pPr>
              <a:defRPr sz="2175" b="0">
                <a:solidFill>
                  <a:srgbClr val="17333E"/>
                </a:solidFill>
                <a:latin typeface="Arial"/>
                <a:ea typeface="Arial"/>
                <a:cs typeface="Arial"/>
              </a:defRPr>
            </a:lvl1pPr>
            <a:lvl2pPr>
              <a:defRPr sz="2175" b="0">
                <a:solidFill>
                  <a:srgbClr val="17333E"/>
                </a:solidFill>
                <a:latin typeface="Arial"/>
                <a:ea typeface="Arial"/>
                <a:cs typeface="Arial"/>
              </a:defRPr>
            </a:lvl2pPr>
            <a:lvl3pPr>
              <a:defRPr sz="2175" b="0">
                <a:solidFill>
                  <a:srgbClr val="17333E"/>
                </a:solidFill>
                <a:latin typeface="Arial"/>
                <a:ea typeface="Arial"/>
                <a:cs typeface="Arial"/>
              </a:defRPr>
            </a:lvl3pPr>
            <a:lvl4pPr>
              <a:defRPr sz="2175" b="0">
                <a:solidFill>
                  <a:srgbClr val="17333E"/>
                </a:solidFill>
                <a:latin typeface="Arial"/>
                <a:ea typeface="Arial"/>
                <a:cs typeface="Arial"/>
              </a:defRPr>
            </a:lvl4pPr>
            <a:lvl5pPr>
              <a:defRPr sz="2175" b="0">
                <a:solidFill>
                  <a:srgbClr val="17333E"/>
                </a:solidFill>
                <a:latin typeface="Arial"/>
                <a:ea typeface="Arial"/>
                <a:cs typeface="Arial"/>
              </a:defRPr>
            </a:lvl5pPr>
            <a:lvl6pPr>
              <a:defRPr sz="2175" b="0">
                <a:solidFill>
                  <a:srgbClr val="17333E"/>
                </a:solidFill>
                <a:latin typeface="Arial"/>
                <a:ea typeface="Arial"/>
                <a:cs typeface="Arial"/>
              </a:defRPr>
            </a:lvl6pPr>
            <a:lvl7pPr>
              <a:defRPr sz="2175" b="0">
                <a:solidFill>
                  <a:srgbClr val="17333E"/>
                </a:solidFill>
                <a:latin typeface="Arial"/>
                <a:ea typeface="Arial"/>
                <a:cs typeface="Arial"/>
              </a:defRPr>
            </a:lvl7pPr>
            <a:lvl8pPr>
              <a:defRPr sz="2175" b="0">
                <a:solidFill>
                  <a:srgbClr val="17333E"/>
                </a:solidFill>
                <a:latin typeface="Arial"/>
                <a:ea typeface="Arial"/>
                <a:cs typeface="Arial"/>
              </a:defRPr>
            </a:lvl8pPr>
            <a:lvl9pPr>
              <a:defRPr sz="2175" b="0">
                <a:solidFill>
                  <a:srgbClr val="17333E"/>
                </a:solidFill>
                <a:latin typeface="Arial"/>
                <a:ea typeface="Arial"/>
                <a:cs typeface="Arial"/>
              </a:defRPr>
            </a:lvl9pPr>
          </a:lstStyle>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47 source associations</a:t>
            </a:r>
          </a:p>
          <a:p xmlns:a="http://schemas.openxmlformats.org/drawingml/2006/main">
            <a:pPr>
              <a:defRPr sz="2175" b="0">
                <a:solidFill>
                  <a:srgbClr val="17333E"/>
                </a:solidFill>
                <a:latin typeface="Arial"/>
                <a:ea typeface="Arial"/>
                <a:cs typeface="Arial"/>
              </a:defRPr>
            </a:pPr>
            <a:r>
              <a:rPr sz="2175" b="0">
                <a:solidFill>
                  <a:srgbClr val="17333E"/>
                </a:solidFill>
                <a:latin typeface="Arial"/>
                <a:ea typeface="Arial"/>
                <a:cs typeface="Arial"/>
              </a:rPr>
              <a:t>reviewed</a:t>
            </a:r>
          </a:p>
        </p:txBody>
      </p:sp>
      <p:sp>
        <p:nvSpPr>
          <p:cNvPr id="9" name="Shared-source developer audit&#10;Clinical validi">
            <a:extLst xmlns:a="http://schemas.openxmlformats.org/drawingml/2006/main">
              <a:ext uri="{FF2B5EF4-FFF2-40B4-BE49-F238E27FC236}">
                <a16:creationId xmlns:a16="http://schemas.microsoft.com/office/drawing/2014/main" id="{2467A8AB-D577-4974-B8EE-DE94F955F35D}"/>
              </a:ext>
            </a:extLst>
          </p:cNvPr>
          <p:cNvSpPr>
            <a:spLocks xmlns:a="http://schemas.openxmlformats.org/drawingml/2006/main" noGrp="1"/>
          </p:cNvSpPr>
          <p:nvPr/>
        </p:nvSpPr>
        <p:spPr>
          <a:xfrm xmlns:a="http://schemas.openxmlformats.org/drawingml/2006/main">
            <a:off x="8001000" y="4171950"/>
            <a:ext cx="3571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Shared-source developer audit</a:t>
            </a:r>
          </a:p>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Clinical validity untested</a:t>
            </a:r>
          </a:p>
        </p:txBody>
      </p:sp>
      <p:sp>
        <p:nvSpPr>
          <p:cNvPr id="10" name="713 public benchmark signatures&#10;Source-label ">
            <a:extLst xmlns:a="http://schemas.openxmlformats.org/drawingml/2006/main">
              <a:ext uri="{FF2B5EF4-FFF2-40B4-BE49-F238E27FC236}">
                <a16:creationId xmlns:a16="http://schemas.microsoft.com/office/drawing/2014/main" id="{03B5E632-3633-4CB4-9B55-00FE1B1AE4A3}"/>
              </a:ext>
            </a:extLst>
          </p:cNvPr>
          <p:cNvSpPr>
            <a:spLocks xmlns:a="http://schemas.openxmlformats.org/drawingml/2006/main" noGrp="1"/>
          </p:cNvSpPr>
          <p:nvPr/>
        </p:nvSpPr>
        <p:spPr>
          <a:xfrm xmlns:a="http://schemas.openxmlformats.org/drawingml/2006/main">
            <a:off x="8001000" y="5476875"/>
            <a:ext cx="3571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526971"/>
                </a:solidFill>
                <a:latin typeface="Arial"/>
                <a:ea typeface="Arial"/>
                <a:cs typeface="Arial"/>
              </a:defRPr>
            </a:defPPr>
            <a:lvl1pPr>
              <a:defRPr sz="1650" b="0">
                <a:solidFill>
                  <a:srgbClr val="526971"/>
                </a:solidFill>
                <a:latin typeface="Arial"/>
                <a:ea typeface="Arial"/>
                <a:cs typeface="Arial"/>
              </a:defRPr>
            </a:lvl1pPr>
            <a:lvl2pPr>
              <a:defRPr sz="1650" b="0">
                <a:solidFill>
                  <a:srgbClr val="526971"/>
                </a:solidFill>
                <a:latin typeface="Arial"/>
                <a:ea typeface="Arial"/>
                <a:cs typeface="Arial"/>
              </a:defRPr>
            </a:lvl2pPr>
            <a:lvl3pPr>
              <a:defRPr sz="1650" b="0">
                <a:solidFill>
                  <a:srgbClr val="526971"/>
                </a:solidFill>
                <a:latin typeface="Arial"/>
                <a:ea typeface="Arial"/>
                <a:cs typeface="Arial"/>
              </a:defRPr>
            </a:lvl3pPr>
            <a:lvl4pPr>
              <a:defRPr sz="1650" b="0">
                <a:solidFill>
                  <a:srgbClr val="526971"/>
                </a:solidFill>
                <a:latin typeface="Arial"/>
                <a:ea typeface="Arial"/>
                <a:cs typeface="Arial"/>
              </a:defRPr>
            </a:lvl4pPr>
            <a:lvl5pPr>
              <a:defRPr sz="1650" b="0">
                <a:solidFill>
                  <a:srgbClr val="526971"/>
                </a:solidFill>
                <a:latin typeface="Arial"/>
                <a:ea typeface="Arial"/>
                <a:cs typeface="Arial"/>
              </a:defRPr>
            </a:lvl5pPr>
            <a:lvl6pPr>
              <a:defRPr sz="1650" b="0">
                <a:solidFill>
                  <a:srgbClr val="526971"/>
                </a:solidFill>
                <a:latin typeface="Arial"/>
                <a:ea typeface="Arial"/>
                <a:cs typeface="Arial"/>
              </a:defRPr>
            </a:lvl6pPr>
            <a:lvl7pPr>
              <a:defRPr sz="1650" b="0">
                <a:solidFill>
                  <a:srgbClr val="526971"/>
                </a:solidFill>
                <a:latin typeface="Arial"/>
                <a:ea typeface="Arial"/>
                <a:cs typeface="Arial"/>
              </a:defRPr>
            </a:lvl7pPr>
            <a:lvl8pPr>
              <a:defRPr sz="1650" b="0">
                <a:solidFill>
                  <a:srgbClr val="526971"/>
                </a:solidFill>
                <a:latin typeface="Arial"/>
                <a:ea typeface="Arial"/>
                <a:cs typeface="Arial"/>
              </a:defRPr>
            </a:lvl8pPr>
            <a:lvl9pPr>
              <a:defRPr sz="1650" b="0">
                <a:solidFill>
                  <a:srgbClr val="526971"/>
                </a:solidFill>
                <a:latin typeface="Arial"/>
                <a:ea typeface="Arial"/>
                <a:cs typeface="Arial"/>
              </a:defRPr>
            </a:lvl9pPr>
          </a:lstStyle>
          <a:p xmlns:a="http://schemas.openxmlformats.org/drawingml/2006/main">
            <a:pPr>
              <a:defRPr sz="1650" b="0">
                <a:solidFill>
                  <a:srgbClr val="526971"/>
                </a:solidFill>
                <a:latin typeface="Arial"/>
                <a:ea typeface="Arial"/>
                <a:cs typeface="Arial"/>
              </a:defRPr>
            </a:pPr>
            <a:r>
              <a:rPr sz="1650" b="0">
                <a:solidFill>
                  <a:srgbClr val="526971"/>
                </a:solidFill>
                <a:latin typeface="Arial"/>
                <a:ea typeface="Arial"/>
                <a:cs typeface="Arial"/>
              </a:rPr>
              <a:t>713 public benchmark signatures</a:t>
            </a:r>
          </a:p>
          <a:p xmlns:a="http://schemas.openxmlformats.org/drawingml/2006/main">
            <a:pPr>
              <a:defRPr sz="1650" b="0">
                <a:solidFill>
                  <a:srgbClr val="526971"/>
                </a:solidFill>
                <a:latin typeface="Arial"/>
                <a:ea typeface="Arial"/>
                <a:cs typeface="Arial"/>
              </a:defRPr>
            </a:pPr>
            <a:r>
              <a:rPr sz="1650" b="0">
                <a:solidFill>
                  <a:srgbClr val="526971"/>
                </a:solidFill>
                <a:latin typeface="Arial"/>
                <a:ea typeface="Arial"/>
                <a:cs typeface="Arial"/>
              </a:rPr>
              <a:t>Source-label recovery only</a:t>
            </a:r>
          </a:p>
        </p:txBody>
      </p:sp>
    </p:spTree>
    <p:extLst>
      <p:ext uri="{BB962C8B-B14F-4D97-AF65-F5344CB8AC3E}">
        <p14:creationId xmlns:p14="http://schemas.microsoft.com/office/powerpoint/2010/main" val="2098323488"/>
      </p:ext>
    </p:extLst>
  </p:cSld>
</p:sld>
</file>

<file path=ppt/slides/slide6.xml><?xml version="1.0" encoding="utf-8"?>
<p:sld xmlns:p="http://schemas.openxmlformats.org/presentationml/2006/main">
  <p:cSld>
    <p:bg>
      <p:bgPr>
        <a:solidFill xmlns:a="http://schemas.openxmlformats.org/drawingml/2006/main">
          <a:srgbClr val="F2F6F5"/>
        </a:solidFill>
      </p:bgPr>
    </p:bg>
    <p:spTree>
      <p:nvGrpSpPr>
        <p:cNvPr id="1" name=""/>
        <p:cNvGrpSpPr/>
        <p:nvPr/>
      </p:nvGrpSpPr>
      <p:grpSpPr>
        <a:xfrm xmlns:a="http://schemas.openxmlformats.org/drawingml/2006/main"/>
      </p:grpSpPr>
      <p:sp>
        <p:nvSpPr>
          <p:cNvPr id="8" name="06 / THE NEXT DELIVERABLES">
            <a:extLst xmlns:a="http://schemas.openxmlformats.org/drawingml/2006/main">
              <a:ext uri="{FF2B5EF4-FFF2-40B4-BE49-F238E27FC236}">
                <a16:creationId xmlns:a16="http://schemas.microsoft.com/office/drawing/2014/main" id="{7C0DCFA8-0A8D-4E88-9867-633546FA81CE}"/>
              </a:ext>
            </a:extLst>
          </p:cNvPr>
          <p:cNvSpPr>
            <a:spLocks xmlns:a="http://schemas.openxmlformats.org/drawingml/2006/main" noGrp="1"/>
          </p:cNvSpPr>
          <p:nvPr/>
        </p:nvSpPr>
        <p:spPr>
          <a:xfrm xmlns:a="http://schemas.openxmlformats.org/drawingml/2006/main">
            <a:off x="609600" y="3429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176C63"/>
                </a:solidFill>
                <a:latin typeface="Arial"/>
                <a:ea typeface="Arial"/>
                <a:cs typeface="Arial"/>
              </a:defRPr>
            </a:defPPr>
            <a:lvl1pPr>
              <a:defRPr sz="1350" b="1">
                <a:solidFill>
                  <a:srgbClr val="176C63"/>
                </a:solidFill>
                <a:latin typeface="Arial"/>
                <a:ea typeface="Arial"/>
                <a:cs typeface="Arial"/>
              </a:defRPr>
            </a:lvl1pPr>
            <a:lvl2pPr>
              <a:defRPr sz="1350" b="1">
                <a:solidFill>
                  <a:srgbClr val="176C63"/>
                </a:solidFill>
                <a:latin typeface="Arial"/>
                <a:ea typeface="Arial"/>
                <a:cs typeface="Arial"/>
              </a:defRPr>
            </a:lvl2pPr>
            <a:lvl3pPr>
              <a:defRPr sz="1350" b="1">
                <a:solidFill>
                  <a:srgbClr val="176C63"/>
                </a:solidFill>
                <a:latin typeface="Arial"/>
                <a:ea typeface="Arial"/>
                <a:cs typeface="Arial"/>
              </a:defRPr>
            </a:lvl3pPr>
            <a:lvl4pPr>
              <a:defRPr sz="1350" b="1">
                <a:solidFill>
                  <a:srgbClr val="176C63"/>
                </a:solidFill>
                <a:latin typeface="Arial"/>
                <a:ea typeface="Arial"/>
                <a:cs typeface="Arial"/>
              </a:defRPr>
            </a:lvl4pPr>
            <a:lvl5pPr>
              <a:defRPr sz="1350" b="1">
                <a:solidFill>
                  <a:srgbClr val="176C63"/>
                </a:solidFill>
                <a:latin typeface="Arial"/>
                <a:ea typeface="Arial"/>
                <a:cs typeface="Arial"/>
              </a:defRPr>
            </a:lvl5pPr>
            <a:lvl6pPr>
              <a:defRPr sz="1350" b="1">
                <a:solidFill>
                  <a:srgbClr val="176C63"/>
                </a:solidFill>
                <a:latin typeface="Arial"/>
                <a:ea typeface="Arial"/>
                <a:cs typeface="Arial"/>
              </a:defRPr>
            </a:lvl6pPr>
            <a:lvl7pPr>
              <a:defRPr sz="1350" b="1">
                <a:solidFill>
                  <a:srgbClr val="176C63"/>
                </a:solidFill>
                <a:latin typeface="Arial"/>
                <a:ea typeface="Arial"/>
                <a:cs typeface="Arial"/>
              </a:defRPr>
            </a:lvl7pPr>
            <a:lvl8pPr>
              <a:defRPr sz="1350" b="1">
                <a:solidFill>
                  <a:srgbClr val="176C63"/>
                </a:solidFill>
                <a:latin typeface="Arial"/>
                <a:ea typeface="Arial"/>
                <a:cs typeface="Arial"/>
              </a:defRPr>
            </a:lvl8pPr>
            <a:lvl9pPr>
              <a:defRPr sz="1350" b="1">
                <a:solidFill>
                  <a:srgbClr val="176C63"/>
                </a:solidFill>
                <a:latin typeface="Arial"/>
                <a:ea typeface="Arial"/>
                <a:cs typeface="Arial"/>
              </a:defRPr>
            </a:lvl9pPr>
          </a:lstStyle>
          <a:p xmlns:a="http://schemas.openxmlformats.org/drawingml/2006/main">
            <a:pPr>
              <a:defRPr sz="1350" b="1">
                <a:solidFill>
                  <a:srgbClr val="176C63"/>
                </a:solidFill>
                <a:latin typeface="Arial"/>
                <a:ea typeface="Arial"/>
                <a:cs typeface="Arial"/>
              </a:defRPr>
            </a:pPr>
            <a:r>
              <a:rPr sz="1350" b="1">
                <a:solidFill>
                  <a:srgbClr val="176C63"/>
                </a:solidFill>
                <a:latin typeface="Arial"/>
                <a:ea typeface="Arial"/>
                <a:cs typeface="Arial"/>
              </a:rPr>
              <a:t>06 / THE NEXT DELIVERABLES</a:t>
            </a:r>
          </a:p>
        </p:txBody>
      </p:sp>
      <p:sp>
        <p:nvSpPr>
          <p:cNvPr id="2" name="A credit-funded continuation with explicit ou">
            <a:extLst xmlns:a="http://schemas.openxmlformats.org/drawingml/2006/main">
              <a:ext uri="{FF2B5EF4-FFF2-40B4-BE49-F238E27FC236}">
                <a16:creationId xmlns:a16="http://schemas.microsoft.com/office/drawing/2014/main" id="{7D9B6CE7-0EE9-404A-8026-3A36650899CD}"/>
              </a:ext>
            </a:extLst>
          </p:cNvPr>
          <p:cNvSpPr>
            <a:spLocks xmlns:a="http://schemas.openxmlformats.org/drawingml/2006/main" noGrp="1"/>
          </p:cNvSpPr>
          <p:nvPr/>
        </p:nvSpPr>
        <p:spPr>
          <a:xfrm xmlns:a="http://schemas.openxmlformats.org/drawingml/2006/main">
            <a:off x="609600" y="8191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7333E"/>
                </a:solidFill>
                <a:latin typeface="Arial"/>
                <a:ea typeface="Arial"/>
                <a:cs typeface="Arial"/>
              </a:defRPr>
            </a:defPPr>
            <a:lvl1pPr>
              <a:defRPr sz="3150" b="1">
                <a:solidFill>
                  <a:srgbClr val="17333E"/>
                </a:solidFill>
                <a:latin typeface="Arial"/>
                <a:ea typeface="Arial"/>
                <a:cs typeface="Arial"/>
              </a:defRPr>
            </a:lvl1pPr>
            <a:lvl2pPr>
              <a:defRPr sz="3150" b="1">
                <a:solidFill>
                  <a:srgbClr val="17333E"/>
                </a:solidFill>
                <a:latin typeface="Arial"/>
                <a:ea typeface="Arial"/>
                <a:cs typeface="Arial"/>
              </a:defRPr>
            </a:lvl2pPr>
            <a:lvl3pPr>
              <a:defRPr sz="3150" b="1">
                <a:solidFill>
                  <a:srgbClr val="17333E"/>
                </a:solidFill>
                <a:latin typeface="Arial"/>
                <a:ea typeface="Arial"/>
                <a:cs typeface="Arial"/>
              </a:defRPr>
            </a:lvl3pPr>
            <a:lvl4pPr>
              <a:defRPr sz="3150" b="1">
                <a:solidFill>
                  <a:srgbClr val="17333E"/>
                </a:solidFill>
                <a:latin typeface="Arial"/>
                <a:ea typeface="Arial"/>
                <a:cs typeface="Arial"/>
              </a:defRPr>
            </a:lvl4pPr>
            <a:lvl5pPr>
              <a:defRPr sz="3150" b="1">
                <a:solidFill>
                  <a:srgbClr val="17333E"/>
                </a:solidFill>
                <a:latin typeface="Arial"/>
                <a:ea typeface="Arial"/>
                <a:cs typeface="Arial"/>
              </a:defRPr>
            </a:lvl5pPr>
            <a:lvl6pPr>
              <a:defRPr sz="3150" b="1">
                <a:solidFill>
                  <a:srgbClr val="17333E"/>
                </a:solidFill>
                <a:latin typeface="Arial"/>
                <a:ea typeface="Arial"/>
                <a:cs typeface="Arial"/>
              </a:defRPr>
            </a:lvl6pPr>
            <a:lvl7pPr>
              <a:defRPr sz="3150" b="1">
                <a:solidFill>
                  <a:srgbClr val="17333E"/>
                </a:solidFill>
                <a:latin typeface="Arial"/>
                <a:ea typeface="Arial"/>
                <a:cs typeface="Arial"/>
              </a:defRPr>
            </a:lvl7pPr>
            <a:lvl8pPr>
              <a:defRPr sz="3150" b="1">
                <a:solidFill>
                  <a:srgbClr val="17333E"/>
                </a:solidFill>
                <a:latin typeface="Arial"/>
                <a:ea typeface="Arial"/>
                <a:cs typeface="Arial"/>
              </a:defRPr>
            </a:lvl8pPr>
            <a:lvl9pPr>
              <a:defRPr sz="3150" b="1">
                <a:solidFill>
                  <a:srgbClr val="17333E"/>
                </a:solidFill>
                <a:latin typeface="Arial"/>
                <a:ea typeface="Arial"/>
                <a:cs typeface="Arial"/>
              </a:defRPr>
            </a:lvl9pPr>
          </a:lstStyle>
          <a:p xmlns:a="http://schemas.openxmlformats.org/drawingml/2006/main">
            <a:pPr>
              <a:defRPr sz="3150" b="1">
                <a:solidFill>
                  <a:srgbClr val="17333E"/>
                </a:solidFill>
                <a:latin typeface="Arial"/>
                <a:ea typeface="Arial"/>
                <a:cs typeface="Arial"/>
              </a:defRPr>
            </a:pPr>
            <a:r>
              <a:rPr sz="3150" b="1">
                <a:solidFill>
                  <a:srgbClr val="17333E"/>
                </a:solidFill>
                <a:latin typeface="Arial"/>
                <a:ea typeface="Arial"/>
                <a:cs typeface="Arial"/>
              </a:rPr>
              <a:t>A credit-funded continuation with explicit outputs</a:t>
            </a:r>
          </a:p>
        </p:txBody>
      </p:sp>
      <p:sp>
        <p:nvSpPr>
          <p:cNvPr id="3" name="$12,000 in Claude Science credits, conditiona">
            <a:extLst xmlns:a="http://schemas.openxmlformats.org/drawingml/2006/main">
              <a:ext uri="{FF2B5EF4-FFF2-40B4-BE49-F238E27FC236}">
                <a16:creationId xmlns:a16="http://schemas.microsoft.com/office/drawing/2014/main" id="{52311171-1A7C-41FE-8E95-D2A4CB37F5A0}"/>
              </a:ext>
            </a:extLst>
          </p:cNvPr>
          <p:cNvSpPr>
            <a:spLocks xmlns:a="http://schemas.openxmlformats.org/drawingml/2006/main" noGrp="1"/>
          </p:cNvSpPr>
          <p:nvPr/>
        </p:nvSpPr>
        <p:spPr>
          <a:xfrm xmlns:a="http://schemas.openxmlformats.org/drawingml/2006/main">
            <a:off x="609600" y="147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$12,000 in Claude Science credits, conditional on award terms</a:t>
            </a:r>
          </a:p>
        </p:txBody>
      </p:sp>
      <p:sp>
        <p:nvSpPr>
          <p:cNvPr id="4" name="Claude Science continuation plan / eligible c">
            <a:extLst xmlns:a="http://schemas.openxmlformats.org/drawingml/2006/main">
              <a:ext uri="{FF2B5EF4-FFF2-40B4-BE49-F238E27FC236}">
                <a16:creationId xmlns:a16="http://schemas.microsoft.com/office/drawing/2014/main" id="{B770F7D3-0453-40AA-984C-E34AFAF8DED5}"/>
              </a:ext>
            </a:extLst>
          </p:cNvPr>
          <p:cNvSpPr>
            <a:spLocks xmlns:a="http://schemas.openxmlformats.org/drawingml/2006/main" noGrp="1"/>
          </p:cNvSpPr>
          <p:nvPr/>
        </p:nvSpPr>
        <p:spPr>
          <a:xfrm xmlns:a="http://schemas.openxmlformats.org/drawingml/2006/main">
            <a:off x="609600" y="64198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526971"/>
                </a:solidFill>
                <a:latin typeface="Arial"/>
                <a:ea typeface="Arial"/>
                <a:cs typeface="Arial"/>
              </a:defRPr>
            </a:defPPr>
            <a:lvl1pPr>
              <a:defRPr sz="1050" b="0">
                <a:solidFill>
                  <a:srgbClr val="526971"/>
                </a:solidFill>
                <a:latin typeface="Arial"/>
                <a:ea typeface="Arial"/>
                <a:cs typeface="Arial"/>
              </a:defRPr>
            </a:lvl1pPr>
            <a:lvl2pPr>
              <a:defRPr sz="1050" b="0">
                <a:solidFill>
                  <a:srgbClr val="526971"/>
                </a:solidFill>
                <a:latin typeface="Arial"/>
                <a:ea typeface="Arial"/>
                <a:cs typeface="Arial"/>
              </a:defRPr>
            </a:lvl2pPr>
            <a:lvl3pPr>
              <a:defRPr sz="1050" b="0">
                <a:solidFill>
                  <a:srgbClr val="526971"/>
                </a:solidFill>
                <a:latin typeface="Arial"/>
                <a:ea typeface="Arial"/>
                <a:cs typeface="Arial"/>
              </a:defRPr>
            </a:lvl3pPr>
            <a:lvl4pPr>
              <a:defRPr sz="1050" b="0">
                <a:solidFill>
                  <a:srgbClr val="526971"/>
                </a:solidFill>
                <a:latin typeface="Arial"/>
                <a:ea typeface="Arial"/>
                <a:cs typeface="Arial"/>
              </a:defRPr>
            </a:lvl4pPr>
            <a:lvl5pPr>
              <a:defRPr sz="1050" b="0">
                <a:solidFill>
                  <a:srgbClr val="526971"/>
                </a:solidFill>
                <a:latin typeface="Arial"/>
                <a:ea typeface="Arial"/>
                <a:cs typeface="Arial"/>
              </a:defRPr>
            </a:lvl5pPr>
            <a:lvl6pPr>
              <a:defRPr sz="1050" b="0">
                <a:solidFill>
                  <a:srgbClr val="526971"/>
                </a:solidFill>
                <a:latin typeface="Arial"/>
                <a:ea typeface="Arial"/>
                <a:cs typeface="Arial"/>
              </a:defRPr>
            </a:lvl6pPr>
            <a:lvl7pPr>
              <a:defRPr sz="1050" b="0">
                <a:solidFill>
                  <a:srgbClr val="526971"/>
                </a:solidFill>
                <a:latin typeface="Arial"/>
                <a:ea typeface="Arial"/>
                <a:cs typeface="Arial"/>
              </a:defRPr>
            </a:lvl7pPr>
            <a:lvl8pPr>
              <a:defRPr sz="1050" b="0">
                <a:solidFill>
                  <a:srgbClr val="526971"/>
                </a:solidFill>
                <a:latin typeface="Arial"/>
                <a:ea typeface="Arial"/>
                <a:cs typeface="Arial"/>
              </a:defRPr>
            </a:lvl8pPr>
            <a:lvl9pPr>
              <a:defRPr sz="1050" b="0">
                <a:solidFill>
                  <a:srgbClr val="526971"/>
                </a:solidFill>
                <a:latin typeface="Arial"/>
                <a:ea typeface="Arial"/>
                <a:cs typeface="Arial"/>
              </a:defRPr>
            </a:lvl9pPr>
          </a:lstStyle>
          <a:p xmlns:a="http://schemas.openxmlformats.org/drawingml/2006/main">
            <a:pPr>
              <a:defRPr sz="1050" b="0">
                <a:solidFill>
                  <a:srgbClr val="526971"/>
                </a:solidFill>
                <a:latin typeface="Arial"/>
                <a:ea typeface="Arial"/>
                <a:cs typeface="Arial"/>
              </a:defRPr>
            </a:pPr>
            <a:r>
              <a:rPr sz="1050" b="0">
                <a:solidFill>
                  <a:srgbClr val="526971"/>
                </a:solidFill>
                <a:latin typeface="Arial"/>
                <a:ea typeface="Arial"/>
                <a:cs typeface="Arial"/>
              </a:rPr>
              <a:t>Claude Science continuation plan / eligible computation only</a:t>
            </a:r>
          </a:p>
        </p:txBody>
      </p:sp>
      <p:sp>
        <p:nvSpPr>
          <p:cNvPr id="5" name="6">
            <a:extLst xmlns:a="http://schemas.openxmlformats.org/drawingml/2006/main">
              <a:ext uri="{FF2B5EF4-FFF2-40B4-BE49-F238E27FC236}">
                <a16:creationId xmlns:a16="http://schemas.microsoft.com/office/drawing/2014/main" id="{A3C8AEF1-BA91-4C9F-A614-A1AAC473617E}"/>
              </a:ext>
            </a:extLst>
          </p:cNvPr>
          <p:cNvSpPr>
            <a:spLocks xmlns:a="http://schemas.openxmlformats.org/drawingml/2006/main" noGrp="1"/>
          </p:cNvSpPr>
          <p:nvPr/>
        </p:nvSpPr>
        <p:spPr>
          <a:xfrm xmlns:a="http://schemas.openxmlformats.org/drawingml/2006/main">
            <a:off x="11334750" y="6400800"/>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971"/>
                </a:solidFill>
                <a:latin typeface="Arial"/>
                <a:ea typeface="Arial"/>
                <a:cs typeface="Arial"/>
              </a:defRPr>
            </a:defPPr>
            <a:lvl1pPr>
              <a:defRPr sz="1350" b="0">
                <a:solidFill>
                  <a:srgbClr val="526971"/>
                </a:solidFill>
                <a:latin typeface="Arial"/>
                <a:ea typeface="Arial"/>
                <a:cs typeface="Arial"/>
              </a:defRPr>
            </a:lvl1pPr>
            <a:lvl2pPr>
              <a:defRPr sz="1350" b="0">
                <a:solidFill>
                  <a:srgbClr val="526971"/>
                </a:solidFill>
                <a:latin typeface="Arial"/>
                <a:ea typeface="Arial"/>
                <a:cs typeface="Arial"/>
              </a:defRPr>
            </a:lvl2pPr>
            <a:lvl3pPr>
              <a:defRPr sz="1350" b="0">
                <a:solidFill>
                  <a:srgbClr val="526971"/>
                </a:solidFill>
                <a:latin typeface="Arial"/>
                <a:ea typeface="Arial"/>
                <a:cs typeface="Arial"/>
              </a:defRPr>
            </a:lvl3pPr>
            <a:lvl4pPr>
              <a:defRPr sz="1350" b="0">
                <a:solidFill>
                  <a:srgbClr val="526971"/>
                </a:solidFill>
                <a:latin typeface="Arial"/>
                <a:ea typeface="Arial"/>
                <a:cs typeface="Arial"/>
              </a:defRPr>
            </a:lvl4pPr>
            <a:lvl5pPr>
              <a:defRPr sz="1350" b="0">
                <a:solidFill>
                  <a:srgbClr val="526971"/>
                </a:solidFill>
                <a:latin typeface="Arial"/>
                <a:ea typeface="Arial"/>
                <a:cs typeface="Arial"/>
              </a:defRPr>
            </a:lvl5pPr>
            <a:lvl6pPr>
              <a:defRPr sz="1350" b="0">
                <a:solidFill>
                  <a:srgbClr val="526971"/>
                </a:solidFill>
                <a:latin typeface="Arial"/>
                <a:ea typeface="Arial"/>
                <a:cs typeface="Arial"/>
              </a:defRPr>
            </a:lvl6pPr>
            <a:lvl7pPr>
              <a:defRPr sz="1350" b="0">
                <a:solidFill>
                  <a:srgbClr val="526971"/>
                </a:solidFill>
                <a:latin typeface="Arial"/>
                <a:ea typeface="Arial"/>
                <a:cs typeface="Arial"/>
              </a:defRPr>
            </a:lvl7pPr>
            <a:lvl8pPr>
              <a:defRPr sz="1350" b="0">
                <a:solidFill>
                  <a:srgbClr val="526971"/>
                </a:solidFill>
                <a:latin typeface="Arial"/>
                <a:ea typeface="Arial"/>
                <a:cs typeface="Arial"/>
              </a:defRPr>
            </a:lvl8pPr>
            <a:lvl9pPr>
              <a:defRPr sz="1350" b="0">
                <a:solidFill>
                  <a:srgbClr val="526971"/>
                </a:solidFill>
                <a:latin typeface="Arial"/>
                <a:ea typeface="Arial"/>
                <a:cs typeface="Arial"/>
              </a:defRPr>
            </a:lvl9pPr>
          </a:lstStyle>
          <a:p xmlns:a="http://schemas.openxmlformats.org/drawingml/2006/main">
            <a:pPr>
              <a:defRPr sz="1350" b="0">
                <a:solidFill>
                  <a:srgbClr val="526971"/>
                </a:solidFill>
                <a:latin typeface="Arial"/>
                <a:ea typeface="Arial"/>
                <a:cs typeface="Arial"/>
              </a:defRPr>
            </a:pPr>
            <a:r>
              <a:rPr sz="1350" b="0">
                <a:solidFill>
                  <a:srgbClr val="526971"/>
                </a:solidFill>
                <a:latin typeface="Arial"/>
                <a:ea typeface="Arial"/>
                <a:cs typeface="Arial"/>
              </a:rPr>
              <a:t>6</a:t>
            </a:r>
          </a:p>
        </p:txBody>
      </p:sp>
      <p:graphicFrame>
        <p:nvGraphicFramePr>
          <p:cNvPr id="6" name="">
            <a:extLst xmlns:a="http://schemas.openxmlformats.org/drawingml/2006/main">
              <a:ext uri="{FF2B5EF4-FFF2-40B4-BE49-F238E27FC236}">
                <a16:creationId xmlns:a16="http://schemas.microsoft.com/office/drawing/2014/main" id="{F31C21D1-2B5F-457A-9EBB-92F222297F60}"/>
              </a:ext>
            </a:extLst>
          </p:cNvPr>
          <p:cNvGraphicFramePr/>
          <p:nvPr/>
        </p:nvGraphicFramePr>
        <p:xfrm>
          <a:off xmlns:a="http://schemas.openxmlformats.org/drawingml/2006/main" x="609600" y="2085975"/>
          <a:ext xmlns:a="http://schemas.openxmlformats.org/drawingml/2006/main" cx="10972800" cy="3333750"/>
        </p:xfrm>
        <a:graphic xmlns:a="http://schemas.openxmlformats.org/drawingml/2006/main">
          <a:graphicData uri="http://schemas.openxmlformats.org/drawingml/2006/table">
            <a:tbl>
              <a:tblPr/>
              <a:tblGrid>
                <a:gridCol w="1905000"/>
                <a:gridCol w="3333750"/>
                <a:gridCol w="5734050"/>
              </a:tblGrid>
              <a:tr h="476250">
                <a:tc>
                  <a:txBody>
                    <a:bodyPr/>
                    <a:lstStyle/>
                    <a:p>
                      <a:r>
                        <a:rPr sz="1725" b="1">
                          <a:solidFill>
                            <a:srgbClr val="FFFFFF"/>
                          </a:solidFill>
                          <a:latin typeface="Arial"/>
                          <a:ea typeface="Arial"/>
                          <a:cs typeface="Arial"/>
                        </a:rPr>
                        <a:t>Credit cap</a:t>
                      </a:r>
                    </a:p>
                  </a:txBody>
                  <a:tcPr marL="142875" marR="142875" marT="114300" marB="95250" anchor="ctr">
                    <a:lnL w="9525">
                      <a:solidFill>
                        <a:srgbClr val="CADAD5"/>
                      </a:solidFill>
                      <a:prstDash val="solid"/>
                    </a:lnL>
                    <a:lnR w="9525">
                      <a:solidFill>
                        <a:srgbClr val="CADAD5"/>
                      </a:solidFill>
                      <a:prstDash val="solid"/>
                    </a:lnR>
                    <a:lnT w="9525">
                      <a:solidFill>
                        <a:srgbClr val="CADAD5"/>
                      </a:solidFill>
                      <a:prstDash val="solid"/>
                    </a:lnT>
                    <a:lnB w="9525">
                      <a:solidFill>
                        <a:srgbClr val="CADAD5"/>
                      </a:solidFill>
                      <a:prstDash val="solid"/>
                    </a:lnB>
                    <a:solidFill>
                      <a:srgbClr val="176C63"/>
                    </a:solidFill>
                  </a:tcPr>
                </a:tc>
                <a:tc>
                  <a:txBody>
                    <a:bodyPr/>
                    <a:lstStyle/>
                    <a:p>
                      <a:r>
                        <a:rPr sz="1725" b="1">
                          <a:solidFill>
                            <a:srgbClr val="FFFFFF"/>
                          </a:solidFill>
                          <a:latin typeface="Arial"/>
                          <a:ea typeface="Arial"/>
                          <a:cs typeface="Arial"/>
                        </a:rPr>
                        <a:t>Work</a:t>
                      </a:r>
                    </a:p>
                  </a:txBody>
                  <a:tcPr marL="142875" marR="142875" marT="114300" marB="95250" anchor="ctr">
                    <a:lnR w="9525">
                      <a:solidFill>
                        <a:srgbClr val="CADAD5"/>
                      </a:solidFill>
                      <a:prstDash val="solid"/>
                    </a:lnR>
                    <a:lnT w="9525">
                      <a:solidFill>
                        <a:srgbClr val="CADAD5"/>
                      </a:solidFill>
                      <a:prstDash val="solid"/>
                    </a:lnT>
                    <a:lnB w="9525">
                      <a:solidFill>
                        <a:srgbClr val="CADAD5"/>
                      </a:solidFill>
                      <a:prstDash val="solid"/>
                    </a:lnB>
                    <a:solidFill>
                      <a:srgbClr val="176C63"/>
                    </a:solidFill>
                  </a:tcPr>
                </a:tc>
                <a:tc>
                  <a:txBody>
                    <a:bodyPr/>
                    <a:lstStyle/>
                    <a:p>
                      <a:r>
                        <a:rPr sz="1725" b="1">
                          <a:solidFill>
                            <a:srgbClr val="FFFFFF"/>
                          </a:solidFill>
                          <a:latin typeface="Arial"/>
                          <a:ea typeface="Arial"/>
                          <a:cs typeface="Arial"/>
                        </a:rPr>
                        <a:t>Concrete output</a:t>
                      </a:r>
                    </a:p>
                  </a:txBody>
                  <a:tcPr marL="142875" marR="142875" marT="114300" marB="95250" anchor="ctr">
                    <a:lnR w="9525">
                      <a:solidFill>
                        <a:srgbClr val="CADAD5"/>
                      </a:solidFill>
                      <a:prstDash val="solid"/>
                    </a:lnR>
                    <a:lnT w="9525">
                      <a:solidFill>
                        <a:srgbClr val="CADAD5"/>
                      </a:solidFill>
                      <a:prstDash val="solid"/>
                    </a:lnT>
                    <a:lnB w="9525">
                      <a:solidFill>
                        <a:srgbClr val="CADAD5"/>
                      </a:solidFill>
                      <a:prstDash val="solid"/>
                    </a:lnB>
                    <a:solidFill>
                      <a:srgbClr val="176C63"/>
                    </a:solidFill>
                  </a:tcPr>
                </a:tc>
              </a:tr>
              <a:tr h="476250">
                <a:tc>
                  <a:txBody>
                    <a:bodyPr/>
                    <a:lstStyle/>
                    <a:p>
                      <a:r>
                        <a:rPr sz="1725" b="1">
                          <a:solidFill>
                            <a:srgbClr val="17333E"/>
                          </a:solidFill>
                          <a:latin typeface="Arial"/>
                          <a:ea typeface="Arial"/>
                          <a:cs typeface="Arial"/>
                        </a:rPr>
                        <a:t>$3,600</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FFFFFF"/>
                    </a:solidFill>
                  </a:tcPr>
                </a:tc>
                <a:tc>
                  <a:txBody>
                    <a:bodyPr/>
                    <a:lstStyle/>
                    <a:p>
                      <a:r>
                        <a:rPr sz="1725" b="0">
                          <a:solidFill>
                            <a:srgbClr val="17333E"/>
                          </a:solidFill>
                          <a:latin typeface="Arial"/>
                          <a:ea typeface="Arial"/>
                          <a:cs typeface="Arial"/>
                        </a:rPr>
                        <a:t>Evidence checks</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c>
                  <a:txBody>
                    <a:bodyPr/>
                    <a:lstStyle/>
                    <a:p>
                      <a:r>
                        <a:rPr sz="1725" b="0">
                          <a:solidFill>
                            <a:srgbClr val="17333E"/>
                          </a:solidFill>
                          <a:latin typeface="Arial"/>
                          <a:ea typeface="Arial"/>
                          <a:cs typeface="Arial"/>
                        </a:rPr>
                        <a:t>Corrected claim records</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r>
              <a:tr h="476250">
                <a:tc>
                  <a:txBody>
                    <a:bodyPr/>
                    <a:lstStyle/>
                    <a:p>
                      <a:r>
                        <a:rPr sz="1725" b="1">
                          <a:solidFill>
                            <a:srgbClr val="17333E"/>
                          </a:solidFill>
                          <a:latin typeface="Arial"/>
                          <a:ea typeface="Arial"/>
                          <a:cs typeface="Arial"/>
                        </a:rPr>
                        <a:t>$3,000</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E9F1EE"/>
                    </a:solidFill>
                  </a:tcPr>
                </a:tc>
                <a:tc>
                  <a:txBody>
                    <a:bodyPr/>
                    <a:lstStyle/>
                    <a:p>
                      <a:r>
                        <a:rPr sz="1725" b="0">
                          <a:solidFill>
                            <a:srgbClr val="17333E"/>
                          </a:solidFill>
                          <a:latin typeface="Arial"/>
                          <a:ea typeface="Arial"/>
                          <a:cs typeface="Arial"/>
                        </a:rPr>
                        <a:t>Public validation</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c>
                  <a:txBody>
                    <a:bodyPr/>
                    <a:lstStyle/>
                    <a:p>
                      <a:r>
                        <a:rPr sz="1725" b="0">
                          <a:solidFill>
                            <a:srgbClr val="17333E"/>
                          </a:solidFill>
                          <a:latin typeface="Arial"/>
                          <a:ea typeface="Arial"/>
                          <a:cs typeface="Arial"/>
                        </a:rPr>
                        <a:t>Protocol before inference</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r>
              <a:tr h="476250">
                <a:tc>
                  <a:txBody>
                    <a:bodyPr/>
                    <a:lstStyle/>
                    <a:p>
                      <a:r>
                        <a:rPr sz="1725" b="1">
                          <a:solidFill>
                            <a:srgbClr val="17333E"/>
                          </a:solidFill>
                          <a:latin typeface="Arial"/>
                          <a:ea typeface="Arial"/>
                          <a:cs typeface="Arial"/>
                        </a:rPr>
                        <a:t>$2,400</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FFFFFF"/>
                    </a:solidFill>
                  </a:tcPr>
                </a:tc>
                <a:tc>
                  <a:txBody>
                    <a:bodyPr/>
                    <a:lstStyle/>
                    <a:p>
                      <a:r>
                        <a:rPr sz="1725" b="0">
                          <a:solidFill>
                            <a:srgbClr val="17333E"/>
                          </a:solidFill>
                          <a:latin typeface="Arial"/>
                          <a:ea typeface="Arial"/>
                          <a:cs typeface="Arial"/>
                        </a:rPr>
                        <a:t>Analysis tools</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c>
                  <a:txBody>
                    <a:bodyPr/>
                    <a:lstStyle/>
                    <a:p>
                      <a:r>
                        <a:rPr sz="1725" b="0">
                          <a:solidFill>
                            <a:srgbClr val="17333E"/>
                          </a:solidFill>
                          <a:latin typeface="Arial"/>
                          <a:ea typeface="Arial"/>
                          <a:cs typeface="Arial"/>
                        </a:rPr>
                        <a:t>Reproducible releases</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r>
              <a:tr h="476250">
                <a:tc>
                  <a:txBody>
                    <a:bodyPr/>
                    <a:lstStyle/>
                    <a:p>
                      <a:r>
                        <a:rPr sz="1725" b="1">
                          <a:solidFill>
                            <a:srgbClr val="17333E"/>
                          </a:solidFill>
                          <a:latin typeface="Arial"/>
                          <a:ea typeface="Arial"/>
                          <a:cs typeface="Arial"/>
                        </a:rPr>
                        <a:t>$600</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E9F1EE"/>
                    </a:solidFill>
                  </a:tcPr>
                </a:tc>
                <a:tc>
                  <a:txBody>
                    <a:bodyPr/>
                    <a:lstStyle/>
                    <a:p>
                      <a:r>
                        <a:rPr sz="1725" b="0">
                          <a:solidFill>
                            <a:srgbClr val="17333E"/>
                          </a:solidFill>
                          <a:latin typeface="Arial"/>
                          <a:ea typeface="Arial"/>
                          <a:cs typeface="Arial"/>
                        </a:rPr>
                        <a:t>Service qualification</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c>
                  <a:txBody>
                    <a:bodyPr/>
                    <a:lstStyle/>
                    <a:p>
                      <a:r>
                        <a:rPr sz="1725" b="0">
                          <a:solidFill>
                            <a:srgbClr val="17333E"/>
                          </a:solidFill>
                          <a:latin typeface="Arial"/>
                          <a:ea typeface="Arial"/>
                          <a:cs typeface="Arial"/>
                        </a:rPr>
                        <a:t>Measured cost and suitability</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r>
              <a:tr h="476250">
                <a:tc>
                  <a:txBody>
                    <a:bodyPr/>
                    <a:lstStyle/>
                    <a:p>
                      <a:r>
                        <a:rPr sz="1725" b="1">
                          <a:solidFill>
                            <a:srgbClr val="17333E"/>
                          </a:solidFill>
                          <a:latin typeface="Arial"/>
                          <a:ea typeface="Arial"/>
                          <a:cs typeface="Arial"/>
                        </a:rPr>
                        <a:t>$1,200</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FFFFFF"/>
                    </a:solidFill>
                  </a:tcPr>
                </a:tc>
                <a:tc>
                  <a:txBody>
                    <a:bodyPr/>
                    <a:lstStyle/>
                    <a:p>
                      <a:r>
                        <a:rPr sz="1725" b="0">
                          <a:solidFill>
                            <a:srgbClr val="17333E"/>
                          </a:solidFill>
                          <a:latin typeface="Arial"/>
                          <a:ea typeface="Arial"/>
                          <a:cs typeface="Arial"/>
                        </a:rPr>
                        <a:t>Reuse evaluation</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c>
                  <a:txBody>
                    <a:bodyPr/>
                    <a:lstStyle/>
                    <a:p>
                      <a:r>
                        <a:rPr sz="1725" b="0">
                          <a:solidFill>
                            <a:srgbClr val="17333E"/>
                          </a:solidFill>
                          <a:latin typeface="Arial"/>
                          <a:ea typeface="Arial"/>
                          <a:cs typeface="Arial"/>
                        </a:rPr>
                        <a:t>Consenting reviewer feedback</a:t>
                      </a:r>
                    </a:p>
                  </a:txBody>
                  <a:tcPr marL="142875" marR="142875" marT="114300" marB="95250" anchor="ctr">
                    <a:lnR w="9525">
                      <a:solidFill>
                        <a:srgbClr val="CADAD5"/>
                      </a:solidFill>
                      <a:prstDash val="solid"/>
                    </a:lnR>
                    <a:lnB w="9525">
                      <a:solidFill>
                        <a:srgbClr val="CADAD5"/>
                      </a:solidFill>
                      <a:prstDash val="solid"/>
                    </a:lnB>
                    <a:solidFill>
                      <a:srgbClr val="FFFFFF"/>
                    </a:solidFill>
                  </a:tcPr>
                </a:tc>
              </a:tr>
              <a:tr h="476250">
                <a:tc>
                  <a:txBody>
                    <a:bodyPr/>
                    <a:lstStyle/>
                    <a:p>
                      <a:r>
                        <a:rPr sz="1725" b="1">
                          <a:solidFill>
                            <a:srgbClr val="17333E"/>
                          </a:solidFill>
                          <a:latin typeface="Arial"/>
                          <a:ea typeface="Arial"/>
                          <a:cs typeface="Arial"/>
                        </a:rPr>
                        <a:t>$1,200</a:t>
                      </a:r>
                    </a:p>
                  </a:txBody>
                  <a:tcPr marL="142875" marR="142875" marT="114300" marB="95250" anchor="ctr">
                    <a:lnL w="9525">
                      <a:solidFill>
                        <a:srgbClr val="CADAD5"/>
                      </a:solidFill>
                      <a:prstDash val="solid"/>
                    </a:lnL>
                    <a:lnR w="9525">
                      <a:solidFill>
                        <a:srgbClr val="CADAD5"/>
                      </a:solidFill>
                      <a:prstDash val="solid"/>
                    </a:lnR>
                    <a:lnB w="9525">
                      <a:solidFill>
                        <a:srgbClr val="CADAD5"/>
                      </a:solidFill>
                      <a:prstDash val="solid"/>
                    </a:lnB>
                    <a:solidFill>
                      <a:srgbClr val="E9F1EE"/>
                    </a:solidFill>
                  </a:tcPr>
                </a:tc>
                <a:tc>
                  <a:txBody>
                    <a:bodyPr/>
                    <a:lstStyle/>
                    <a:p>
                      <a:r>
                        <a:rPr sz="1725" b="0">
                          <a:solidFill>
                            <a:srgbClr val="17333E"/>
                          </a:solidFill>
                          <a:latin typeface="Arial"/>
                          <a:ea typeface="Arial"/>
                          <a:cs typeface="Arial"/>
                        </a:rPr>
                        <a:t>Reserve</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c>
                  <a:txBody>
                    <a:bodyPr/>
                    <a:lstStyle/>
                    <a:p>
                      <a:r>
                        <a:rPr sz="1725" b="0">
                          <a:solidFill>
                            <a:srgbClr val="17333E"/>
                          </a:solidFill>
                          <a:latin typeface="Arial"/>
                          <a:ea typeface="Arial"/>
                          <a:cs typeface="Arial"/>
                        </a:rPr>
                        <a:t>Approved eligible follow-up</a:t>
                      </a:r>
                    </a:p>
                  </a:txBody>
                  <a:tcPr marL="142875" marR="142875" marT="114300" marB="95250" anchor="ctr">
                    <a:lnR w="9525">
                      <a:solidFill>
                        <a:srgbClr val="CADAD5"/>
                      </a:solidFill>
                      <a:prstDash val="solid"/>
                    </a:lnR>
                    <a:lnB w="9525">
                      <a:solidFill>
                        <a:srgbClr val="CADAD5"/>
                      </a:solidFill>
                      <a:prstDash val="solid"/>
                    </a:lnB>
                    <a:solidFill>
                      <a:srgbClr val="E9F1EE"/>
                    </a:solidFill>
                  </a:tcPr>
                </a:tc>
              </a:tr>
            </a:tbl>
          </a:graphicData>
        </a:graphic>
      </p:graphicFrame>
      <p:sp>
        <p:nvSpPr>
          <p:cNvPr id="7" name="Laboratory funding and acceptance remain sepa">
            <a:extLst xmlns:a="http://schemas.openxmlformats.org/drawingml/2006/main">
              <a:ext uri="{FF2B5EF4-FFF2-40B4-BE49-F238E27FC236}">
                <a16:creationId xmlns:a16="http://schemas.microsoft.com/office/drawing/2014/main" id="{03A836C5-AE37-41FE-8847-BBF80F851198}"/>
              </a:ext>
            </a:extLst>
          </p:cNvPr>
          <p:cNvSpPr>
            <a:spLocks xmlns:a="http://schemas.openxmlformats.org/drawingml/2006/main" noGrp="1"/>
          </p:cNvSpPr>
          <p:nvPr/>
        </p:nvSpPr>
        <p:spPr>
          <a:xfrm xmlns:a="http://schemas.openxmlformats.org/drawingml/2006/main">
            <a:off x="609600" y="580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526971"/>
                </a:solidFill>
                <a:latin typeface="Arial"/>
                <a:ea typeface="Arial"/>
                <a:cs typeface="Arial"/>
              </a:defRPr>
            </a:defPPr>
            <a:lvl1pPr>
              <a:defRPr sz="1875" b="0">
                <a:solidFill>
                  <a:srgbClr val="526971"/>
                </a:solidFill>
                <a:latin typeface="Arial"/>
                <a:ea typeface="Arial"/>
                <a:cs typeface="Arial"/>
              </a:defRPr>
            </a:lvl1pPr>
            <a:lvl2pPr>
              <a:defRPr sz="1875" b="0">
                <a:solidFill>
                  <a:srgbClr val="526971"/>
                </a:solidFill>
                <a:latin typeface="Arial"/>
                <a:ea typeface="Arial"/>
                <a:cs typeface="Arial"/>
              </a:defRPr>
            </a:lvl2pPr>
            <a:lvl3pPr>
              <a:defRPr sz="1875" b="0">
                <a:solidFill>
                  <a:srgbClr val="526971"/>
                </a:solidFill>
                <a:latin typeface="Arial"/>
                <a:ea typeface="Arial"/>
                <a:cs typeface="Arial"/>
              </a:defRPr>
            </a:lvl3pPr>
            <a:lvl4pPr>
              <a:defRPr sz="1875" b="0">
                <a:solidFill>
                  <a:srgbClr val="526971"/>
                </a:solidFill>
                <a:latin typeface="Arial"/>
                <a:ea typeface="Arial"/>
                <a:cs typeface="Arial"/>
              </a:defRPr>
            </a:lvl4pPr>
            <a:lvl5pPr>
              <a:defRPr sz="1875" b="0">
                <a:solidFill>
                  <a:srgbClr val="526971"/>
                </a:solidFill>
                <a:latin typeface="Arial"/>
                <a:ea typeface="Arial"/>
                <a:cs typeface="Arial"/>
              </a:defRPr>
            </a:lvl5pPr>
            <a:lvl6pPr>
              <a:defRPr sz="1875" b="0">
                <a:solidFill>
                  <a:srgbClr val="526971"/>
                </a:solidFill>
                <a:latin typeface="Arial"/>
                <a:ea typeface="Arial"/>
                <a:cs typeface="Arial"/>
              </a:defRPr>
            </a:lvl6pPr>
            <a:lvl7pPr>
              <a:defRPr sz="1875" b="0">
                <a:solidFill>
                  <a:srgbClr val="526971"/>
                </a:solidFill>
                <a:latin typeface="Arial"/>
                <a:ea typeface="Arial"/>
                <a:cs typeface="Arial"/>
              </a:defRPr>
            </a:lvl7pPr>
            <a:lvl8pPr>
              <a:defRPr sz="1875" b="0">
                <a:solidFill>
                  <a:srgbClr val="526971"/>
                </a:solidFill>
                <a:latin typeface="Arial"/>
                <a:ea typeface="Arial"/>
                <a:cs typeface="Arial"/>
              </a:defRPr>
            </a:lvl8pPr>
            <a:lvl9pPr>
              <a:defRPr sz="1875" b="0">
                <a:solidFill>
                  <a:srgbClr val="526971"/>
                </a:solidFill>
                <a:latin typeface="Arial"/>
                <a:ea typeface="Arial"/>
                <a:cs typeface="Arial"/>
              </a:defRPr>
            </a:lvl9pPr>
          </a:lstStyle>
          <a:p xmlns:a="http://schemas.openxmlformats.org/drawingml/2006/main">
            <a:pPr>
              <a:defRPr sz="1875" b="0">
                <a:solidFill>
                  <a:srgbClr val="526971"/>
                </a:solidFill>
                <a:latin typeface="Arial"/>
                <a:ea typeface="Arial"/>
                <a:cs typeface="Arial"/>
              </a:defRPr>
            </a:pPr>
            <a:r>
              <a:rPr sz="1875" b="0">
                <a:solidFill>
                  <a:srgbClr val="526971"/>
                </a:solidFill>
                <a:latin typeface="Arial"/>
                <a:ea typeface="Arial"/>
                <a:cs typeface="Arial"/>
              </a:rPr>
              <a:t>Laboratory funding and acceptance remain separate dependencies</a:t>
            </a:r>
          </a:p>
        </p:txBody>
      </p:sp>
    </p:spTree>
    <p:extLst>
      <p:ext uri="{BB962C8B-B14F-4D97-AF65-F5344CB8AC3E}">
        <p14:creationId xmlns:p14="http://schemas.microsoft.com/office/powerpoint/2010/main" val="21304685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2026-10-24T19:45:05.5850000Z</dcterms:created>
  <dcterms:modified xsi:type="dcterms:W3CDTF">2026-10-24T19:45:05.5850000Z</dcterms:modified>
</coreProperties>
</file>