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d32f77a99a472f" /><Relationship Type="http://schemas.openxmlformats.org/officeDocument/2006/relationships/extended-properties" Target="/docProps/app.xml" Id="Re5b7cbd11b8f45b1" /><Relationship Type="http://schemas.openxmlformats.org/officeDocument/2006/relationships/officeDocument" Target="/ppt/presentation.xml" Id="Rcf553fd032644aa8" /></Relationships>
</file>

<file path=ppt/presentation.xml><?xml version="1.0" encoding="utf-8"?>
<p:presentation xmlns:p="http://schemas.openxmlformats.org/presentationml/2006/main">
  <p:sldMasterIdLst>
    <p:sldMasterId xmlns:r="http://schemas.openxmlformats.org/officeDocument/2006/relationships" id="2147483648" r:id="R62dc106b939e4e45"/>
  </p:sldMasterIdLst>
  <p:notesMasterIdLst>
    <p:notesMasterId xmlns:r="http://schemas.openxmlformats.org/officeDocument/2006/relationships" r:id="R55a8751c53684e7c"/>
  </p:notesMasterIdLst>
  <p:sldIdLst>
    <p:sldId xmlns:r="http://schemas.openxmlformats.org/officeDocument/2006/relationships" id="256" r:id="R2df41d7db60341e9"/>
    <p:sldId xmlns:r="http://schemas.openxmlformats.org/officeDocument/2006/relationships" id="257" r:id="Rdf2273c301d64b93"/>
    <p:sldId xmlns:r="http://schemas.openxmlformats.org/officeDocument/2006/relationships" id="258" r:id="R3d68f46409374b2a"/>
    <p:sldId xmlns:r="http://schemas.openxmlformats.org/officeDocument/2006/relationships" id="259" r:id="R4cd3f84a86b34588"/>
    <p:sldId xmlns:r="http://schemas.openxmlformats.org/officeDocument/2006/relationships" id="260" r:id="R581c6e869f1b4027"/>
    <p:sldId xmlns:r="http://schemas.openxmlformats.org/officeDocument/2006/relationships" id="261" r:id="R0cf3a8c98b2e4ed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d0be2b8a4b7465a" /><Relationship Type="http://schemas.openxmlformats.org/officeDocument/2006/relationships/slideMaster" Target="/ppt/slideMasters/slideMaster1.xml" Id="R62dc106b939e4e45" /><Relationship Type="http://schemas.openxmlformats.org/officeDocument/2006/relationships/notesMaster" Target="/ppt/notesMasters/notesMaster1.xml" Id="R55a8751c53684e7c" /><Relationship Type="http://schemas.openxmlformats.org/officeDocument/2006/relationships/presProps" Target="/ppt/presProps.xml" Id="R13d43916af674615" /><Relationship Type="http://schemas.openxmlformats.org/officeDocument/2006/relationships/tableStyles" Target="/ppt/tableStyles.xml" Id="R1f1b7fcd5223481c" /><Relationship Type="http://schemas.openxmlformats.org/officeDocument/2006/relationships/slide" Target="/ppt/slides/slide1.xml" Id="R2df41d7db60341e9" /><Relationship Type="http://schemas.openxmlformats.org/officeDocument/2006/relationships/slide" Target="/ppt/slides/slide2.xml" Id="Rdf2273c301d64b93" /><Relationship Type="http://schemas.openxmlformats.org/officeDocument/2006/relationships/slide" Target="/ppt/slides/slide3.xml" Id="R3d68f46409374b2a" /><Relationship Type="http://schemas.openxmlformats.org/officeDocument/2006/relationships/slide" Target="/ppt/slides/slide4.xml" Id="R4cd3f84a86b34588" /><Relationship Type="http://schemas.openxmlformats.org/officeDocument/2006/relationships/slide" Target="/ppt/slides/slide5.xml" Id="R581c6e869f1b4027" /><Relationship Type="http://schemas.openxmlformats.org/officeDocument/2006/relationships/slide" Target="/ppt/slides/slide6.xml" Id="R0cf3a8c98b2e4ed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cd52a9a0853449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7a7cf565a824f61" /><Relationship Type="http://schemas.openxmlformats.org/officeDocument/2006/relationships/notesMaster" Target="/ppt/notesMasters/notesMaster1.xml" Id="Rdcccad85d43c4d40" /></Relationships>
</file>

<file path=ppt/notesSlides/_rels/notesSlide2.xml.rels>&#65279;<?xml version="1.0" encoding="utf-8"?><Relationships xmlns="http://schemas.openxmlformats.org/package/2006/relationships"><Relationship Type="http://schemas.openxmlformats.org/officeDocument/2006/relationships/slide" Target="/ppt/slides/slide2.xml" Id="R0415f18202f34330" /><Relationship Type="http://schemas.openxmlformats.org/officeDocument/2006/relationships/notesMaster" Target="/ppt/notesMasters/notesMaster1.xml" Id="R22871aad698c47b3" /></Relationships>
</file>

<file path=ppt/notesSlides/_rels/notesSlide3.xml.rels>&#65279;<?xml version="1.0" encoding="utf-8"?><Relationships xmlns="http://schemas.openxmlformats.org/package/2006/relationships"><Relationship Type="http://schemas.openxmlformats.org/officeDocument/2006/relationships/slide" Target="/ppt/slides/slide3.xml" Id="R6699ceb2de7e47d3" /><Relationship Type="http://schemas.openxmlformats.org/officeDocument/2006/relationships/notesMaster" Target="/ppt/notesMasters/notesMaster1.xml" Id="Rfcfa35857e4a4614" /></Relationships>
</file>

<file path=ppt/notesSlides/_rels/notesSlide4.xml.rels>&#65279;<?xml version="1.0" encoding="utf-8"?><Relationships xmlns="http://schemas.openxmlformats.org/package/2006/relationships"><Relationship Type="http://schemas.openxmlformats.org/officeDocument/2006/relationships/slide" Target="/ppt/slides/slide4.xml" Id="R0edd1a9367434499" /><Relationship Type="http://schemas.openxmlformats.org/officeDocument/2006/relationships/notesMaster" Target="/ppt/notesMasters/notesMaster1.xml" Id="R843fa2d0c8594f7b" /></Relationships>
</file>

<file path=ppt/notesSlides/_rels/notesSlide5.xml.rels>&#65279;<?xml version="1.0" encoding="utf-8"?><Relationships xmlns="http://schemas.openxmlformats.org/package/2006/relationships"><Relationship Type="http://schemas.openxmlformats.org/officeDocument/2006/relationships/slide" Target="/ppt/slides/slide5.xml" Id="R8b14707e25ba4a04" /><Relationship Type="http://schemas.openxmlformats.org/officeDocument/2006/relationships/notesMaster" Target="/ppt/notesMasters/notesMaster1.xml" Id="R1d5d0cc17ac24a9b" /></Relationships>
</file>

<file path=ppt/notesSlides/_rels/notesSlide6.xml.rels>&#65279;<?xml version="1.0" encoding="utf-8"?><Relationships xmlns="http://schemas.openxmlformats.org/package/2006/relationships"><Relationship Type="http://schemas.openxmlformats.org/officeDocument/2006/relationships/slide" Target="/ppt/slides/slide6.xml" Id="R5661988b91ef43d2" /><Relationship Type="http://schemas.openxmlformats.org/officeDocument/2006/relationships/notesMaster" Target="/ppt/notesMasters/notesMaster1.xml" Id="R9e8bac7ff900490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a child with mosaic variegated aneuploidy, a plausible medicine is only a starting point. We propose arimoclomol for laboratory testing, with explicit rules for deciding whether it deserves to advance. We have not demonstrated drug rescue or treated this child. Our contribution is a testable proposal, supported by working tools that others can use.</a:t>
            </a:r>
          </a:p>
          <a:p xmlns:a="http://schemas.openxmlformats.org/drawingml/2006/main">
            <a:r>
              <a:t/>
            </a:r>
          </a:p>
          <a:p xmlns:a="http://schemas.openxmlformats.org/drawingml/2006/main">
            <a:r>
              <a:t>Evidence: Track 2 report · PMID 20516114</a:t>
            </a:r>
          </a:p>
          <a:p xmlns:a="http://schemas.openxmlformats.org/drawingml/2006/main">
            <a:r>
              <a:t>See the Track 2 report for linked primary references. Proposal, not demonstrated therapeutic rescue.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two identified variants affect the gene that makes Bub R one, a protein involved in chromosome separation. Their phase is inferred. The exact protein consequences remain unmeasured. The missense variant could reduce abundance, impair function, do both, or remain indeterminate. We compare full-length normal and altered protein at matched abundance. An isolated fragment's melting curve cannot settle that question.</a:t>
            </a:r>
          </a:p>
          <a:p xmlns:a="http://schemas.openxmlformats.org/drawingml/2006/main">
            <a:r>
              <a:t/>
            </a:r>
          </a:p>
          <a:p xmlns:a="http://schemas.openxmlformats.org/drawingml/2006/main">
            <a:r>
              <a:t>Evidence: PMIDs 20516114 · 22698286 · 33207204</a:t>
            </a:r>
          </a:p>
          <a:p xmlns:a="http://schemas.openxmlformats.org/drawingml/2006/main">
            <a:r>
              <a:t>See the Track 2 report for linked primary references. Proposal, not demonstrated therapeutic rescue.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Arimoclomol has a human approval in a different disease. Its reported effects depend on the cell and the stress. That makes exposure a gate, not a footnote. First, qualify the model and measurement. Second, test whether the proposed response occurs at relevant exposure. Third, require better chromosome segregation, while tracking division, survival and cell fate. More protein alone does not pass. Neither does an apparent improvement caused by stopping division or selectively losing abnormal cells. Failed controls are indeterminate; a valid drug negative stops that tested approach.</a:t>
            </a:r>
          </a:p>
          <a:p xmlns:a="http://schemas.openxmlformats.org/drawingml/2006/main">
            <a:r>
              <a:t/>
            </a:r>
          </a:p>
          <a:p xmlns:a="http://schemas.openxmlformats.org/drawingml/2006/main">
            <a:r>
              <a:t>Evidence: PMID 31900865 · MIPLYFFA label §12 · proposed protocol</a:t>
            </a:r>
          </a:p>
          <a:p xmlns:a="http://schemas.openxmlformats.org/drawingml/2006/main">
            <a:r>
              <a:t>See the Track 2 report for linked primary references. Proposal, not demonstrated therapeutic rescue.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also built a practical gene-to-condition navigator. Search a gene, inspect its candidate condition mappings, and follow the source evidence. It includes every row of a dated, two thousand and sixty-three row register snapshot, including thirty-five unmapped rows and source disagreements. A match is not an eligibility decision, and no match is not evidence of ineligibility. Queries stay on the device.</a:t>
            </a:r>
          </a:p>
          <a:p xmlns:a="http://schemas.openxmlformats.org/drawingml/2006/main">
            <a:r>
              <a:t/>
            </a:r>
          </a:p>
          <a:p xmlns:a="http://schemas.openxmlformats.org/drawingml/2006/main">
            <a:r>
              <a:t>Evidence: HFEA workbook 2026-08-05 · hashed mapping sources</a:t>
            </a:r>
          </a:p>
          <a:p xmlns:a="http://schemas.openxmlformats.org/drawingml/2006/main">
            <a:r>
              <a:t>See the Track 2 report for linked primary references. Proposal, not demonstrated therapeutic rescue.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interpretation canary checks that a model has actually answered. Real Splice A I inference passes six controls. A separate checker self-test rejects nine injected failures, including missing and nonfinite output. We distinguish those tests from clinical accuracy. A public-genome spike-in also demonstrates scale, while leaving diagnostic performance and knowledge leakage unresolved.</a:t>
            </a:r>
          </a:p>
          <a:p xmlns:a="http://schemas.openxmlformats.org/drawingml/2006/main">
            <a:r>
              <a:t/>
            </a:r>
          </a:p>
          <a:p xmlns:a="http://schemas.openxmlformats.org/drawingml/2006/main">
            <a:r>
              <a:t>Evidence: Measured SpliceAI output 2026-10-23 · public HG002 smoke test</a:t>
            </a:r>
          </a:p>
          <a:p xmlns:a="http://schemas.openxmlformats.org/drawingml/2006/main">
            <a:r>
              <a:t>See the Track 2 report for linked primary references. Proposal, not demonstrated therapeutic rescue.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step is a laboratory test of full-length variant function and exposure-limited rescue. The proposal says what would advance the candidate and what would stop it. The reusable tools, source trail and plain-language explanation are delivered now. Clinical benefit remains to be earned. That is the standard we want this work judged against.</a:t>
            </a:r>
          </a:p>
          <a:p xmlns:a="http://schemas.openxmlformats.org/drawingml/2006/main">
            <a:r>
              <a:t/>
            </a:r>
          </a:p>
          <a:p xmlns:a="http://schemas.openxmlformats.org/drawingml/2006/main">
            <a:r>
              <a:t>Evidence: adriamasnou · MVA Hackathon 2026</a:t>
            </a:r>
          </a:p>
          <a:p xmlns:a="http://schemas.openxmlformats.org/drawingml/2006/main">
            <a:r>
              <a:t>See the Track 2 report for linked primary references. Proposal, not demonstrated therapeutic rescue.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0fc2869ca0a4a8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0860e3084f0444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7b369f53e1d44d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cab2921f2e4496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43ae0075b5348e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e741a65ff784c9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E26672A-0BD8-4B14-939D-E6E87825A6F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D6C9126-9651-456E-BE42-32DD96EB300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EFFF192-AF36-4A9E-84D2-29D17A2D29A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4D52AAE-B93B-4D1C-ACE4-89B007F50A3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99218CB-44B8-4F42-B833-F6CD5396F78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25283BC-8C54-4B0E-9853-B93D38C52FA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BB644E3-C4CD-4031-9163-EE0808E0E31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362B639-2792-4893-9BB5-8D9A038E490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2D6CEAD-56BD-487F-B823-1056F2CF354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F623D88-E874-48D2-A29A-CCB97CDCD2C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754462670194cdd" /><Relationship Type="http://schemas.openxmlformats.org/officeDocument/2006/relationships/slideLayout" Target="/ppt/slideLayouts/slideLayout1.xml" Id="Rafd453d9c3a24c83" /><Relationship Type="http://schemas.openxmlformats.org/officeDocument/2006/relationships/slideLayout" Target="/ppt/slideLayouts/slideLayout2.xml" Id="Rf92a271fdaed4c18" /><Relationship Type="http://schemas.openxmlformats.org/officeDocument/2006/relationships/slideLayout" Target="/ppt/slideLayouts/slideLayout3.xml" Id="R2b38af82438d43e1" /><Relationship Type="http://schemas.openxmlformats.org/officeDocument/2006/relationships/slideLayout" Target="/ppt/slideLayouts/slideLayout4.xml" Id="Rec74878394824d1f" /><Relationship Type="http://schemas.openxmlformats.org/officeDocument/2006/relationships/slideLayout" Target="/ppt/slideLayouts/slideLayout5.xml" Id="R10ccd36aa1a441dc" /><Relationship Type="http://schemas.openxmlformats.org/officeDocument/2006/relationships/slideLayout" Target="/ppt/slideLayouts/slideLayout6.xml" Id="Rc45625d4b480496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fd453d9c3a24c83"/>
    <p:sldLayoutId xmlns:r="http://schemas.openxmlformats.org/officeDocument/2006/relationships" id="2147483650" r:id="Rf92a271fdaed4c18"/>
    <p:sldLayoutId xmlns:r="http://schemas.openxmlformats.org/officeDocument/2006/relationships" id="2147483651" r:id="R2b38af82438d43e1"/>
    <p:sldLayoutId xmlns:r="http://schemas.openxmlformats.org/officeDocument/2006/relationships" id="2147483652" r:id="Rec74878394824d1f"/>
    <p:sldLayoutId xmlns:r="http://schemas.openxmlformats.org/officeDocument/2006/relationships" id="2147483653" r:id="R10ccd36aa1a441dc"/>
    <p:sldLayoutId xmlns:r="http://schemas.openxmlformats.org/officeDocument/2006/relationships" id="2147483654" r:id="Rc45625d4b480496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61863c0915f409a" /><Relationship Type="http://schemas.openxmlformats.org/officeDocument/2006/relationships/notesSlide" Target="/ppt/notesSlides/notesSlide1.xml" Id="R312a4502f498448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3f625f91c98438a" /><Relationship Type="http://schemas.openxmlformats.org/officeDocument/2006/relationships/notesSlide" Target="/ppt/notesSlides/notesSlide2.xml" Id="R63732ef6b149407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bed1476e1bb4725" /><Relationship Type="http://schemas.openxmlformats.org/officeDocument/2006/relationships/notesSlide" Target="/ppt/notesSlides/notesSlide3.xml" Id="R63d366bef9b84c0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fcbe20b533141bc" /><Relationship Type="http://schemas.openxmlformats.org/officeDocument/2006/relationships/image" Target="/ppt/media/image.png" Id="R3127376f20c947ed" /><Relationship Type="http://schemas.openxmlformats.org/officeDocument/2006/relationships/notesSlide" Target="/ppt/notesSlides/notesSlide4.xml" Id="R3f4d5f6b8736425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6ea02ab93214c46" /><Relationship Type="http://schemas.openxmlformats.org/officeDocument/2006/relationships/notesSlide" Target="/ppt/notesSlides/notesSlide5.xml" Id="R55292853925f419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543395502284867" /><Relationship Type="http://schemas.openxmlformats.org/officeDocument/2006/relationships/notesSlide" Target="/ppt/notesSlides/notesSlide6.xml" Id="Rdb23cbcdfa1f4874" /></Relationships>
</file>

<file path=ppt/slides/slide1.xml><?xml version="1.0" encoding="utf-8"?>
<p:sld xmlns:p="http://schemas.openxmlformats.org/presentationml/2006/main">
  <p:cSld>
    <p:bg>
      <p:bgPr>
        <a:solidFill xmlns:a="http://schemas.openxmlformats.org/drawingml/2006/main">
          <a:srgbClr val="F2F5F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F0C3646-FD7E-4423-B13F-94ED5317265A}"/>
              </a:ext>
            </a:extLst>
          </p:cNvPr>
          <p:cNvSpPr>
            <a:spLocks xmlns:a="http://schemas.openxmlformats.org/drawingml/2006/main" noGrp="1"/>
          </p:cNvSpPr>
          <p:nvPr/>
        </p:nvSpPr>
        <p:spPr>
          <a:xfrm xmlns:a="http://schemas.openxmlformats.org/drawingml/2006/main">
            <a:off x="609600" y="5524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4350" b="1">
                <a:solidFill>
                  <a:srgbClr val="17333E"/>
                </a:solidFill>
                <a:latin typeface="Arial"/>
                <a:ea typeface="Arial"/>
                <a:cs typeface="Arial"/>
              </a:defRPr>
            </a:defPPr>
            <a:lvl1pPr>
              <a:defRPr sz="4350" b="1">
                <a:solidFill>
                  <a:srgbClr val="17333E"/>
                </a:solidFill>
                <a:latin typeface="Arial"/>
                <a:ea typeface="Arial"/>
                <a:cs typeface="Arial"/>
              </a:defRPr>
            </a:lvl1pPr>
            <a:lvl2pPr>
              <a:defRPr sz="4350" b="1">
                <a:solidFill>
                  <a:srgbClr val="17333E"/>
                </a:solidFill>
                <a:latin typeface="Arial"/>
                <a:ea typeface="Arial"/>
                <a:cs typeface="Arial"/>
              </a:defRPr>
            </a:lvl2pPr>
            <a:lvl3pPr>
              <a:defRPr sz="4350" b="1">
                <a:solidFill>
                  <a:srgbClr val="17333E"/>
                </a:solidFill>
                <a:latin typeface="Arial"/>
                <a:ea typeface="Arial"/>
                <a:cs typeface="Arial"/>
              </a:defRPr>
            </a:lvl3pPr>
            <a:lvl4pPr>
              <a:defRPr sz="4350" b="1">
                <a:solidFill>
                  <a:srgbClr val="17333E"/>
                </a:solidFill>
                <a:latin typeface="Arial"/>
                <a:ea typeface="Arial"/>
                <a:cs typeface="Arial"/>
              </a:defRPr>
            </a:lvl4pPr>
            <a:lvl5pPr>
              <a:defRPr sz="4350" b="1">
                <a:solidFill>
                  <a:srgbClr val="17333E"/>
                </a:solidFill>
                <a:latin typeface="Arial"/>
                <a:ea typeface="Arial"/>
                <a:cs typeface="Arial"/>
              </a:defRPr>
            </a:lvl5pPr>
            <a:lvl6pPr>
              <a:defRPr sz="4350" b="1">
                <a:solidFill>
                  <a:srgbClr val="17333E"/>
                </a:solidFill>
                <a:latin typeface="Arial"/>
                <a:ea typeface="Arial"/>
                <a:cs typeface="Arial"/>
              </a:defRPr>
            </a:lvl6pPr>
            <a:lvl7pPr>
              <a:defRPr sz="4350" b="1">
                <a:solidFill>
                  <a:srgbClr val="17333E"/>
                </a:solidFill>
                <a:latin typeface="Arial"/>
                <a:ea typeface="Arial"/>
                <a:cs typeface="Arial"/>
              </a:defRPr>
            </a:lvl7pPr>
            <a:lvl8pPr>
              <a:defRPr sz="4350" b="1">
                <a:solidFill>
                  <a:srgbClr val="17333E"/>
                </a:solidFill>
                <a:latin typeface="Arial"/>
                <a:ea typeface="Arial"/>
                <a:cs typeface="Arial"/>
              </a:defRPr>
            </a:lvl8pPr>
            <a:lvl9pPr>
              <a:defRPr sz="4350" b="1">
                <a:solidFill>
                  <a:srgbClr val="17333E"/>
                </a:solidFill>
                <a:latin typeface="Arial"/>
                <a:ea typeface="Arial"/>
                <a:cs typeface="Arial"/>
              </a:defRPr>
            </a:lvl9pPr>
          </a:lstStyle>
          <a:p xmlns:a="http://schemas.openxmlformats.org/drawingml/2006/main">
            <a:pPr>
              <a:defRPr sz="4350" b="1">
                <a:solidFill>
                  <a:srgbClr val="17333E"/>
                </a:solidFill>
                <a:latin typeface="Arial"/>
                <a:ea typeface="Arial"/>
                <a:cs typeface="Arial"/>
              </a:defRPr>
            </a:pPr>
            <a:r>
              <a:rPr sz="4350" b="1">
                <a:solidFill>
                  <a:srgbClr val="17333E"/>
                </a:solidFill>
                <a:latin typeface="Arial"/>
                <a:ea typeface="Arial"/>
                <a:cs typeface="Arial"/>
              </a:rPr>
              <a:t>Arimoclomol for BUB1B-MVA</a:t>
            </a:r>
          </a:p>
        </p:txBody>
      </p:sp>
      <p:sp>
        <p:nvSpPr>
          <p:cNvPr id="2" name="">
            <a:extLst xmlns:a="http://schemas.openxmlformats.org/drawingml/2006/main">
              <a:ext uri="{FF2B5EF4-FFF2-40B4-BE49-F238E27FC236}">
                <a16:creationId xmlns:a16="http://schemas.microsoft.com/office/drawing/2014/main" id="{3EA2881B-4E20-477E-97E2-250D40219977}"/>
              </a:ext>
            </a:extLst>
          </p:cNvPr>
          <p:cNvSpPr>
            <a:spLocks xmlns:a="http://schemas.openxmlformats.org/drawingml/2006/main" noGrp="1"/>
          </p:cNvSpPr>
          <p:nvPr/>
        </p:nvSpPr>
        <p:spPr>
          <a:xfrm xmlns:a="http://schemas.openxmlformats.org/drawingml/2006/main">
            <a:off x="10953750" y="63436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971"/>
                </a:solidFill>
                <a:latin typeface="Arial"/>
                <a:ea typeface="Arial"/>
                <a:cs typeface="Arial"/>
              </a:defRPr>
            </a:defPPr>
            <a:lvl1pPr>
              <a:defRPr sz="1350" b="0">
                <a:solidFill>
                  <a:srgbClr val="526971"/>
                </a:solidFill>
                <a:latin typeface="Arial"/>
                <a:ea typeface="Arial"/>
                <a:cs typeface="Arial"/>
              </a:defRPr>
            </a:lvl1pPr>
            <a:lvl2pPr>
              <a:defRPr sz="1350" b="0">
                <a:solidFill>
                  <a:srgbClr val="526971"/>
                </a:solidFill>
                <a:latin typeface="Arial"/>
                <a:ea typeface="Arial"/>
                <a:cs typeface="Arial"/>
              </a:defRPr>
            </a:lvl2pPr>
            <a:lvl3pPr>
              <a:defRPr sz="1350" b="0">
                <a:solidFill>
                  <a:srgbClr val="526971"/>
                </a:solidFill>
                <a:latin typeface="Arial"/>
                <a:ea typeface="Arial"/>
                <a:cs typeface="Arial"/>
              </a:defRPr>
            </a:lvl3pPr>
            <a:lvl4pPr>
              <a:defRPr sz="1350" b="0">
                <a:solidFill>
                  <a:srgbClr val="526971"/>
                </a:solidFill>
                <a:latin typeface="Arial"/>
                <a:ea typeface="Arial"/>
                <a:cs typeface="Arial"/>
              </a:defRPr>
            </a:lvl4pPr>
            <a:lvl5pPr>
              <a:defRPr sz="1350" b="0">
                <a:solidFill>
                  <a:srgbClr val="526971"/>
                </a:solidFill>
                <a:latin typeface="Arial"/>
                <a:ea typeface="Arial"/>
                <a:cs typeface="Arial"/>
              </a:defRPr>
            </a:lvl5pPr>
            <a:lvl6pPr>
              <a:defRPr sz="1350" b="0">
                <a:solidFill>
                  <a:srgbClr val="526971"/>
                </a:solidFill>
                <a:latin typeface="Arial"/>
                <a:ea typeface="Arial"/>
                <a:cs typeface="Arial"/>
              </a:defRPr>
            </a:lvl6pPr>
            <a:lvl7pPr>
              <a:defRPr sz="1350" b="0">
                <a:solidFill>
                  <a:srgbClr val="526971"/>
                </a:solidFill>
                <a:latin typeface="Arial"/>
                <a:ea typeface="Arial"/>
                <a:cs typeface="Arial"/>
              </a:defRPr>
            </a:lvl7pPr>
            <a:lvl8pPr>
              <a:defRPr sz="1350" b="0">
                <a:solidFill>
                  <a:srgbClr val="526971"/>
                </a:solidFill>
                <a:latin typeface="Arial"/>
                <a:ea typeface="Arial"/>
                <a:cs typeface="Arial"/>
              </a:defRPr>
            </a:lvl8pPr>
            <a:lvl9pPr>
              <a:defRPr sz="1350" b="0">
                <a:solidFill>
                  <a:srgbClr val="526971"/>
                </a:solidFill>
                <a:latin typeface="Arial"/>
                <a:ea typeface="Arial"/>
                <a:cs typeface="Arial"/>
              </a:defRPr>
            </a:lvl9pPr>
          </a:lstStyle>
          <a:p xmlns:a="http://schemas.openxmlformats.org/drawingml/2006/main">
            <a:pPr>
              <a:defRPr sz="1350" b="0">
                <a:solidFill>
                  <a:srgbClr val="526971"/>
                </a:solidFill>
                <a:latin typeface="Arial"/>
                <a:ea typeface="Arial"/>
                <a:cs typeface="Arial"/>
              </a:defRPr>
            </a:pPr>
            <a:r>
              <a:rPr sz="1350" b="0">
                <a:solidFill>
                  <a:srgbClr val="526971"/>
                </a:solidFill>
                <a:latin typeface="Arial"/>
                <a:ea typeface="Arial"/>
                <a:cs typeface="Arial"/>
              </a:rPr>
              <a:t>1/6</a:t>
            </a:r>
          </a:p>
        </p:txBody>
      </p:sp>
      <p:sp>
        <p:nvSpPr>
          <p:cNvPr id="3" name="">
            <a:extLst xmlns:a="http://schemas.openxmlformats.org/drawingml/2006/main">
              <a:ext uri="{FF2B5EF4-FFF2-40B4-BE49-F238E27FC236}">
                <a16:creationId xmlns:a16="http://schemas.microsoft.com/office/drawing/2014/main" id="{027211C4-64A3-4D1B-A155-A33601701FED}"/>
              </a:ext>
            </a:extLst>
          </p:cNvPr>
          <p:cNvSpPr>
            <a:spLocks xmlns:a="http://schemas.openxmlformats.org/drawingml/2006/main" noGrp="1"/>
          </p:cNvSpPr>
          <p:nvPr/>
        </p:nvSpPr>
        <p:spPr>
          <a:xfrm xmlns:a="http://schemas.openxmlformats.org/drawingml/2006/main">
            <a:off x="609600" y="63436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971"/>
                </a:solidFill>
                <a:latin typeface="Arial"/>
                <a:ea typeface="Arial"/>
                <a:cs typeface="Arial"/>
              </a:defRPr>
            </a:defPPr>
            <a:lvl1pPr>
              <a:defRPr sz="1200" b="0">
                <a:solidFill>
                  <a:srgbClr val="526971"/>
                </a:solidFill>
                <a:latin typeface="Arial"/>
                <a:ea typeface="Arial"/>
                <a:cs typeface="Arial"/>
              </a:defRPr>
            </a:lvl1pPr>
            <a:lvl2pPr>
              <a:defRPr sz="1200" b="0">
                <a:solidFill>
                  <a:srgbClr val="526971"/>
                </a:solidFill>
                <a:latin typeface="Arial"/>
                <a:ea typeface="Arial"/>
                <a:cs typeface="Arial"/>
              </a:defRPr>
            </a:lvl2pPr>
            <a:lvl3pPr>
              <a:defRPr sz="1200" b="0">
                <a:solidFill>
                  <a:srgbClr val="526971"/>
                </a:solidFill>
                <a:latin typeface="Arial"/>
                <a:ea typeface="Arial"/>
                <a:cs typeface="Arial"/>
              </a:defRPr>
            </a:lvl3pPr>
            <a:lvl4pPr>
              <a:defRPr sz="1200" b="0">
                <a:solidFill>
                  <a:srgbClr val="526971"/>
                </a:solidFill>
                <a:latin typeface="Arial"/>
                <a:ea typeface="Arial"/>
                <a:cs typeface="Arial"/>
              </a:defRPr>
            </a:lvl4pPr>
            <a:lvl5pPr>
              <a:defRPr sz="1200" b="0">
                <a:solidFill>
                  <a:srgbClr val="526971"/>
                </a:solidFill>
                <a:latin typeface="Arial"/>
                <a:ea typeface="Arial"/>
                <a:cs typeface="Arial"/>
              </a:defRPr>
            </a:lvl5pPr>
            <a:lvl6pPr>
              <a:defRPr sz="1200" b="0">
                <a:solidFill>
                  <a:srgbClr val="526971"/>
                </a:solidFill>
                <a:latin typeface="Arial"/>
                <a:ea typeface="Arial"/>
                <a:cs typeface="Arial"/>
              </a:defRPr>
            </a:lvl6pPr>
            <a:lvl7pPr>
              <a:defRPr sz="1200" b="0">
                <a:solidFill>
                  <a:srgbClr val="526971"/>
                </a:solidFill>
                <a:latin typeface="Arial"/>
                <a:ea typeface="Arial"/>
                <a:cs typeface="Arial"/>
              </a:defRPr>
            </a:lvl7pPr>
            <a:lvl8pPr>
              <a:defRPr sz="1200" b="0">
                <a:solidFill>
                  <a:srgbClr val="526971"/>
                </a:solidFill>
                <a:latin typeface="Arial"/>
                <a:ea typeface="Arial"/>
                <a:cs typeface="Arial"/>
              </a:defRPr>
            </a:lvl8pPr>
            <a:lvl9pPr>
              <a:defRPr sz="1200" b="0">
                <a:solidFill>
                  <a:srgbClr val="526971"/>
                </a:solidFill>
                <a:latin typeface="Arial"/>
                <a:ea typeface="Arial"/>
                <a:cs typeface="Arial"/>
              </a:defRPr>
            </a:lvl9pPr>
          </a:lstStyle>
          <a:p xmlns:a="http://schemas.openxmlformats.org/drawingml/2006/main">
            <a:pPr>
              <a:defRPr sz="1200" b="0">
                <a:solidFill>
                  <a:srgbClr val="526971"/>
                </a:solidFill>
                <a:latin typeface="Arial"/>
                <a:ea typeface="Arial"/>
                <a:cs typeface="Arial"/>
              </a:defRPr>
            </a:pPr>
            <a:r>
              <a:rPr sz="1200" b="0">
                <a:solidFill>
                  <a:srgbClr val="526971"/>
                </a:solidFill>
                <a:latin typeface="Arial"/>
                <a:ea typeface="Arial"/>
                <a:cs typeface="Arial"/>
              </a:rPr>
              <a:t>Track 2 report  /  PMID 20516114</a:t>
            </a:r>
          </a:p>
        </p:txBody>
      </p:sp>
      <p:sp>
        <p:nvSpPr>
          <p:cNvPr id="4" name="">
            <a:extLst xmlns:a="http://schemas.openxmlformats.org/drawingml/2006/main">
              <a:ext uri="{FF2B5EF4-FFF2-40B4-BE49-F238E27FC236}">
                <a16:creationId xmlns:a16="http://schemas.microsoft.com/office/drawing/2014/main" id="{49641991-6C6B-40E0-8CC0-7E32E4B15352}"/>
              </a:ext>
            </a:extLst>
          </p:cNvPr>
          <p:cNvSpPr>
            <a:spLocks xmlns:a="http://schemas.openxmlformats.org/drawingml/2006/main" noGrp="1"/>
          </p:cNvSpPr>
          <p:nvPr/>
        </p:nvSpPr>
        <p:spPr>
          <a:xfrm xmlns:a="http://schemas.openxmlformats.org/drawingml/2006/main">
            <a:off x="609600" y="1828800"/>
            <a:ext cx="10001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76C63"/>
                </a:solidFill>
                <a:latin typeface="Arial"/>
                <a:ea typeface="Arial"/>
                <a:cs typeface="Arial"/>
              </a:defRPr>
            </a:defPPr>
            <a:lvl1pPr>
              <a:defRPr sz="2550" b="0">
                <a:solidFill>
                  <a:srgbClr val="176C63"/>
                </a:solidFill>
                <a:latin typeface="Arial"/>
                <a:ea typeface="Arial"/>
                <a:cs typeface="Arial"/>
              </a:defRPr>
            </a:lvl1pPr>
            <a:lvl2pPr>
              <a:defRPr sz="2550" b="0">
                <a:solidFill>
                  <a:srgbClr val="176C63"/>
                </a:solidFill>
                <a:latin typeface="Arial"/>
                <a:ea typeface="Arial"/>
                <a:cs typeface="Arial"/>
              </a:defRPr>
            </a:lvl2pPr>
            <a:lvl3pPr>
              <a:defRPr sz="2550" b="0">
                <a:solidFill>
                  <a:srgbClr val="176C63"/>
                </a:solidFill>
                <a:latin typeface="Arial"/>
                <a:ea typeface="Arial"/>
                <a:cs typeface="Arial"/>
              </a:defRPr>
            </a:lvl3pPr>
            <a:lvl4pPr>
              <a:defRPr sz="2550" b="0">
                <a:solidFill>
                  <a:srgbClr val="176C63"/>
                </a:solidFill>
                <a:latin typeface="Arial"/>
                <a:ea typeface="Arial"/>
                <a:cs typeface="Arial"/>
              </a:defRPr>
            </a:lvl4pPr>
            <a:lvl5pPr>
              <a:defRPr sz="2550" b="0">
                <a:solidFill>
                  <a:srgbClr val="176C63"/>
                </a:solidFill>
                <a:latin typeface="Arial"/>
                <a:ea typeface="Arial"/>
                <a:cs typeface="Arial"/>
              </a:defRPr>
            </a:lvl5pPr>
            <a:lvl6pPr>
              <a:defRPr sz="2550" b="0">
                <a:solidFill>
                  <a:srgbClr val="176C63"/>
                </a:solidFill>
                <a:latin typeface="Arial"/>
                <a:ea typeface="Arial"/>
                <a:cs typeface="Arial"/>
              </a:defRPr>
            </a:lvl6pPr>
            <a:lvl7pPr>
              <a:defRPr sz="2550" b="0">
                <a:solidFill>
                  <a:srgbClr val="176C63"/>
                </a:solidFill>
                <a:latin typeface="Arial"/>
                <a:ea typeface="Arial"/>
                <a:cs typeface="Arial"/>
              </a:defRPr>
            </a:lvl7pPr>
            <a:lvl8pPr>
              <a:defRPr sz="2550" b="0">
                <a:solidFill>
                  <a:srgbClr val="176C63"/>
                </a:solidFill>
                <a:latin typeface="Arial"/>
                <a:ea typeface="Arial"/>
                <a:cs typeface="Arial"/>
              </a:defRPr>
            </a:lvl8pPr>
            <a:lvl9pPr>
              <a:defRPr sz="2550" b="0">
                <a:solidFill>
                  <a:srgbClr val="176C63"/>
                </a:solidFill>
                <a:latin typeface="Arial"/>
                <a:ea typeface="Arial"/>
                <a:cs typeface="Arial"/>
              </a:defRPr>
            </a:lvl9pPr>
          </a:lstStyle>
          <a:p xmlns:a="http://schemas.openxmlformats.org/drawingml/2006/main">
            <a:pPr>
              <a:defRPr sz="2550" b="0">
                <a:solidFill>
                  <a:srgbClr val="176C63"/>
                </a:solidFill>
                <a:latin typeface="Arial"/>
                <a:ea typeface="Arial"/>
                <a:cs typeface="Arial"/>
              </a:defRPr>
            </a:pPr>
            <a:r>
              <a:rPr sz="2550" b="0">
                <a:solidFill>
                  <a:srgbClr val="176C63"/>
                </a:solidFill>
                <a:latin typeface="Arial"/>
                <a:ea typeface="Arial"/>
                <a:cs typeface="Arial"/>
              </a:rPr>
              <a:t>Conditional preclinical repurposing proposal</a:t>
            </a:r>
          </a:p>
        </p:txBody>
      </p:sp>
      <p:sp>
        <p:nvSpPr>
          <p:cNvPr id="5" name="">
            <a:extLst xmlns:a="http://schemas.openxmlformats.org/drawingml/2006/main">
              <a:ext uri="{FF2B5EF4-FFF2-40B4-BE49-F238E27FC236}">
                <a16:creationId xmlns:a16="http://schemas.microsoft.com/office/drawing/2014/main" id="{AFCD3A64-78BA-4433-8814-A71412ECE6E2}"/>
              </a:ext>
            </a:extLst>
          </p:cNvPr>
          <p:cNvSpPr>
            <a:spLocks xmlns:a="http://schemas.openxmlformats.org/drawingml/2006/main" noGrp="1"/>
          </p:cNvSpPr>
          <p:nvPr/>
        </p:nvSpPr>
        <p:spPr>
          <a:xfrm xmlns:a="http://schemas.openxmlformats.org/drawingml/2006/main">
            <a:off x="609600" y="3095625"/>
            <a:ext cx="10477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4200" b="1">
                <a:solidFill>
                  <a:srgbClr val="17333E"/>
                </a:solidFill>
                <a:latin typeface="Arial"/>
                <a:ea typeface="Arial"/>
                <a:cs typeface="Arial"/>
              </a:defRPr>
            </a:defPPr>
            <a:lvl1pPr>
              <a:defRPr sz="4200" b="1">
                <a:solidFill>
                  <a:srgbClr val="17333E"/>
                </a:solidFill>
                <a:latin typeface="Arial"/>
                <a:ea typeface="Arial"/>
                <a:cs typeface="Arial"/>
              </a:defRPr>
            </a:lvl1pPr>
            <a:lvl2pPr>
              <a:defRPr sz="4200" b="1">
                <a:solidFill>
                  <a:srgbClr val="17333E"/>
                </a:solidFill>
                <a:latin typeface="Arial"/>
                <a:ea typeface="Arial"/>
                <a:cs typeface="Arial"/>
              </a:defRPr>
            </a:lvl2pPr>
            <a:lvl3pPr>
              <a:defRPr sz="4200" b="1">
                <a:solidFill>
                  <a:srgbClr val="17333E"/>
                </a:solidFill>
                <a:latin typeface="Arial"/>
                <a:ea typeface="Arial"/>
                <a:cs typeface="Arial"/>
              </a:defRPr>
            </a:lvl3pPr>
            <a:lvl4pPr>
              <a:defRPr sz="4200" b="1">
                <a:solidFill>
                  <a:srgbClr val="17333E"/>
                </a:solidFill>
                <a:latin typeface="Arial"/>
                <a:ea typeface="Arial"/>
                <a:cs typeface="Arial"/>
              </a:defRPr>
            </a:lvl4pPr>
            <a:lvl5pPr>
              <a:defRPr sz="4200" b="1">
                <a:solidFill>
                  <a:srgbClr val="17333E"/>
                </a:solidFill>
                <a:latin typeface="Arial"/>
                <a:ea typeface="Arial"/>
                <a:cs typeface="Arial"/>
              </a:defRPr>
            </a:lvl5pPr>
            <a:lvl6pPr>
              <a:defRPr sz="4200" b="1">
                <a:solidFill>
                  <a:srgbClr val="17333E"/>
                </a:solidFill>
                <a:latin typeface="Arial"/>
                <a:ea typeface="Arial"/>
                <a:cs typeface="Arial"/>
              </a:defRPr>
            </a:lvl6pPr>
            <a:lvl7pPr>
              <a:defRPr sz="4200" b="1">
                <a:solidFill>
                  <a:srgbClr val="17333E"/>
                </a:solidFill>
                <a:latin typeface="Arial"/>
                <a:ea typeface="Arial"/>
                <a:cs typeface="Arial"/>
              </a:defRPr>
            </a:lvl7pPr>
            <a:lvl8pPr>
              <a:defRPr sz="4200" b="1">
                <a:solidFill>
                  <a:srgbClr val="17333E"/>
                </a:solidFill>
                <a:latin typeface="Arial"/>
                <a:ea typeface="Arial"/>
                <a:cs typeface="Arial"/>
              </a:defRPr>
            </a:lvl8pPr>
            <a:lvl9pPr>
              <a:defRPr sz="4200" b="1">
                <a:solidFill>
                  <a:srgbClr val="17333E"/>
                </a:solidFill>
                <a:latin typeface="Arial"/>
                <a:ea typeface="Arial"/>
                <a:cs typeface="Arial"/>
              </a:defRPr>
            </a:lvl9pPr>
          </a:lstStyle>
          <a:p xmlns:a="http://schemas.openxmlformats.org/drawingml/2006/main">
            <a:pPr>
              <a:defRPr sz="4200" b="1">
                <a:solidFill>
                  <a:srgbClr val="17333E"/>
                </a:solidFill>
                <a:latin typeface="Arial"/>
                <a:ea typeface="Arial"/>
                <a:cs typeface="Arial"/>
              </a:defRPr>
            </a:pPr>
            <a:r>
              <a:rPr sz="4200" b="1">
                <a:solidFill>
                  <a:srgbClr val="17333E"/>
                </a:solidFill>
                <a:latin typeface="Arial"/>
                <a:ea typeface="Arial"/>
                <a:cs typeface="Arial"/>
              </a:rPr>
              <a:t>Can this candidate restore</a:t>
            </a:r>
          </a:p>
          <a:p xmlns:a="http://schemas.openxmlformats.org/drawingml/2006/main">
            <a:pPr>
              <a:defRPr sz="4200" b="1">
                <a:solidFill>
                  <a:srgbClr val="17333E"/>
                </a:solidFill>
                <a:latin typeface="Arial"/>
                <a:ea typeface="Arial"/>
                <a:cs typeface="Arial"/>
              </a:defRPr>
            </a:pPr>
            <a:r>
              <a:rPr sz="4200" b="1">
                <a:solidFill>
                  <a:srgbClr val="17333E"/>
                </a:solidFill>
                <a:latin typeface="Arial"/>
                <a:ea typeface="Arial"/>
                <a:cs typeface="Arial"/>
              </a:rPr>
              <a:t>functional BubR1?</a:t>
            </a:r>
          </a:p>
        </p:txBody>
      </p:sp>
      <p:sp>
        <p:nvSpPr>
          <p:cNvPr id="6" name="">
            <a:extLst xmlns:a="http://schemas.openxmlformats.org/drawingml/2006/main">
              <a:ext uri="{FF2B5EF4-FFF2-40B4-BE49-F238E27FC236}">
                <a16:creationId xmlns:a16="http://schemas.microsoft.com/office/drawing/2014/main" id="{929B548C-9630-4334-9489-BE53D9A333DB}"/>
              </a:ext>
            </a:extLst>
          </p:cNvPr>
          <p:cNvSpPr>
            <a:spLocks xmlns:a="http://schemas.openxmlformats.org/drawingml/2006/main" noGrp="1"/>
          </p:cNvSpPr>
          <p:nvPr/>
        </p:nvSpPr>
        <p:spPr>
          <a:xfrm xmlns:a="http://schemas.openxmlformats.org/drawingml/2006/main">
            <a:off x="609600" y="5143500"/>
            <a:ext cx="5715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526971"/>
                </a:solidFill>
                <a:latin typeface="Arial"/>
                <a:ea typeface="Arial"/>
                <a:cs typeface="Arial"/>
              </a:defRPr>
            </a:defPPr>
            <a:lvl1pPr>
              <a:defRPr sz="1875" b="0">
                <a:solidFill>
                  <a:srgbClr val="526971"/>
                </a:solidFill>
                <a:latin typeface="Arial"/>
                <a:ea typeface="Arial"/>
                <a:cs typeface="Arial"/>
              </a:defRPr>
            </a:lvl1pPr>
            <a:lvl2pPr>
              <a:defRPr sz="1875" b="0">
                <a:solidFill>
                  <a:srgbClr val="526971"/>
                </a:solidFill>
                <a:latin typeface="Arial"/>
                <a:ea typeface="Arial"/>
                <a:cs typeface="Arial"/>
              </a:defRPr>
            </a:lvl2pPr>
            <a:lvl3pPr>
              <a:defRPr sz="1875" b="0">
                <a:solidFill>
                  <a:srgbClr val="526971"/>
                </a:solidFill>
                <a:latin typeface="Arial"/>
                <a:ea typeface="Arial"/>
                <a:cs typeface="Arial"/>
              </a:defRPr>
            </a:lvl3pPr>
            <a:lvl4pPr>
              <a:defRPr sz="1875" b="0">
                <a:solidFill>
                  <a:srgbClr val="526971"/>
                </a:solidFill>
                <a:latin typeface="Arial"/>
                <a:ea typeface="Arial"/>
                <a:cs typeface="Arial"/>
              </a:defRPr>
            </a:lvl4pPr>
            <a:lvl5pPr>
              <a:defRPr sz="1875" b="0">
                <a:solidFill>
                  <a:srgbClr val="526971"/>
                </a:solidFill>
                <a:latin typeface="Arial"/>
                <a:ea typeface="Arial"/>
                <a:cs typeface="Arial"/>
              </a:defRPr>
            </a:lvl5pPr>
            <a:lvl6pPr>
              <a:defRPr sz="1875" b="0">
                <a:solidFill>
                  <a:srgbClr val="526971"/>
                </a:solidFill>
                <a:latin typeface="Arial"/>
                <a:ea typeface="Arial"/>
                <a:cs typeface="Arial"/>
              </a:defRPr>
            </a:lvl6pPr>
            <a:lvl7pPr>
              <a:defRPr sz="1875" b="0">
                <a:solidFill>
                  <a:srgbClr val="526971"/>
                </a:solidFill>
                <a:latin typeface="Arial"/>
                <a:ea typeface="Arial"/>
                <a:cs typeface="Arial"/>
              </a:defRPr>
            </a:lvl7pPr>
            <a:lvl8pPr>
              <a:defRPr sz="1875" b="0">
                <a:solidFill>
                  <a:srgbClr val="526971"/>
                </a:solidFill>
                <a:latin typeface="Arial"/>
                <a:ea typeface="Arial"/>
                <a:cs typeface="Arial"/>
              </a:defRPr>
            </a:lvl8pPr>
            <a:lvl9pPr>
              <a:defRPr sz="1875" b="0">
                <a:solidFill>
                  <a:srgbClr val="526971"/>
                </a:solidFill>
                <a:latin typeface="Arial"/>
                <a:ea typeface="Arial"/>
                <a:cs typeface="Arial"/>
              </a:defRPr>
            </a:lvl9pPr>
          </a:lstStyle>
          <a:p xmlns:a="http://schemas.openxmlformats.org/drawingml/2006/main">
            <a:pPr>
              <a:defRPr sz="1875" b="0">
                <a:solidFill>
                  <a:srgbClr val="526971"/>
                </a:solidFill>
                <a:latin typeface="Arial"/>
                <a:ea typeface="Arial"/>
                <a:cs typeface="Arial"/>
              </a:defRPr>
            </a:pPr>
            <a:r>
              <a:rPr sz="1875" b="0">
                <a:solidFill>
                  <a:srgbClr val="526971"/>
                </a:solidFill>
                <a:latin typeface="Arial"/>
                <a:ea typeface="Arial"/>
                <a:cs typeface="Arial"/>
              </a:rPr>
              <a:t>adriamasnou</a:t>
            </a:r>
          </a:p>
          <a:p xmlns:a="http://schemas.openxmlformats.org/drawingml/2006/main">
            <a:pPr>
              <a:defRPr sz="1875" b="0">
                <a:solidFill>
                  <a:srgbClr val="526971"/>
                </a:solidFill>
                <a:latin typeface="Arial"/>
                <a:ea typeface="Arial"/>
                <a:cs typeface="Arial"/>
              </a:defRPr>
            </a:pPr>
            <a:r>
              <a:rPr sz="1875" b="0">
                <a:solidFill>
                  <a:srgbClr val="526971"/>
                </a:solidFill>
                <a:latin typeface="Arial"/>
                <a:ea typeface="Arial"/>
                <a:cs typeface="Arial"/>
              </a:rPr>
              <a:t>MVA Hackathon 2026</a:t>
            </a:r>
          </a:p>
        </p:txBody>
      </p:sp>
      <p:sp>
        <p:nvSpPr>
          <p:cNvPr id="7" name="">
            <a:extLst xmlns:a="http://schemas.openxmlformats.org/drawingml/2006/main">
              <a:ext uri="{FF2B5EF4-FFF2-40B4-BE49-F238E27FC236}">
                <a16:creationId xmlns:a16="http://schemas.microsoft.com/office/drawing/2014/main" id="{4B491A65-30BC-4883-8863-C899720C249C}"/>
              </a:ext>
            </a:extLst>
          </p:cNvPr>
          <p:cNvSpPr>
            <a:spLocks xmlns:a="http://schemas.openxmlformats.org/drawingml/2006/main" noGrp="1"/>
          </p:cNvSpPr>
          <p:nvPr/>
        </p:nvSpPr>
        <p:spPr>
          <a:xfrm xmlns:a="http://schemas.openxmlformats.org/drawingml/2006/main">
            <a:off x="7429500" y="5143500"/>
            <a:ext cx="4095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526971"/>
                </a:solidFill>
                <a:latin typeface="Arial"/>
                <a:ea typeface="Arial"/>
                <a:cs typeface="Arial"/>
              </a:defRPr>
            </a:defPPr>
            <a:lvl1pPr>
              <a:defRPr sz="1875" b="0">
                <a:solidFill>
                  <a:srgbClr val="526971"/>
                </a:solidFill>
                <a:latin typeface="Arial"/>
                <a:ea typeface="Arial"/>
                <a:cs typeface="Arial"/>
              </a:defRPr>
            </a:lvl1pPr>
            <a:lvl2pPr>
              <a:defRPr sz="1875" b="0">
                <a:solidFill>
                  <a:srgbClr val="526971"/>
                </a:solidFill>
                <a:latin typeface="Arial"/>
                <a:ea typeface="Arial"/>
                <a:cs typeface="Arial"/>
              </a:defRPr>
            </a:lvl2pPr>
            <a:lvl3pPr>
              <a:defRPr sz="1875" b="0">
                <a:solidFill>
                  <a:srgbClr val="526971"/>
                </a:solidFill>
                <a:latin typeface="Arial"/>
                <a:ea typeface="Arial"/>
                <a:cs typeface="Arial"/>
              </a:defRPr>
            </a:lvl3pPr>
            <a:lvl4pPr>
              <a:defRPr sz="1875" b="0">
                <a:solidFill>
                  <a:srgbClr val="526971"/>
                </a:solidFill>
                <a:latin typeface="Arial"/>
                <a:ea typeface="Arial"/>
                <a:cs typeface="Arial"/>
              </a:defRPr>
            </a:lvl4pPr>
            <a:lvl5pPr>
              <a:defRPr sz="1875" b="0">
                <a:solidFill>
                  <a:srgbClr val="526971"/>
                </a:solidFill>
                <a:latin typeface="Arial"/>
                <a:ea typeface="Arial"/>
                <a:cs typeface="Arial"/>
              </a:defRPr>
            </a:lvl5pPr>
            <a:lvl6pPr>
              <a:defRPr sz="1875" b="0">
                <a:solidFill>
                  <a:srgbClr val="526971"/>
                </a:solidFill>
                <a:latin typeface="Arial"/>
                <a:ea typeface="Arial"/>
                <a:cs typeface="Arial"/>
              </a:defRPr>
            </a:lvl6pPr>
            <a:lvl7pPr>
              <a:defRPr sz="1875" b="0">
                <a:solidFill>
                  <a:srgbClr val="526971"/>
                </a:solidFill>
                <a:latin typeface="Arial"/>
                <a:ea typeface="Arial"/>
                <a:cs typeface="Arial"/>
              </a:defRPr>
            </a:lvl7pPr>
            <a:lvl8pPr>
              <a:defRPr sz="1875" b="0">
                <a:solidFill>
                  <a:srgbClr val="526971"/>
                </a:solidFill>
                <a:latin typeface="Arial"/>
                <a:ea typeface="Arial"/>
                <a:cs typeface="Arial"/>
              </a:defRPr>
            </a:lvl8pPr>
            <a:lvl9pPr>
              <a:defRPr sz="1875" b="0">
                <a:solidFill>
                  <a:srgbClr val="526971"/>
                </a:solidFill>
                <a:latin typeface="Arial"/>
                <a:ea typeface="Arial"/>
                <a:cs typeface="Arial"/>
              </a:defRPr>
            </a:lvl9pPr>
          </a:lstStyle>
          <a:p xmlns:a="http://schemas.openxmlformats.org/drawingml/2006/main">
            <a:pPr>
              <a:defRPr sz="1875" b="0">
                <a:solidFill>
                  <a:srgbClr val="526971"/>
                </a:solidFill>
                <a:latin typeface="Arial"/>
                <a:ea typeface="Arial"/>
                <a:cs typeface="Arial"/>
              </a:defRPr>
            </a:pPr>
            <a:r>
              <a:rPr sz="1875" b="0">
                <a:solidFill>
                  <a:srgbClr val="526971"/>
                </a:solidFill>
                <a:latin typeface="Arial"/>
                <a:ea typeface="Arial"/>
                <a:cs typeface="Arial"/>
              </a:rPr>
              <a:t>No drug rescue experiment</a:t>
            </a:r>
          </a:p>
          <a:p xmlns:a="http://schemas.openxmlformats.org/drawingml/2006/main">
            <a:pPr>
              <a:defRPr sz="1875" b="0">
                <a:solidFill>
                  <a:srgbClr val="526971"/>
                </a:solidFill>
                <a:latin typeface="Arial"/>
                <a:ea typeface="Arial"/>
                <a:cs typeface="Arial"/>
              </a:defRPr>
            </a:pPr>
            <a:r>
              <a:rPr sz="1875" b="0">
                <a:solidFill>
                  <a:srgbClr val="526971"/>
                </a:solidFill>
                <a:latin typeface="Arial"/>
                <a:ea typeface="Arial"/>
                <a:cs typeface="Arial"/>
              </a:rPr>
              <a:t>has been performed.</a:t>
            </a:r>
          </a:p>
        </p:txBody>
      </p:sp>
    </p:spTree>
    <p:extLst>
      <p:ext uri="{BB962C8B-B14F-4D97-AF65-F5344CB8AC3E}">
        <p14:creationId xmlns:p14="http://schemas.microsoft.com/office/powerpoint/2010/main" val="1824133070"/>
      </p:ext>
    </p:extLst>
  </p:cSld>
</p:sld>
</file>

<file path=ppt/slides/slide2.xml><?xml version="1.0" encoding="utf-8"?>
<p:sld xmlns:p="http://schemas.openxmlformats.org/presentationml/2006/main">
  <p:cSld>
    <p:bg>
      <p:bgPr>
        <a:solidFill xmlns:a="http://schemas.openxmlformats.org/drawingml/2006/main">
          <a:srgbClr val="F2F5F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092298C-82E9-48E2-A4D0-C8732BF995C6}"/>
              </a:ext>
            </a:extLst>
          </p:cNvPr>
          <p:cNvSpPr>
            <a:spLocks xmlns:a="http://schemas.openxmlformats.org/drawingml/2006/main" noGrp="1"/>
          </p:cNvSpPr>
          <p:nvPr/>
        </p:nvSpPr>
        <p:spPr>
          <a:xfrm xmlns:a="http://schemas.openxmlformats.org/drawingml/2006/main">
            <a:off x="609600" y="5524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750" b="1">
                <a:solidFill>
                  <a:srgbClr val="17333E"/>
                </a:solidFill>
                <a:latin typeface="Arial"/>
                <a:ea typeface="Arial"/>
                <a:cs typeface="Arial"/>
              </a:defRPr>
            </a:defPPr>
            <a:lvl1pPr>
              <a:defRPr sz="3750" b="1">
                <a:solidFill>
                  <a:srgbClr val="17333E"/>
                </a:solidFill>
                <a:latin typeface="Arial"/>
                <a:ea typeface="Arial"/>
                <a:cs typeface="Arial"/>
              </a:defRPr>
            </a:lvl1pPr>
            <a:lvl2pPr>
              <a:defRPr sz="3750" b="1">
                <a:solidFill>
                  <a:srgbClr val="17333E"/>
                </a:solidFill>
                <a:latin typeface="Arial"/>
                <a:ea typeface="Arial"/>
                <a:cs typeface="Arial"/>
              </a:defRPr>
            </a:lvl2pPr>
            <a:lvl3pPr>
              <a:defRPr sz="3750" b="1">
                <a:solidFill>
                  <a:srgbClr val="17333E"/>
                </a:solidFill>
                <a:latin typeface="Arial"/>
                <a:ea typeface="Arial"/>
                <a:cs typeface="Arial"/>
              </a:defRPr>
            </a:lvl3pPr>
            <a:lvl4pPr>
              <a:defRPr sz="3750" b="1">
                <a:solidFill>
                  <a:srgbClr val="17333E"/>
                </a:solidFill>
                <a:latin typeface="Arial"/>
                <a:ea typeface="Arial"/>
                <a:cs typeface="Arial"/>
              </a:defRPr>
            </a:lvl4pPr>
            <a:lvl5pPr>
              <a:defRPr sz="3750" b="1">
                <a:solidFill>
                  <a:srgbClr val="17333E"/>
                </a:solidFill>
                <a:latin typeface="Arial"/>
                <a:ea typeface="Arial"/>
                <a:cs typeface="Arial"/>
              </a:defRPr>
            </a:lvl5pPr>
            <a:lvl6pPr>
              <a:defRPr sz="3750" b="1">
                <a:solidFill>
                  <a:srgbClr val="17333E"/>
                </a:solidFill>
                <a:latin typeface="Arial"/>
                <a:ea typeface="Arial"/>
                <a:cs typeface="Arial"/>
              </a:defRPr>
            </a:lvl6pPr>
            <a:lvl7pPr>
              <a:defRPr sz="3750" b="1">
                <a:solidFill>
                  <a:srgbClr val="17333E"/>
                </a:solidFill>
                <a:latin typeface="Arial"/>
                <a:ea typeface="Arial"/>
                <a:cs typeface="Arial"/>
              </a:defRPr>
            </a:lvl7pPr>
            <a:lvl8pPr>
              <a:defRPr sz="3750" b="1">
                <a:solidFill>
                  <a:srgbClr val="17333E"/>
                </a:solidFill>
                <a:latin typeface="Arial"/>
                <a:ea typeface="Arial"/>
                <a:cs typeface="Arial"/>
              </a:defRPr>
            </a:lvl8pPr>
            <a:lvl9pPr>
              <a:defRPr sz="3750" b="1">
                <a:solidFill>
                  <a:srgbClr val="17333E"/>
                </a:solidFill>
                <a:latin typeface="Arial"/>
                <a:ea typeface="Arial"/>
                <a:cs typeface="Arial"/>
              </a:defRPr>
            </a:lvl9pPr>
          </a:lstStyle>
          <a:p xmlns:a="http://schemas.openxmlformats.org/drawingml/2006/main">
            <a:pPr>
              <a:defRPr sz="3750" b="1">
                <a:solidFill>
                  <a:srgbClr val="17333E"/>
                </a:solidFill>
                <a:latin typeface="Arial"/>
                <a:ea typeface="Arial"/>
                <a:cs typeface="Arial"/>
              </a:defRPr>
            </a:pPr>
            <a:r>
              <a:rPr sz="3750" b="1">
                <a:solidFill>
                  <a:srgbClr val="17333E"/>
                </a:solidFill>
                <a:latin typeface="Arial"/>
                <a:ea typeface="Arial"/>
                <a:cs typeface="Arial"/>
              </a:rPr>
              <a:t>Variant abundance and function</a:t>
            </a:r>
          </a:p>
        </p:txBody>
      </p:sp>
      <p:sp>
        <p:nvSpPr>
          <p:cNvPr id="2" name="">
            <a:extLst xmlns:a="http://schemas.openxmlformats.org/drawingml/2006/main">
              <a:ext uri="{FF2B5EF4-FFF2-40B4-BE49-F238E27FC236}">
                <a16:creationId xmlns:a16="http://schemas.microsoft.com/office/drawing/2014/main" id="{351AD91F-85C9-4B2B-8941-0253FBA1834F}"/>
              </a:ext>
            </a:extLst>
          </p:cNvPr>
          <p:cNvSpPr>
            <a:spLocks xmlns:a="http://schemas.openxmlformats.org/drawingml/2006/main" noGrp="1"/>
          </p:cNvSpPr>
          <p:nvPr/>
        </p:nvSpPr>
        <p:spPr>
          <a:xfrm xmlns:a="http://schemas.openxmlformats.org/drawingml/2006/main">
            <a:off x="10953750" y="63436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971"/>
                </a:solidFill>
                <a:latin typeface="Arial"/>
                <a:ea typeface="Arial"/>
                <a:cs typeface="Arial"/>
              </a:defRPr>
            </a:defPPr>
            <a:lvl1pPr>
              <a:defRPr sz="1350" b="0">
                <a:solidFill>
                  <a:srgbClr val="526971"/>
                </a:solidFill>
                <a:latin typeface="Arial"/>
                <a:ea typeface="Arial"/>
                <a:cs typeface="Arial"/>
              </a:defRPr>
            </a:lvl1pPr>
            <a:lvl2pPr>
              <a:defRPr sz="1350" b="0">
                <a:solidFill>
                  <a:srgbClr val="526971"/>
                </a:solidFill>
                <a:latin typeface="Arial"/>
                <a:ea typeface="Arial"/>
                <a:cs typeface="Arial"/>
              </a:defRPr>
            </a:lvl2pPr>
            <a:lvl3pPr>
              <a:defRPr sz="1350" b="0">
                <a:solidFill>
                  <a:srgbClr val="526971"/>
                </a:solidFill>
                <a:latin typeface="Arial"/>
                <a:ea typeface="Arial"/>
                <a:cs typeface="Arial"/>
              </a:defRPr>
            </a:lvl3pPr>
            <a:lvl4pPr>
              <a:defRPr sz="1350" b="0">
                <a:solidFill>
                  <a:srgbClr val="526971"/>
                </a:solidFill>
                <a:latin typeface="Arial"/>
                <a:ea typeface="Arial"/>
                <a:cs typeface="Arial"/>
              </a:defRPr>
            </a:lvl4pPr>
            <a:lvl5pPr>
              <a:defRPr sz="1350" b="0">
                <a:solidFill>
                  <a:srgbClr val="526971"/>
                </a:solidFill>
                <a:latin typeface="Arial"/>
                <a:ea typeface="Arial"/>
                <a:cs typeface="Arial"/>
              </a:defRPr>
            </a:lvl5pPr>
            <a:lvl6pPr>
              <a:defRPr sz="1350" b="0">
                <a:solidFill>
                  <a:srgbClr val="526971"/>
                </a:solidFill>
                <a:latin typeface="Arial"/>
                <a:ea typeface="Arial"/>
                <a:cs typeface="Arial"/>
              </a:defRPr>
            </a:lvl6pPr>
            <a:lvl7pPr>
              <a:defRPr sz="1350" b="0">
                <a:solidFill>
                  <a:srgbClr val="526971"/>
                </a:solidFill>
                <a:latin typeface="Arial"/>
                <a:ea typeface="Arial"/>
                <a:cs typeface="Arial"/>
              </a:defRPr>
            </a:lvl7pPr>
            <a:lvl8pPr>
              <a:defRPr sz="1350" b="0">
                <a:solidFill>
                  <a:srgbClr val="526971"/>
                </a:solidFill>
                <a:latin typeface="Arial"/>
                <a:ea typeface="Arial"/>
                <a:cs typeface="Arial"/>
              </a:defRPr>
            </a:lvl8pPr>
            <a:lvl9pPr>
              <a:defRPr sz="1350" b="0">
                <a:solidFill>
                  <a:srgbClr val="526971"/>
                </a:solidFill>
                <a:latin typeface="Arial"/>
                <a:ea typeface="Arial"/>
                <a:cs typeface="Arial"/>
              </a:defRPr>
            </a:lvl9pPr>
          </a:lstStyle>
          <a:p xmlns:a="http://schemas.openxmlformats.org/drawingml/2006/main">
            <a:pPr>
              <a:defRPr sz="1350" b="0">
                <a:solidFill>
                  <a:srgbClr val="526971"/>
                </a:solidFill>
                <a:latin typeface="Arial"/>
                <a:ea typeface="Arial"/>
                <a:cs typeface="Arial"/>
              </a:defRPr>
            </a:pPr>
            <a:r>
              <a:rPr sz="1350" b="0">
                <a:solidFill>
                  <a:srgbClr val="526971"/>
                </a:solidFill>
                <a:latin typeface="Arial"/>
                <a:ea typeface="Arial"/>
                <a:cs typeface="Arial"/>
              </a:rPr>
              <a:t>2/6</a:t>
            </a:r>
          </a:p>
        </p:txBody>
      </p:sp>
      <p:sp>
        <p:nvSpPr>
          <p:cNvPr id="3" name="">
            <a:extLst xmlns:a="http://schemas.openxmlformats.org/drawingml/2006/main">
              <a:ext uri="{FF2B5EF4-FFF2-40B4-BE49-F238E27FC236}">
                <a16:creationId xmlns:a16="http://schemas.microsoft.com/office/drawing/2014/main" id="{A1555F63-7145-4083-965D-E7F8DAEA019C}"/>
              </a:ext>
            </a:extLst>
          </p:cNvPr>
          <p:cNvSpPr>
            <a:spLocks xmlns:a="http://schemas.openxmlformats.org/drawingml/2006/main" noGrp="1"/>
          </p:cNvSpPr>
          <p:nvPr/>
        </p:nvSpPr>
        <p:spPr>
          <a:xfrm xmlns:a="http://schemas.openxmlformats.org/drawingml/2006/main">
            <a:off x="609600" y="63436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971"/>
                </a:solidFill>
                <a:latin typeface="Arial"/>
                <a:ea typeface="Arial"/>
                <a:cs typeface="Arial"/>
              </a:defRPr>
            </a:defPPr>
            <a:lvl1pPr>
              <a:defRPr sz="1200" b="0">
                <a:solidFill>
                  <a:srgbClr val="526971"/>
                </a:solidFill>
                <a:latin typeface="Arial"/>
                <a:ea typeface="Arial"/>
                <a:cs typeface="Arial"/>
              </a:defRPr>
            </a:lvl1pPr>
            <a:lvl2pPr>
              <a:defRPr sz="1200" b="0">
                <a:solidFill>
                  <a:srgbClr val="526971"/>
                </a:solidFill>
                <a:latin typeface="Arial"/>
                <a:ea typeface="Arial"/>
                <a:cs typeface="Arial"/>
              </a:defRPr>
            </a:lvl2pPr>
            <a:lvl3pPr>
              <a:defRPr sz="1200" b="0">
                <a:solidFill>
                  <a:srgbClr val="526971"/>
                </a:solidFill>
                <a:latin typeface="Arial"/>
                <a:ea typeface="Arial"/>
                <a:cs typeface="Arial"/>
              </a:defRPr>
            </a:lvl3pPr>
            <a:lvl4pPr>
              <a:defRPr sz="1200" b="0">
                <a:solidFill>
                  <a:srgbClr val="526971"/>
                </a:solidFill>
                <a:latin typeface="Arial"/>
                <a:ea typeface="Arial"/>
                <a:cs typeface="Arial"/>
              </a:defRPr>
            </a:lvl4pPr>
            <a:lvl5pPr>
              <a:defRPr sz="1200" b="0">
                <a:solidFill>
                  <a:srgbClr val="526971"/>
                </a:solidFill>
                <a:latin typeface="Arial"/>
                <a:ea typeface="Arial"/>
                <a:cs typeface="Arial"/>
              </a:defRPr>
            </a:lvl5pPr>
            <a:lvl6pPr>
              <a:defRPr sz="1200" b="0">
                <a:solidFill>
                  <a:srgbClr val="526971"/>
                </a:solidFill>
                <a:latin typeface="Arial"/>
                <a:ea typeface="Arial"/>
                <a:cs typeface="Arial"/>
              </a:defRPr>
            </a:lvl6pPr>
            <a:lvl7pPr>
              <a:defRPr sz="1200" b="0">
                <a:solidFill>
                  <a:srgbClr val="526971"/>
                </a:solidFill>
                <a:latin typeface="Arial"/>
                <a:ea typeface="Arial"/>
                <a:cs typeface="Arial"/>
              </a:defRPr>
            </a:lvl7pPr>
            <a:lvl8pPr>
              <a:defRPr sz="1200" b="0">
                <a:solidFill>
                  <a:srgbClr val="526971"/>
                </a:solidFill>
                <a:latin typeface="Arial"/>
                <a:ea typeface="Arial"/>
                <a:cs typeface="Arial"/>
              </a:defRPr>
            </a:lvl8pPr>
            <a:lvl9pPr>
              <a:defRPr sz="1200" b="0">
                <a:solidFill>
                  <a:srgbClr val="526971"/>
                </a:solidFill>
                <a:latin typeface="Arial"/>
                <a:ea typeface="Arial"/>
                <a:cs typeface="Arial"/>
              </a:defRPr>
            </a:lvl9pPr>
          </a:lstStyle>
          <a:p xmlns:a="http://schemas.openxmlformats.org/drawingml/2006/main">
            <a:pPr>
              <a:defRPr sz="1200" b="0">
                <a:solidFill>
                  <a:srgbClr val="526971"/>
                </a:solidFill>
                <a:latin typeface="Arial"/>
                <a:ea typeface="Arial"/>
                <a:cs typeface="Arial"/>
              </a:defRPr>
            </a:pPr>
            <a:r>
              <a:rPr sz="1200" b="0">
                <a:solidFill>
                  <a:srgbClr val="526971"/>
                </a:solidFill>
                <a:latin typeface="Arial"/>
                <a:ea typeface="Arial"/>
                <a:cs typeface="Arial"/>
              </a:rPr>
              <a:t>PMIDs 20516114  /  22698286  /  33207204</a:t>
            </a:r>
          </a:p>
        </p:txBody>
      </p:sp>
      <p:sp>
        <p:nvSpPr>
          <p:cNvPr id="4" name="">
            <a:extLst xmlns:a="http://schemas.openxmlformats.org/drawingml/2006/main">
              <a:ext uri="{FF2B5EF4-FFF2-40B4-BE49-F238E27FC236}">
                <a16:creationId xmlns:a16="http://schemas.microsoft.com/office/drawing/2014/main" id="{AA239D85-1A59-41F0-93B0-12E1B8954A20}"/>
              </a:ext>
            </a:extLst>
          </p:cNvPr>
          <p:cNvSpPr>
            <a:spLocks xmlns:a="http://schemas.openxmlformats.org/drawingml/2006/main" noGrp="1"/>
          </p:cNvSpPr>
          <p:nvPr/>
        </p:nvSpPr>
        <p:spPr>
          <a:xfrm xmlns:a="http://schemas.openxmlformats.org/drawingml/2006/main">
            <a:off x="609600" y="16192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526971"/>
                </a:solidFill>
                <a:latin typeface="Arial"/>
                <a:ea typeface="Arial"/>
                <a:cs typeface="Arial"/>
              </a:defRPr>
            </a:defPPr>
            <a:lvl1pPr>
              <a:defRPr sz="2250" b="0">
                <a:solidFill>
                  <a:srgbClr val="526971"/>
                </a:solidFill>
                <a:latin typeface="Arial"/>
                <a:ea typeface="Arial"/>
                <a:cs typeface="Arial"/>
              </a:defRPr>
            </a:lvl1pPr>
            <a:lvl2pPr>
              <a:defRPr sz="2250" b="0">
                <a:solidFill>
                  <a:srgbClr val="526971"/>
                </a:solidFill>
                <a:latin typeface="Arial"/>
                <a:ea typeface="Arial"/>
                <a:cs typeface="Arial"/>
              </a:defRPr>
            </a:lvl2pPr>
            <a:lvl3pPr>
              <a:defRPr sz="2250" b="0">
                <a:solidFill>
                  <a:srgbClr val="526971"/>
                </a:solidFill>
                <a:latin typeface="Arial"/>
                <a:ea typeface="Arial"/>
                <a:cs typeface="Arial"/>
              </a:defRPr>
            </a:lvl3pPr>
            <a:lvl4pPr>
              <a:defRPr sz="2250" b="0">
                <a:solidFill>
                  <a:srgbClr val="526971"/>
                </a:solidFill>
                <a:latin typeface="Arial"/>
                <a:ea typeface="Arial"/>
                <a:cs typeface="Arial"/>
              </a:defRPr>
            </a:lvl4pPr>
            <a:lvl5pPr>
              <a:defRPr sz="2250" b="0">
                <a:solidFill>
                  <a:srgbClr val="526971"/>
                </a:solidFill>
                <a:latin typeface="Arial"/>
                <a:ea typeface="Arial"/>
                <a:cs typeface="Arial"/>
              </a:defRPr>
            </a:lvl5pPr>
            <a:lvl6pPr>
              <a:defRPr sz="2250" b="0">
                <a:solidFill>
                  <a:srgbClr val="526971"/>
                </a:solidFill>
                <a:latin typeface="Arial"/>
                <a:ea typeface="Arial"/>
                <a:cs typeface="Arial"/>
              </a:defRPr>
            </a:lvl6pPr>
            <a:lvl7pPr>
              <a:defRPr sz="2250" b="0">
                <a:solidFill>
                  <a:srgbClr val="526971"/>
                </a:solidFill>
                <a:latin typeface="Arial"/>
                <a:ea typeface="Arial"/>
                <a:cs typeface="Arial"/>
              </a:defRPr>
            </a:lvl7pPr>
            <a:lvl8pPr>
              <a:defRPr sz="2250" b="0">
                <a:solidFill>
                  <a:srgbClr val="526971"/>
                </a:solidFill>
                <a:latin typeface="Arial"/>
                <a:ea typeface="Arial"/>
                <a:cs typeface="Arial"/>
              </a:defRPr>
            </a:lvl8pPr>
            <a:lvl9pPr>
              <a:defRPr sz="2250" b="0">
                <a:solidFill>
                  <a:srgbClr val="526971"/>
                </a:solidFill>
                <a:latin typeface="Arial"/>
                <a:ea typeface="Arial"/>
                <a:cs typeface="Arial"/>
              </a:defRPr>
            </a:lvl9pPr>
          </a:lstStyle>
          <a:p xmlns:a="http://schemas.openxmlformats.org/drawingml/2006/main">
            <a:pPr>
              <a:defRPr sz="2250" b="0">
                <a:solidFill>
                  <a:srgbClr val="526971"/>
                </a:solidFill>
                <a:latin typeface="Arial"/>
                <a:ea typeface="Arial"/>
                <a:cs typeface="Arial"/>
              </a:defRPr>
            </a:pPr>
            <a:r>
              <a:rPr sz="2250" b="0">
                <a:solidFill>
                  <a:srgbClr val="526971"/>
                </a:solidFill>
                <a:latin typeface="Arial"/>
                <a:ea typeface="Arial"/>
                <a:cs typeface="Arial"/>
              </a:rPr>
              <a:t>Phase is inferred. N1002K function remains unmeasured.</a:t>
            </a:r>
          </a:p>
        </p:txBody>
      </p:sp>
      <p:sp>
        <p:nvSpPr>
          <p:cNvPr id="5" name="">
            <a:extLst xmlns:a="http://schemas.openxmlformats.org/drawingml/2006/main">
              <a:ext uri="{FF2B5EF4-FFF2-40B4-BE49-F238E27FC236}">
                <a16:creationId xmlns:a16="http://schemas.microsoft.com/office/drawing/2014/main" id="{40A40DB2-CCE0-4E11-B899-55AA0E57DFB0}"/>
              </a:ext>
            </a:extLst>
          </p:cNvPr>
          <p:cNvSpPr>
            <a:spLocks xmlns:a="http://schemas.openxmlformats.org/drawingml/2006/main" noGrp="1"/>
          </p:cNvSpPr>
          <p:nvPr/>
        </p:nvSpPr>
        <p:spPr>
          <a:xfrm xmlns:a="http://schemas.openxmlformats.org/drawingml/2006/main">
            <a:off x="609600" y="2857500"/>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000" b="1">
                <a:solidFill>
                  <a:srgbClr val="176C63"/>
                </a:solidFill>
                <a:latin typeface="Arial"/>
                <a:ea typeface="Arial"/>
                <a:cs typeface="Arial"/>
              </a:defRPr>
            </a:defPPr>
            <a:lvl1pPr>
              <a:defRPr sz="3000" b="1">
                <a:solidFill>
                  <a:srgbClr val="176C63"/>
                </a:solidFill>
                <a:latin typeface="Arial"/>
                <a:ea typeface="Arial"/>
                <a:cs typeface="Arial"/>
              </a:defRPr>
            </a:lvl1pPr>
            <a:lvl2pPr>
              <a:defRPr sz="3000" b="1">
                <a:solidFill>
                  <a:srgbClr val="176C63"/>
                </a:solidFill>
                <a:latin typeface="Arial"/>
                <a:ea typeface="Arial"/>
                <a:cs typeface="Arial"/>
              </a:defRPr>
            </a:lvl2pPr>
            <a:lvl3pPr>
              <a:defRPr sz="3000" b="1">
                <a:solidFill>
                  <a:srgbClr val="176C63"/>
                </a:solidFill>
                <a:latin typeface="Arial"/>
                <a:ea typeface="Arial"/>
                <a:cs typeface="Arial"/>
              </a:defRPr>
            </a:lvl3pPr>
            <a:lvl4pPr>
              <a:defRPr sz="3000" b="1">
                <a:solidFill>
                  <a:srgbClr val="176C63"/>
                </a:solidFill>
                <a:latin typeface="Arial"/>
                <a:ea typeface="Arial"/>
                <a:cs typeface="Arial"/>
              </a:defRPr>
            </a:lvl4pPr>
            <a:lvl5pPr>
              <a:defRPr sz="3000" b="1">
                <a:solidFill>
                  <a:srgbClr val="176C63"/>
                </a:solidFill>
                <a:latin typeface="Arial"/>
                <a:ea typeface="Arial"/>
                <a:cs typeface="Arial"/>
              </a:defRPr>
            </a:lvl5pPr>
            <a:lvl6pPr>
              <a:defRPr sz="3000" b="1">
                <a:solidFill>
                  <a:srgbClr val="176C63"/>
                </a:solidFill>
                <a:latin typeface="Arial"/>
                <a:ea typeface="Arial"/>
                <a:cs typeface="Arial"/>
              </a:defRPr>
            </a:lvl6pPr>
            <a:lvl7pPr>
              <a:defRPr sz="3000" b="1">
                <a:solidFill>
                  <a:srgbClr val="176C63"/>
                </a:solidFill>
                <a:latin typeface="Arial"/>
                <a:ea typeface="Arial"/>
                <a:cs typeface="Arial"/>
              </a:defRPr>
            </a:lvl7pPr>
            <a:lvl8pPr>
              <a:defRPr sz="3000" b="1">
                <a:solidFill>
                  <a:srgbClr val="176C63"/>
                </a:solidFill>
                <a:latin typeface="Arial"/>
                <a:ea typeface="Arial"/>
                <a:cs typeface="Arial"/>
              </a:defRPr>
            </a:lvl8pPr>
            <a:lvl9pPr>
              <a:defRPr sz="3000" b="1">
                <a:solidFill>
                  <a:srgbClr val="176C63"/>
                </a:solidFill>
                <a:latin typeface="Arial"/>
                <a:ea typeface="Arial"/>
                <a:cs typeface="Arial"/>
              </a:defRPr>
            </a:lvl9pPr>
          </a:lstStyle>
          <a:p xmlns:a="http://schemas.openxmlformats.org/drawingml/2006/main">
            <a:pPr>
              <a:defRPr sz="3000" b="1">
                <a:solidFill>
                  <a:srgbClr val="176C63"/>
                </a:solidFill>
                <a:latin typeface="Arial"/>
                <a:ea typeface="Arial"/>
                <a:cs typeface="Arial"/>
              </a:defRPr>
            </a:pPr>
            <a:r>
              <a:rPr sz="3000" b="1">
                <a:solidFill>
                  <a:srgbClr val="176C63"/>
                </a:solidFill>
                <a:latin typeface="Arial"/>
                <a:ea typeface="Arial"/>
                <a:cs typeface="Arial"/>
              </a:rPr>
              <a:t>Protein amount</a:t>
            </a:r>
          </a:p>
        </p:txBody>
      </p:sp>
      <p:sp>
        <p:nvSpPr>
          <p:cNvPr id="6" name="">
            <a:extLst xmlns:a="http://schemas.openxmlformats.org/drawingml/2006/main">
              <a:ext uri="{FF2B5EF4-FFF2-40B4-BE49-F238E27FC236}">
                <a16:creationId xmlns:a16="http://schemas.microsoft.com/office/drawing/2014/main" id="{9DCB92E0-2E4B-401E-8B3E-4A889D607AA3}"/>
              </a:ext>
            </a:extLst>
          </p:cNvPr>
          <p:cNvSpPr>
            <a:spLocks xmlns:a="http://schemas.openxmlformats.org/drawingml/2006/main" noGrp="1"/>
          </p:cNvSpPr>
          <p:nvPr/>
        </p:nvSpPr>
        <p:spPr>
          <a:xfrm xmlns:a="http://schemas.openxmlformats.org/drawingml/2006/main">
            <a:off x="609600" y="3619500"/>
            <a:ext cx="4857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7333E"/>
                </a:solidFill>
                <a:latin typeface="Arial"/>
                <a:ea typeface="Arial"/>
                <a:cs typeface="Arial"/>
              </a:defRPr>
            </a:defPPr>
            <a:lvl1pPr>
              <a:defRPr sz="2550" b="0">
                <a:solidFill>
                  <a:srgbClr val="17333E"/>
                </a:solidFill>
                <a:latin typeface="Arial"/>
                <a:ea typeface="Arial"/>
                <a:cs typeface="Arial"/>
              </a:defRPr>
            </a:lvl1pPr>
            <a:lvl2pPr>
              <a:defRPr sz="2550" b="0">
                <a:solidFill>
                  <a:srgbClr val="17333E"/>
                </a:solidFill>
                <a:latin typeface="Arial"/>
                <a:ea typeface="Arial"/>
                <a:cs typeface="Arial"/>
              </a:defRPr>
            </a:lvl2pPr>
            <a:lvl3pPr>
              <a:defRPr sz="2550" b="0">
                <a:solidFill>
                  <a:srgbClr val="17333E"/>
                </a:solidFill>
                <a:latin typeface="Arial"/>
                <a:ea typeface="Arial"/>
                <a:cs typeface="Arial"/>
              </a:defRPr>
            </a:lvl3pPr>
            <a:lvl4pPr>
              <a:defRPr sz="2550" b="0">
                <a:solidFill>
                  <a:srgbClr val="17333E"/>
                </a:solidFill>
                <a:latin typeface="Arial"/>
                <a:ea typeface="Arial"/>
                <a:cs typeface="Arial"/>
              </a:defRPr>
            </a:lvl4pPr>
            <a:lvl5pPr>
              <a:defRPr sz="2550" b="0">
                <a:solidFill>
                  <a:srgbClr val="17333E"/>
                </a:solidFill>
                <a:latin typeface="Arial"/>
                <a:ea typeface="Arial"/>
                <a:cs typeface="Arial"/>
              </a:defRPr>
            </a:lvl5pPr>
            <a:lvl6pPr>
              <a:defRPr sz="2550" b="0">
                <a:solidFill>
                  <a:srgbClr val="17333E"/>
                </a:solidFill>
                <a:latin typeface="Arial"/>
                <a:ea typeface="Arial"/>
                <a:cs typeface="Arial"/>
              </a:defRPr>
            </a:lvl6pPr>
            <a:lvl7pPr>
              <a:defRPr sz="2550" b="0">
                <a:solidFill>
                  <a:srgbClr val="17333E"/>
                </a:solidFill>
                <a:latin typeface="Arial"/>
                <a:ea typeface="Arial"/>
                <a:cs typeface="Arial"/>
              </a:defRPr>
            </a:lvl7pPr>
            <a:lvl8pPr>
              <a:defRPr sz="2550" b="0">
                <a:solidFill>
                  <a:srgbClr val="17333E"/>
                </a:solidFill>
                <a:latin typeface="Arial"/>
                <a:ea typeface="Arial"/>
                <a:cs typeface="Arial"/>
              </a:defRPr>
            </a:lvl8pPr>
            <a:lvl9pPr>
              <a:defRPr sz="2550" b="0">
                <a:solidFill>
                  <a:srgbClr val="17333E"/>
                </a:solidFill>
                <a:latin typeface="Arial"/>
                <a:ea typeface="Arial"/>
                <a:cs typeface="Arial"/>
              </a:defRPr>
            </a:lvl9pPr>
          </a:lstStyle>
          <a:p xmlns:a="http://schemas.openxmlformats.org/drawingml/2006/main">
            <a:pPr>
              <a:defRPr sz="2550" b="0">
                <a:solidFill>
                  <a:srgbClr val="17333E"/>
                </a:solidFill>
                <a:latin typeface="Arial"/>
                <a:ea typeface="Arial"/>
                <a:cs typeface="Arial"/>
              </a:defRPr>
            </a:pPr>
            <a:r>
              <a:rPr sz="2550" b="0">
                <a:solidFill>
                  <a:srgbClr val="17333E"/>
                </a:solidFill>
                <a:latin typeface="Arial"/>
                <a:ea typeface="Arial"/>
                <a:cs typeface="Arial"/>
              </a:rPr>
              <a:t>Expression, turnover</a:t>
            </a:r>
          </a:p>
          <a:p xmlns:a="http://schemas.openxmlformats.org/drawingml/2006/main">
            <a:pPr>
              <a:defRPr sz="2550" b="0">
                <a:solidFill>
                  <a:srgbClr val="17333E"/>
                </a:solidFill>
                <a:latin typeface="Arial"/>
                <a:ea typeface="Arial"/>
                <a:cs typeface="Arial"/>
              </a:defRPr>
            </a:pPr>
            <a:r>
              <a:rPr sz="2550" b="0">
                <a:solidFill>
                  <a:srgbClr val="17333E"/>
                </a:solidFill>
                <a:latin typeface="Arial"/>
                <a:ea typeface="Arial"/>
                <a:cs typeface="Arial"/>
              </a:rPr>
              <a:t>and localisation</a:t>
            </a:r>
          </a:p>
        </p:txBody>
      </p:sp>
      <p:sp>
        <p:nvSpPr>
          <p:cNvPr id="7" name="">
            <a:extLst xmlns:a="http://schemas.openxmlformats.org/drawingml/2006/main">
              <a:ext uri="{FF2B5EF4-FFF2-40B4-BE49-F238E27FC236}">
                <a16:creationId xmlns:a16="http://schemas.microsoft.com/office/drawing/2014/main" id="{C0BD546A-7DE5-4367-AF5C-32C583CDFB16}"/>
              </a:ext>
            </a:extLst>
          </p:cNvPr>
          <p:cNvSpPr>
            <a:spLocks xmlns:a="http://schemas.openxmlformats.org/drawingml/2006/main" noGrp="1"/>
          </p:cNvSpPr>
          <p:nvPr/>
        </p:nvSpPr>
        <p:spPr>
          <a:xfrm xmlns:a="http://schemas.openxmlformats.org/drawingml/2006/main">
            <a:off x="6477000" y="2857500"/>
            <a:ext cx="5048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000" b="1">
                <a:solidFill>
                  <a:srgbClr val="176C63"/>
                </a:solidFill>
                <a:latin typeface="Arial"/>
                <a:ea typeface="Arial"/>
                <a:cs typeface="Arial"/>
              </a:defRPr>
            </a:defPPr>
            <a:lvl1pPr>
              <a:defRPr sz="3000" b="1">
                <a:solidFill>
                  <a:srgbClr val="176C63"/>
                </a:solidFill>
                <a:latin typeface="Arial"/>
                <a:ea typeface="Arial"/>
                <a:cs typeface="Arial"/>
              </a:defRPr>
            </a:lvl1pPr>
            <a:lvl2pPr>
              <a:defRPr sz="3000" b="1">
                <a:solidFill>
                  <a:srgbClr val="176C63"/>
                </a:solidFill>
                <a:latin typeface="Arial"/>
                <a:ea typeface="Arial"/>
                <a:cs typeface="Arial"/>
              </a:defRPr>
            </a:lvl2pPr>
            <a:lvl3pPr>
              <a:defRPr sz="3000" b="1">
                <a:solidFill>
                  <a:srgbClr val="176C63"/>
                </a:solidFill>
                <a:latin typeface="Arial"/>
                <a:ea typeface="Arial"/>
                <a:cs typeface="Arial"/>
              </a:defRPr>
            </a:lvl3pPr>
            <a:lvl4pPr>
              <a:defRPr sz="3000" b="1">
                <a:solidFill>
                  <a:srgbClr val="176C63"/>
                </a:solidFill>
                <a:latin typeface="Arial"/>
                <a:ea typeface="Arial"/>
                <a:cs typeface="Arial"/>
              </a:defRPr>
            </a:lvl4pPr>
            <a:lvl5pPr>
              <a:defRPr sz="3000" b="1">
                <a:solidFill>
                  <a:srgbClr val="176C63"/>
                </a:solidFill>
                <a:latin typeface="Arial"/>
                <a:ea typeface="Arial"/>
                <a:cs typeface="Arial"/>
              </a:defRPr>
            </a:lvl5pPr>
            <a:lvl6pPr>
              <a:defRPr sz="3000" b="1">
                <a:solidFill>
                  <a:srgbClr val="176C63"/>
                </a:solidFill>
                <a:latin typeface="Arial"/>
                <a:ea typeface="Arial"/>
                <a:cs typeface="Arial"/>
              </a:defRPr>
            </a:lvl6pPr>
            <a:lvl7pPr>
              <a:defRPr sz="3000" b="1">
                <a:solidFill>
                  <a:srgbClr val="176C63"/>
                </a:solidFill>
                <a:latin typeface="Arial"/>
                <a:ea typeface="Arial"/>
                <a:cs typeface="Arial"/>
              </a:defRPr>
            </a:lvl7pPr>
            <a:lvl8pPr>
              <a:defRPr sz="3000" b="1">
                <a:solidFill>
                  <a:srgbClr val="176C63"/>
                </a:solidFill>
                <a:latin typeface="Arial"/>
                <a:ea typeface="Arial"/>
                <a:cs typeface="Arial"/>
              </a:defRPr>
            </a:lvl8pPr>
            <a:lvl9pPr>
              <a:defRPr sz="3000" b="1">
                <a:solidFill>
                  <a:srgbClr val="176C63"/>
                </a:solidFill>
                <a:latin typeface="Arial"/>
                <a:ea typeface="Arial"/>
                <a:cs typeface="Arial"/>
              </a:defRPr>
            </a:lvl9pPr>
          </a:lstStyle>
          <a:p xmlns:a="http://schemas.openxmlformats.org/drawingml/2006/main">
            <a:pPr>
              <a:defRPr sz="3000" b="1">
                <a:solidFill>
                  <a:srgbClr val="176C63"/>
                </a:solidFill>
                <a:latin typeface="Arial"/>
                <a:ea typeface="Arial"/>
                <a:cs typeface="Arial"/>
              </a:defRPr>
            </a:pPr>
            <a:r>
              <a:rPr sz="3000" b="1">
                <a:solidFill>
                  <a:srgbClr val="176C63"/>
                </a:solidFill>
                <a:latin typeface="Arial"/>
                <a:ea typeface="Arial"/>
                <a:cs typeface="Arial"/>
              </a:rPr>
              <a:t>Protein function</a:t>
            </a:r>
          </a:p>
        </p:txBody>
      </p:sp>
      <p:sp>
        <p:nvSpPr>
          <p:cNvPr id="8" name="">
            <a:extLst xmlns:a="http://schemas.openxmlformats.org/drawingml/2006/main">
              <a:ext uri="{FF2B5EF4-FFF2-40B4-BE49-F238E27FC236}">
                <a16:creationId xmlns:a16="http://schemas.microsoft.com/office/drawing/2014/main" id="{9190D3CC-7E71-4ED2-A512-E07204A39DB4}"/>
              </a:ext>
            </a:extLst>
          </p:cNvPr>
          <p:cNvSpPr>
            <a:spLocks xmlns:a="http://schemas.openxmlformats.org/drawingml/2006/main" noGrp="1"/>
          </p:cNvSpPr>
          <p:nvPr/>
        </p:nvSpPr>
        <p:spPr>
          <a:xfrm xmlns:a="http://schemas.openxmlformats.org/drawingml/2006/main">
            <a:off x="6477000" y="3619500"/>
            <a:ext cx="5048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7333E"/>
                </a:solidFill>
                <a:latin typeface="Arial"/>
                <a:ea typeface="Arial"/>
                <a:cs typeface="Arial"/>
              </a:defRPr>
            </a:defPPr>
            <a:lvl1pPr>
              <a:defRPr sz="2400" b="0">
                <a:solidFill>
                  <a:srgbClr val="17333E"/>
                </a:solidFill>
                <a:latin typeface="Arial"/>
                <a:ea typeface="Arial"/>
                <a:cs typeface="Arial"/>
              </a:defRPr>
            </a:lvl1pPr>
            <a:lvl2pPr>
              <a:defRPr sz="2400" b="0">
                <a:solidFill>
                  <a:srgbClr val="17333E"/>
                </a:solidFill>
                <a:latin typeface="Arial"/>
                <a:ea typeface="Arial"/>
                <a:cs typeface="Arial"/>
              </a:defRPr>
            </a:lvl2pPr>
            <a:lvl3pPr>
              <a:defRPr sz="2400" b="0">
                <a:solidFill>
                  <a:srgbClr val="17333E"/>
                </a:solidFill>
                <a:latin typeface="Arial"/>
                <a:ea typeface="Arial"/>
                <a:cs typeface="Arial"/>
              </a:defRPr>
            </a:lvl3pPr>
            <a:lvl4pPr>
              <a:defRPr sz="2400" b="0">
                <a:solidFill>
                  <a:srgbClr val="17333E"/>
                </a:solidFill>
                <a:latin typeface="Arial"/>
                <a:ea typeface="Arial"/>
                <a:cs typeface="Arial"/>
              </a:defRPr>
            </a:lvl4pPr>
            <a:lvl5pPr>
              <a:defRPr sz="2400" b="0">
                <a:solidFill>
                  <a:srgbClr val="17333E"/>
                </a:solidFill>
                <a:latin typeface="Arial"/>
                <a:ea typeface="Arial"/>
                <a:cs typeface="Arial"/>
              </a:defRPr>
            </a:lvl5pPr>
            <a:lvl6pPr>
              <a:defRPr sz="2400" b="0">
                <a:solidFill>
                  <a:srgbClr val="17333E"/>
                </a:solidFill>
                <a:latin typeface="Arial"/>
                <a:ea typeface="Arial"/>
                <a:cs typeface="Arial"/>
              </a:defRPr>
            </a:lvl6pPr>
            <a:lvl7pPr>
              <a:defRPr sz="2400" b="0">
                <a:solidFill>
                  <a:srgbClr val="17333E"/>
                </a:solidFill>
                <a:latin typeface="Arial"/>
                <a:ea typeface="Arial"/>
                <a:cs typeface="Arial"/>
              </a:defRPr>
            </a:lvl7pPr>
            <a:lvl8pPr>
              <a:defRPr sz="2400" b="0">
                <a:solidFill>
                  <a:srgbClr val="17333E"/>
                </a:solidFill>
                <a:latin typeface="Arial"/>
                <a:ea typeface="Arial"/>
                <a:cs typeface="Arial"/>
              </a:defRPr>
            </a:lvl8pPr>
            <a:lvl9pPr>
              <a:defRPr sz="2400" b="0">
                <a:solidFill>
                  <a:srgbClr val="17333E"/>
                </a:solidFill>
                <a:latin typeface="Arial"/>
                <a:ea typeface="Arial"/>
                <a:cs typeface="Arial"/>
              </a:defRPr>
            </a:lvl9pPr>
          </a:lstStyle>
          <a:p xmlns:a="http://schemas.openxmlformats.org/drawingml/2006/main">
            <a:pPr>
              <a:defRPr sz="2400" b="0">
                <a:solidFill>
                  <a:srgbClr val="17333E"/>
                </a:solidFill>
                <a:latin typeface="Arial"/>
                <a:ea typeface="Arial"/>
                <a:cs typeface="Arial"/>
              </a:defRPr>
            </a:pPr>
            <a:r>
              <a:rPr sz="2400" b="0">
                <a:solidFill>
                  <a:srgbClr val="17333E"/>
                </a:solidFill>
                <a:latin typeface="Arial"/>
                <a:ea typeface="Arial"/>
                <a:cs typeface="Arial"/>
              </a:rPr>
              <a:t>Full-length WT and variant</a:t>
            </a:r>
          </a:p>
          <a:p xmlns:a="http://schemas.openxmlformats.org/drawingml/2006/main">
            <a:pPr>
              <a:defRPr sz="2400" b="0">
                <a:solidFill>
                  <a:srgbClr val="17333E"/>
                </a:solidFill>
                <a:latin typeface="Arial"/>
                <a:ea typeface="Arial"/>
                <a:cs typeface="Arial"/>
              </a:defRPr>
            </a:pPr>
            <a:r>
              <a:rPr sz="2400" b="0">
                <a:solidFill>
                  <a:srgbClr val="17333E"/>
                </a:solidFill>
                <a:latin typeface="Arial"/>
                <a:ea typeface="Arial"/>
                <a:cs typeface="Arial"/>
              </a:rPr>
              <a:t>compared at matched abundance</a:t>
            </a:r>
          </a:p>
        </p:txBody>
      </p:sp>
      <p:sp>
        <p:nvSpPr>
          <p:cNvPr id="9" name="">
            <a:extLst xmlns:a="http://schemas.openxmlformats.org/drawingml/2006/main">
              <a:ext uri="{FF2B5EF4-FFF2-40B4-BE49-F238E27FC236}">
                <a16:creationId xmlns:a16="http://schemas.microsoft.com/office/drawing/2014/main" id="{7BE398CC-A33D-4601-A225-1F8D327BBEDC}"/>
              </a:ext>
            </a:extLst>
          </p:cNvPr>
          <p:cNvSpPr>
            <a:spLocks xmlns:a="http://schemas.openxmlformats.org/drawingml/2006/main" noGrp="1"/>
          </p:cNvSpPr>
          <p:nvPr/>
        </p:nvSpPr>
        <p:spPr>
          <a:xfrm xmlns:a="http://schemas.openxmlformats.org/drawingml/2006/main">
            <a:off x="609600" y="533400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526971"/>
                </a:solidFill>
                <a:latin typeface="Arial"/>
                <a:ea typeface="Arial"/>
                <a:cs typeface="Arial"/>
              </a:defRPr>
            </a:defPPr>
            <a:lvl1pPr>
              <a:defRPr sz="2100" b="0">
                <a:solidFill>
                  <a:srgbClr val="526971"/>
                </a:solidFill>
                <a:latin typeface="Arial"/>
                <a:ea typeface="Arial"/>
                <a:cs typeface="Arial"/>
              </a:defRPr>
            </a:lvl1pPr>
            <a:lvl2pPr>
              <a:defRPr sz="2100" b="0">
                <a:solidFill>
                  <a:srgbClr val="526971"/>
                </a:solidFill>
                <a:latin typeface="Arial"/>
                <a:ea typeface="Arial"/>
                <a:cs typeface="Arial"/>
              </a:defRPr>
            </a:lvl2pPr>
            <a:lvl3pPr>
              <a:defRPr sz="2100" b="0">
                <a:solidFill>
                  <a:srgbClr val="526971"/>
                </a:solidFill>
                <a:latin typeface="Arial"/>
                <a:ea typeface="Arial"/>
                <a:cs typeface="Arial"/>
              </a:defRPr>
            </a:lvl3pPr>
            <a:lvl4pPr>
              <a:defRPr sz="2100" b="0">
                <a:solidFill>
                  <a:srgbClr val="526971"/>
                </a:solidFill>
                <a:latin typeface="Arial"/>
                <a:ea typeface="Arial"/>
                <a:cs typeface="Arial"/>
              </a:defRPr>
            </a:lvl4pPr>
            <a:lvl5pPr>
              <a:defRPr sz="2100" b="0">
                <a:solidFill>
                  <a:srgbClr val="526971"/>
                </a:solidFill>
                <a:latin typeface="Arial"/>
                <a:ea typeface="Arial"/>
                <a:cs typeface="Arial"/>
              </a:defRPr>
            </a:lvl5pPr>
            <a:lvl6pPr>
              <a:defRPr sz="2100" b="0">
                <a:solidFill>
                  <a:srgbClr val="526971"/>
                </a:solidFill>
                <a:latin typeface="Arial"/>
                <a:ea typeface="Arial"/>
                <a:cs typeface="Arial"/>
              </a:defRPr>
            </a:lvl6pPr>
            <a:lvl7pPr>
              <a:defRPr sz="2100" b="0">
                <a:solidFill>
                  <a:srgbClr val="526971"/>
                </a:solidFill>
                <a:latin typeface="Arial"/>
                <a:ea typeface="Arial"/>
                <a:cs typeface="Arial"/>
              </a:defRPr>
            </a:lvl7pPr>
            <a:lvl8pPr>
              <a:defRPr sz="2100" b="0">
                <a:solidFill>
                  <a:srgbClr val="526971"/>
                </a:solidFill>
                <a:latin typeface="Arial"/>
                <a:ea typeface="Arial"/>
                <a:cs typeface="Arial"/>
              </a:defRPr>
            </a:lvl8pPr>
            <a:lvl9pPr>
              <a:defRPr sz="2100" b="0">
                <a:solidFill>
                  <a:srgbClr val="526971"/>
                </a:solidFill>
                <a:latin typeface="Arial"/>
                <a:ea typeface="Arial"/>
                <a:cs typeface="Arial"/>
              </a:defRPr>
            </a:lvl9pPr>
          </a:lstStyle>
          <a:p xmlns:a="http://schemas.openxmlformats.org/drawingml/2006/main">
            <a:pPr>
              <a:defRPr sz="2100" b="0">
                <a:solidFill>
                  <a:srgbClr val="526971"/>
                </a:solidFill>
                <a:latin typeface="Arial"/>
                <a:ea typeface="Arial"/>
                <a:cs typeface="Arial"/>
              </a:defRPr>
            </a:pPr>
            <a:r>
              <a:rPr sz="2100" b="0">
                <a:solidFill>
                  <a:srgbClr val="526971"/>
                </a:solidFill>
                <a:latin typeface="Arial"/>
                <a:ea typeface="Arial"/>
                <a:cs typeface="Arial"/>
              </a:rPr>
              <a:t>Possible outcomes: abundance-limited, function-limited, mixed or indeterminate</a:t>
            </a:r>
          </a:p>
        </p:txBody>
      </p:sp>
    </p:spTree>
    <p:extLst>
      <p:ext uri="{BB962C8B-B14F-4D97-AF65-F5344CB8AC3E}">
        <p14:creationId xmlns:p14="http://schemas.microsoft.com/office/powerpoint/2010/main" val="1140472446"/>
      </p:ext>
    </p:extLst>
  </p:cSld>
</p:sld>
</file>

<file path=ppt/slides/slide3.xml><?xml version="1.0" encoding="utf-8"?>
<p:sld xmlns:p="http://schemas.openxmlformats.org/presentationml/2006/main">
  <p:cSld>
    <p:bg>
      <p:bgPr>
        <a:solidFill xmlns:a="http://schemas.openxmlformats.org/drawingml/2006/main">
          <a:srgbClr val="F2F5F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8C25CEE-88BE-4CFC-BDB0-3D403E6C170E}"/>
              </a:ext>
            </a:extLst>
          </p:cNvPr>
          <p:cNvSpPr>
            <a:spLocks xmlns:a="http://schemas.openxmlformats.org/drawingml/2006/main" noGrp="1"/>
          </p:cNvSpPr>
          <p:nvPr/>
        </p:nvSpPr>
        <p:spPr>
          <a:xfrm xmlns:a="http://schemas.openxmlformats.org/drawingml/2006/main">
            <a:off x="609600" y="5524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750" b="1">
                <a:solidFill>
                  <a:srgbClr val="17333E"/>
                </a:solidFill>
                <a:latin typeface="Arial"/>
                <a:ea typeface="Arial"/>
                <a:cs typeface="Arial"/>
              </a:defRPr>
            </a:defPPr>
            <a:lvl1pPr>
              <a:defRPr sz="3750" b="1">
                <a:solidFill>
                  <a:srgbClr val="17333E"/>
                </a:solidFill>
                <a:latin typeface="Arial"/>
                <a:ea typeface="Arial"/>
                <a:cs typeface="Arial"/>
              </a:defRPr>
            </a:lvl1pPr>
            <a:lvl2pPr>
              <a:defRPr sz="3750" b="1">
                <a:solidFill>
                  <a:srgbClr val="17333E"/>
                </a:solidFill>
                <a:latin typeface="Arial"/>
                <a:ea typeface="Arial"/>
                <a:cs typeface="Arial"/>
              </a:defRPr>
            </a:lvl2pPr>
            <a:lvl3pPr>
              <a:defRPr sz="3750" b="1">
                <a:solidFill>
                  <a:srgbClr val="17333E"/>
                </a:solidFill>
                <a:latin typeface="Arial"/>
                <a:ea typeface="Arial"/>
                <a:cs typeface="Arial"/>
              </a:defRPr>
            </a:lvl3pPr>
            <a:lvl4pPr>
              <a:defRPr sz="3750" b="1">
                <a:solidFill>
                  <a:srgbClr val="17333E"/>
                </a:solidFill>
                <a:latin typeface="Arial"/>
                <a:ea typeface="Arial"/>
                <a:cs typeface="Arial"/>
              </a:defRPr>
            </a:lvl4pPr>
            <a:lvl5pPr>
              <a:defRPr sz="3750" b="1">
                <a:solidFill>
                  <a:srgbClr val="17333E"/>
                </a:solidFill>
                <a:latin typeface="Arial"/>
                <a:ea typeface="Arial"/>
                <a:cs typeface="Arial"/>
              </a:defRPr>
            </a:lvl5pPr>
            <a:lvl6pPr>
              <a:defRPr sz="3750" b="1">
                <a:solidFill>
                  <a:srgbClr val="17333E"/>
                </a:solidFill>
                <a:latin typeface="Arial"/>
                <a:ea typeface="Arial"/>
                <a:cs typeface="Arial"/>
              </a:defRPr>
            </a:lvl6pPr>
            <a:lvl7pPr>
              <a:defRPr sz="3750" b="1">
                <a:solidFill>
                  <a:srgbClr val="17333E"/>
                </a:solidFill>
                <a:latin typeface="Arial"/>
                <a:ea typeface="Arial"/>
                <a:cs typeface="Arial"/>
              </a:defRPr>
            </a:lvl7pPr>
            <a:lvl8pPr>
              <a:defRPr sz="3750" b="1">
                <a:solidFill>
                  <a:srgbClr val="17333E"/>
                </a:solidFill>
                <a:latin typeface="Arial"/>
                <a:ea typeface="Arial"/>
                <a:cs typeface="Arial"/>
              </a:defRPr>
            </a:lvl8pPr>
            <a:lvl9pPr>
              <a:defRPr sz="3750" b="1">
                <a:solidFill>
                  <a:srgbClr val="17333E"/>
                </a:solidFill>
                <a:latin typeface="Arial"/>
                <a:ea typeface="Arial"/>
                <a:cs typeface="Arial"/>
              </a:defRPr>
            </a:lvl9pPr>
          </a:lstStyle>
          <a:p xmlns:a="http://schemas.openxmlformats.org/drawingml/2006/main">
            <a:pPr>
              <a:defRPr sz="3750" b="1">
                <a:solidFill>
                  <a:srgbClr val="17333E"/>
                </a:solidFill>
                <a:latin typeface="Arial"/>
                <a:ea typeface="Arial"/>
                <a:cs typeface="Arial"/>
              </a:defRPr>
            </a:pPr>
            <a:r>
              <a:rPr sz="3750" b="1">
                <a:solidFill>
                  <a:srgbClr val="17333E"/>
                </a:solidFill>
                <a:latin typeface="Arial"/>
                <a:ea typeface="Arial"/>
                <a:cs typeface="Arial"/>
              </a:rPr>
              <a:t>Three experimental gates</a:t>
            </a:r>
          </a:p>
        </p:txBody>
      </p:sp>
      <p:sp>
        <p:nvSpPr>
          <p:cNvPr id="2" name="">
            <a:extLst xmlns:a="http://schemas.openxmlformats.org/drawingml/2006/main">
              <a:ext uri="{FF2B5EF4-FFF2-40B4-BE49-F238E27FC236}">
                <a16:creationId xmlns:a16="http://schemas.microsoft.com/office/drawing/2014/main" id="{4AA0EF36-F9AB-4860-8CD8-B80F4F27E12A}"/>
              </a:ext>
            </a:extLst>
          </p:cNvPr>
          <p:cNvSpPr>
            <a:spLocks xmlns:a="http://schemas.openxmlformats.org/drawingml/2006/main" noGrp="1"/>
          </p:cNvSpPr>
          <p:nvPr/>
        </p:nvSpPr>
        <p:spPr>
          <a:xfrm xmlns:a="http://schemas.openxmlformats.org/drawingml/2006/main">
            <a:off x="10953750" y="63436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971"/>
                </a:solidFill>
                <a:latin typeface="Arial"/>
                <a:ea typeface="Arial"/>
                <a:cs typeface="Arial"/>
              </a:defRPr>
            </a:defPPr>
            <a:lvl1pPr>
              <a:defRPr sz="1350" b="0">
                <a:solidFill>
                  <a:srgbClr val="526971"/>
                </a:solidFill>
                <a:latin typeface="Arial"/>
                <a:ea typeface="Arial"/>
                <a:cs typeface="Arial"/>
              </a:defRPr>
            </a:lvl1pPr>
            <a:lvl2pPr>
              <a:defRPr sz="1350" b="0">
                <a:solidFill>
                  <a:srgbClr val="526971"/>
                </a:solidFill>
                <a:latin typeface="Arial"/>
                <a:ea typeface="Arial"/>
                <a:cs typeface="Arial"/>
              </a:defRPr>
            </a:lvl2pPr>
            <a:lvl3pPr>
              <a:defRPr sz="1350" b="0">
                <a:solidFill>
                  <a:srgbClr val="526971"/>
                </a:solidFill>
                <a:latin typeface="Arial"/>
                <a:ea typeface="Arial"/>
                <a:cs typeface="Arial"/>
              </a:defRPr>
            </a:lvl3pPr>
            <a:lvl4pPr>
              <a:defRPr sz="1350" b="0">
                <a:solidFill>
                  <a:srgbClr val="526971"/>
                </a:solidFill>
                <a:latin typeface="Arial"/>
                <a:ea typeface="Arial"/>
                <a:cs typeface="Arial"/>
              </a:defRPr>
            </a:lvl4pPr>
            <a:lvl5pPr>
              <a:defRPr sz="1350" b="0">
                <a:solidFill>
                  <a:srgbClr val="526971"/>
                </a:solidFill>
                <a:latin typeface="Arial"/>
                <a:ea typeface="Arial"/>
                <a:cs typeface="Arial"/>
              </a:defRPr>
            </a:lvl5pPr>
            <a:lvl6pPr>
              <a:defRPr sz="1350" b="0">
                <a:solidFill>
                  <a:srgbClr val="526971"/>
                </a:solidFill>
                <a:latin typeface="Arial"/>
                <a:ea typeface="Arial"/>
                <a:cs typeface="Arial"/>
              </a:defRPr>
            </a:lvl6pPr>
            <a:lvl7pPr>
              <a:defRPr sz="1350" b="0">
                <a:solidFill>
                  <a:srgbClr val="526971"/>
                </a:solidFill>
                <a:latin typeface="Arial"/>
                <a:ea typeface="Arial"/>
                <a:cs typeface="Arial"/>
              </a:defRPr>
            </a:lvl7pPr>
            <a:lvl8pPr>
              <a:defRPr sz="1350" b="0">
                <a:solidFill>
                  <a:srgbClr val="526971"/>
                </a:solidFill>
                <a:latin typeface="Arial"/>
                <a:ea typeface="Arial"/>
                <a:cs typeface="Arial"/>
              </a:defRPr>
            </a:lvl8pPr>
            <a:lvl9pPr>
              <a:defRPr sz="1350" b="0">
                <a:solidFill>
                  <a:srgbClr val="526971"/>
                </a:solidFill>
                <a:latin typeface="Arial"/>
                <a:ea typeface="Arial"/>
                <a:cs typeface="Arial"/>
              </a:defRPr>
            </a:lvl9pPr>
          </a:lstStyle>
          <a:p xmlns:a="http://schemas.openxmlformats.org/drawingml/2006/main">
            <a:pPr>
              <a:defRPr sz="1350" b="0">
                <a:solidFill>
                  <a:srgbClr val="526971"/>
                </a:solidFill>
                <a:latin typeface="Arial"/>
                <a:ea typeface="Arial"/>
                <a:cs typeface="Arial"/>
              </a:defRPr>
            </a:pPr>
            <a:r>
              <a:rPr sz="1350" b="0">
                <a:solidFill>
                  <a:srgbClr val="526971"/>
                </a:solidFill>
                <a:latin typeface="Arial"/>
                <a:ea typeface="Arial"/>
                <a:cs typeface="Arial"/>
              </a:rPr>
              <a:t>3/6</a:t>
            </a:r>
          </a:p>
        </p:txBody>
      </p:sp>
      <p:sp>
        <p:nvSpPr>
          <p:cNvPr id="3" name="">
            <a:extLst xmlns:a="http://schemas.openxmlformats.org/drawingml/2006/main">
              <a:ext uri="{FF2B5EF4-FFF2-40B4-BE49-F238E27FC236}">
                <a16:creationId xmlns:a16="http://schemas.microsoft.com/office/drawing/2014/main" id="{8EB98FC6-055B-43D2-9274-F4AF9C84B92D}"/>
              </a:ext>
            </a:extLst>
          </p:cNvPr>
          <p:cNvSpPr>
            <a:spLocks xmlns:a="http://schemas.openxmlformats.org/drawingml/2006/main" noGrp="1"/>
          </p:cNvSpPr>
          <p:nvPr/>
        </p:nvSpPr>
        <p:spPr>
          <a:xfrm xmlns:a="http://schemas.openxmlformats.org/drawingml/2006/main">
            <a:off x="609600" y="63436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971"/>
                </a:solidFill>
                <a:latin typeface="Arial"/>
                <a:ea typeface="Arial"/>
                <a:cs typeface="Arial"/>
              </a:defRPr>
            </a:defPPr>
            <a:lvl1pPr>
              <a:defRPr sz="1200" b="0">
                <a:solidFill>
                  <a:srgbClr val="526971"/>
                </a:solidFill>
                <a:latin typeface="Arial"/>
                <a:ea typeface="Arial"/>
                <a:cs typeface="Arial"/>
              </a:defRPr>
            </a:lvl1pPr>
            <a:lvl2pPr>
              <a:defRPr sz="1200" b="0">
                <a:solidFill>
                  <a:srgbClr val="526971"/>
                </a:solidFill>
                <a:latin typeface="Arial"/>
                <a:ea typeface="Arial"/>
                <a:cs typeface="Arial"/>
              </a:defRPr>
            </a:lvl2pPr>
            <a:lvl3pPr>
              <a:defRPr sz="1200" b="0">
                <a:solidFill>
                  <a:srgbClr val="526971"/>
                </a:solidFill>
                <a:latin typeface="Arial"/>
                <a:ea typeface="Arial"/>
                <a:cs typeface="Arial"/>
              </a:defRPr>
            </a:lvl3pPr>
            <a:lvl4pPr>
              <a:defRPr sz="1200" b="0">
                <a:solidFill>
                  <a:srgbClr val="526971"/>
                </a:solidFill>
                <a:latin typeface="Arial"/>
                <a:ea typeface="Arial"/>
                <a:cs typeface="Arial"/>
              </a:defRPr>
            </a:lvl4pPr>
            <a:lvl5pPr>
              <a:defRPr sz="1200" b="0">
                <a:solidFill>
                  <a:srgbClr val="526971"/>
                </a:solidFill>
                <a:latin typeface="Arial"/>
                <a:ea typeface="Arial"/>
                <a:cs typeface="Arial"/>
              </a:defRPr>
            </a:lvl5pPr>
            <a:lvl6pPr>
              <a:defRPr sz="1200" b="0">
                <a:solidFill>
                  <a:srgbClr val="526971"/>
                </a:solidFill>
                <a:latin typeface="Arial"/>
                <a:ea typeface="Arial"/>
                <a:cs typeface="Arial"/>
              </a:defRPr>
            </a:lvl6pPr>
            <a:lvl7pPr>
              <a:defRPr sz="1200" b="0">
                <a:solidFill>
                  <a:srgbClr val="526971"/>
                </a:solidFill>
                <a:latin typeface="Arial"/>
                <a:ea typeface="Arial"/>
                <a:cs typeface="Arial"/>
              </a:defRPr>
            </a:lvl7pPr>
            <a:lvl8pPr>
              <a:defRPr sz="1200" b="0">
                <a:solidFill>
                  <a:srgbClr val="526971"/>
                </a:solidFill>
                <a:latin typeface="Arial"/>
                <a:ea typeface="Arial"/>
                <a:cs typeface="Arial"/>
              </a:defRPr>
            </a:lvl8pPr>
            <a:lvl9pPr>
              <a:defRPr sz="1200" b="0">
                <a:solidFill>
                  <a:srgbClr val="526971"/>
                </a:solidFill>
                <a:latin typeface="Arial"/>
                <a:ea typeface="Arial"/>
                <a:cs typeface="Arial"/>
              </a:defRPr>
            </a:lvl9pPr>
          </a:lstStyle>
          <a:p xmlns:a="http://schemas.openxmlformats.org/drawingml/2006/main">
            <a:pPr>
              <a:defRPr sz="1200" b="0">
                <a:solidFill>
                  <a:srgbClr val="526971"/>
                </a:solidFill>
                <a:latin typeface="Arial"/>
                <a:ea typeface="Arial"/>
                <a:cs typeface="Arial"/>
              </a:defRPr>
            </a:pPr>
            <a:r>
              <a:rPr sz="1200" b="0">
                <a:solidFill>
                  <a:srgbClr val="526971"/>
                </a:solidFill>
                <a:latin typeface="Arial"/>
                <a:ea typeface="Arial"/>
                <a:cs typeface="Arial"/>
              </a:rPr>
              <a:t>PMID 31900865  /  MIPLYFFA label §12  /  proposed protocol</a:t>
            </a:r>
          </a:p>
        </p:txBody>
      </p:sp>
      <p:sp>
        <p:nvSpPr>
          <p:cNvPr id="4" name="">
            <a:extLst xmlns:a="http://schemas.openxmlformats.org/drawingml/2006/main">
              <a:ext uri="{FF2B5EF4-FFF2-40B4-BE49-F238E27FC236}">
                <a16:creationId xmlns:a16="http://schemas.microsoft.com/office/drawing/2014/main" id="{EB46C945-B9F0-42F2-BE8C-A4719FFC5286}"/>
              </a:ext>
            </a:extLst>
          </p:cNvPr>
          <p:cNvSpPr>
            <a:spLocks xmlns:a="http://schemas.openxmlformats.org/drawingml/2006/main" noGrp="1"/>
          </p:cNvSpPr>
          <p:nvPr/>
        </p:nvSpPr>
        <p:spPr>
          <a:xfrm xmlns:a="http://schemas.openxmlformats.org/drawingml/2006/main">
            <a:off x="609600" y="19050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450" b="1">
                <a:solidFill>
                  <a:srgbClr val="176C63"/>
                </a:solidFill>
                <a:latin typeface="Arial"/>
                <a:ea typeface="Arial"/>
                <a:cs typeface="Arial"/>
              </a:defRPr>
            </a:defPPr>
            <a:lvl1pPr>
              <a:defRPr sz="3450" b="1">
                <a:solidFill>
                  <a:srgbClr val="176C63"/>
                </a:solidFill>
                <a:latin typeface="Arial"/>
                <a:ea typeface="Arial"/>
                <a:cs typeface="Arial"/>
              </a:defRPr>
            </a:lvl1pPr>
            <a:lvl2pPr>
              <a:defRPr sz="3450" b="1">
                <a:solidFill>
                  <a:srgbClr val="176C63"/>
                </a:solidFill>
                <a:latin typeface="Arial"/>
                <a:ea typeface="Arial"/>
                <a:cs typeface="Arial"/>
              </a:defRPr>
            </a:lvl2pPr>
            <a:lvl3pPr>
              <a:defRPr sz="3450" b="1">
                <a:solidFill>
                  <a:srgbClr val="176C63"/>
                </a:solidFill>
                <a:latin typeface="Arial"/>
                <a:ea typeface="Arial"/>
                <a:cs typeface="Arial"/>
              </a:defRPr>
            </a:lvl3pPr>
            <a:lvl4pPr>
              <a:defRPr sz="3450" b="1">
                <a:solidFill>
                  <a:srgbClr val="176C63"/>
                </a:solidFill>
                <a:latin typeface="Arial"/>
                <a:ea typeface="Arial"/>
                <a:cs typeface="Arial"/>
              </a:defRPr>
            </a:lvl4pPr>
            <a:lvl5pPr>
              <a:defRPr sz="3450" b="1">
                <a:solidFill>
                  <a:srgbClr val="176C63"/>
                </a:solidFill>
                <a:latin typeface="Arial"/>
                <a:ea typeface="Arial"/>
                <a:cs typeface="Arial"/>
              </a:defRPr>
            </a:lvl5pPr>
            <a:lvl6pPr>
              <a:defRPr sz="3450" b="1">
                <a:solidFill>
                  <a:srgbClr val="176C63"/>
                </a:solidFill>
                <a:latin typeface="Arial"/>
                <a:ea typeface="Arial"/>
                <a:cs typeface="Arial"/>
              </a:defRPr>
            </a:lvl6pPr>
            <a:lvl7pPr>
              <a:defRPr sz="3450" b="1">
                <a:solidFill>
                  <a:srgbClr val="176C63"/>
                </a:solidFill>
                <a:latin typeface="Arial"/>
                <a:ea typeface="Arial"/>
                <a:cs typeface="Arial"/>
              </a:defRPr>
            </a:lvl7pPr>
            <a:lvl8pPr>
              <a:defRPr sz="3450" b="1">
                <a:solidFill>
                  <a:srgbClr val="176C63"/>
                </a:solidFill>
                <a:latin typeface="Arial"/>
                <a:ea typeface="Arial"/>
                <a:cs typeface="Arial"/>
              </a:defRPr>
            </a:lvl8pPr>
            <a:lvl9pPr>
              <a:defRPr sz="3450" b="1">
                <a:solidFill>
                  <a:srgbClr val="176C63"/>
                </a:solidFill>
                <a:latin typeface="Arial"/>
                <a:ea typeface="Arial"/>
                <a:cs typeface="Arial"/>
              </a:defRPr>
            </a:lvl9pPr>
          </a:lstStyle>
          <a:p xmlns:a="http://schemas.openxmlformats.org/drawingml/2006/main">
            <a:pPr>
              <a:defRPr sz="3450" b="1">
                <a:solidFill>
                  <a:srgbClr val="176C63"/>
                </a:solidFill>
                <a:latin typeface="Arial"/>
                <a:ea typeface="Arial"/>
                <a:cs typeface="Arial"/>
              </a:defRPr>
            </a:pPr>
            <a:r>
              <a:rPr sz="3450" b="1">
                <a:solidFill>
                  <a:srgbClr val="176C63"/>
                </a:solidFill>
                <a:latin typeface="Arial"/>
                <a:ea typeface="Arial"/>
                <a:cs typeface="Arial"/>
              </a:rPr>
              <a:t>1</a:t>
            </a:r>
          </a:p>
        </p:txBody>
      </p:sp>
      <p:sp>
        <p:nvSpPr>
          <p:cNvPr id="5" name="">
            <a:extLst xmlns:a="http://schemas.openxmlformats.org/drawingml/2006/main">
              <a:ext uri="{FF2B5EF4-FFF2-40B4-BE49-F238E27FC236}">
                <a16:creationId xmlns:a16="http://schemas.microsoft.com/office/drawing/2014/main" id="{7F0318EB-3FAD-4356-9189-A7404A46C801}"/>
              </a:ext>
            </a:extLst>
          </p:cNvPr>
          <p:cNvSpPr>
            <a:spLocks xmlns:a="http://schemas.openxmlformats.org/drawingml/2006/main" noGrp="1"/>
          </p:cNvSpPr>
          <p:nvPr/>
        </p:nvSpPr>
        <p:spPr>
          <a:xfrm xmlns:a="http://schemas.openxmlformats.org/drawingml/2006/main">
            <a:off x="1571625" y="1905000"/>
            <a:ext cx="9810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1">
                <a:solidFill>
                  <a:srgbClr val="17333E"/>
                </a:solidFill>
                <a:latin typeface="Arial"/>
                <a:ea typeface="Arial"/>
                <a:cs typeface="Arial"/>
              </a:defRPr>
            </a:defPPr>
            <a:lvl1pPr>
              <a:defRPr sz="2550" b="1">
                <a:solidFill>
                  <a:srgbClr val="17333E"/>
                </a:solidFill>
                <a:latin typeface="Arial"/>
                <a:ea typeface="Arial"/>
                <a:cs typeface="Arial"/>
              </a:defRPr>
            </a:lvl1pPr>
            <a:lvl2pPr>
              <a:defRPr sz="2550" b="1">
                <a:solidFill>
                  <a:srgbClr val="17333E"/>
                </a:solidFill>
                <a:latin typeface="Arial"/>
                <a:ea typeface="Arial"/>
                <a:cs typeface="Arial"/>
              </a:defRPr>
            </a:lvl2pPr>
            <a:lvl3pPr>
              <a:defRPr sz="2550" b="1">
                <a:solidFill>
                  <a:srgbClr val="17333E"/>
                </a:solidFill>
                <a:latin typeface="Arial"/>
                <a:ea typeface="Arial"/>
                <a:cs typeface="Arial"/>
              </a:defRPr>
            </a:lvl3pPr>
            <a:lvl4pPr>
              <a:defRPr sz="2550" b="1">
                <a:solidFill>
                  <a:srgbClr val="17333E"/>
                </a:solidFill>
                <a:latin typeface="Arial"/>
                <a:ea typeface="Arial"/>
                <a:cs typeface="Arial"/>
              </a:defRPr>
            </a:lvl4pPr>
            <a:lvl5pPr>
              <a:defRPr sz="2550" b="1">
                <a:solidFill>
                  <a:srgbClr val="17333E"/>
                </a:solidFill>
                <a:latin typeface="Arial"/>
                <a:ea typeface="Arial"/>
                <a:cs typeface="Arial"/>
              </a:defRPr>
            </a:lvl5pPr>
            <a:lvl6pPr>
              <a:defRPr sz="2550" b="1">
                <a:solidFill>
                  <a:srgbClr val="17333E"/>
                </a:solidFill>
                <a:latin typeface="Arial"/>
                <a:ea typeface="Arial"/>
                <a:cs typeface="Arial"/>
              </a:defRPr>
            </a:lvl6pPr>
            <a:lvl7pPr>
              <a:defRPr sz="2550" b="1">
                <a:solidFill>
                  <a:srgbClr val="17333E"/>
                </a:solidFill>
                <a:latin typeface="Arial"/>
                <a:ea typeface="Arial"/>
                <a:cs typeface="Arial"/>
              </a:defRPr>
            </a:lvl7pPr>
            <a:lvl8pPr>
              <a:defRPr sz="2550" b="1">
                <a:solidFill>
                  <a:srgbClr val="17333E"/>
                </a:solidFill>
                <a:latin typeface="Arial"/>
                <a:ea typeface="Arial"/>
                <a:cs typeface="Arial"/>
              </a:defRPr>
            </a:lvl8pPr>
            <a:lvl9pPr>
              <a:defRPr sz="2550" b="1">
                <a:solidFill>
                  <a:srgbClr val="17333E"/>
                </a:solidFill>
                <a:latin typeface="Arial"/>
                <a:ea typeface="Arial"/>
                <a:cs typeface="Arial"/>
              </a:defRPr>
            </a:lvl9pPr>
          </a:lstStyle>
          <a:p xmlns:a="http://schemas.openxmlformats.org/drawingml/2006/main">
            <a:pPr>
              <a:defRPr sz="2550" b="1">
                <a:solidFill>
                  <a:srgbClr val="17333E"/>
                </a:solidFill>
                <a:latin typeface="Arial"/>
                <a:ea typeface="Arial"/>
                <a:cs typeface="Arial"/>
              </a:defRPr>
            </a:pPr>
            <a:r>
              <a:rPr sz="2550" b="1">
                <a:solidFill>
                  <a:srgbClr val="17333E"/>
                </a:solidFill>
                <a:latin typeface="Arial"/>
                <a:ea typeface="Arial"/>
                <a:cs typeface="Arial"/>
              </a:rPr>
              <a:t>Qualify the model</a:t>
            </a:r>
          </a:p>
        </p:txBody>
      </p:sp>
      <p:sp>
        <p:nvSpPr>
          <p:cNvPr id="6" name="">
            <a:extLst xmlns:a="http://schemas.openxmlformats.org/drawingml/2006/main">
              <a:ext uri="{FF2B5EF4-FFF2-40B4-BE49-F238E27FC236}">
                <a16:creationId xmlns:a16="http://schemas.microsoft.com/office/drawing/2014/main" id="{A6B1AD68-C85D-4393-B520-6ED1A3331A2D}"/>
              </a:ext>
            </a:extLst>
          </p:cNvPr>
          <p:cNvSpPr>
            <a:spLocks xmlns:a="http://schemas.openxmlformats.org/drawingml/2006/main" noGrp="1"/>
          </p:cNvSpPr>
          <p:nvPr/>
        </p:nvSpPr>
        <p:spPr>
          <a:xfrm xmlns:a="http://schemas.openxmlformats.org/drawingml/2006/main">
            <a:off x="1571625" y="2419350"/>
            <a:ext cx="9810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526971"/>
                </a:solidFill>
                <a:latin typeface="Arial"/>
                <a:ea typeface="Arial"/>
                <a:cs typeface="Arial"/>
              </a:defRPr>
            </a:defPPr>
            <a:lvl1pPr>
              <a:defRPr sz="2100" b="0">
                <a:solidFill>
                  <a:srgbClr val="526971"/>
                </a:solidFill>
                <a:latin typeface="Arial"/>
                <a:ea typeface="Arial"/>
                <a:cs typeface="Arial"/>
              </a:defRPr>
            </a:lvl1pPr>
            <a:lvl2pPr>
              <a:defRPr sz="2100" b="0">
                <a:solidFill>
                  <a:srgbClr val="526971"/>
                </a:solidFill>
                <a:latin typeface="Arial"/>
                <a:ea typeface="Arial"/>
                <a:cs typeface="Arial"/>
              </a:defRPr>
            </a:lvl2pPr>
            <a:lvl3pPr>
              <a:defRPr sz="2100" b="0">
                <a:solidFill>
                  <a:srgbClr val="526971"/>
                </a:solidFill>
                <a:latin typeface="Arial"/>
                <a:ea typeface="Arial"/>
                <a:cs typeface="Arial"/>
              </a:defRPr>
            </a:lvl3pPr>
            <a:lvl4pPr>
              <a:defRPr sz="2100" b="0">
                <a:solidFill>
                  <a:srgbClr val="526971"/>
                </a:solidFill>
                <a:latin typeface="Arial"/>
                <a:ea typeface="Arial"/>
                <a:cs typeface="Arial"/>
              </a:defRPr>
            </a:lvl4pPr>
            <a:lvl5pPr>
              <a:defRPr sz="2100" b="0">
                <a:solidFill>
                  <a:srgbClr val="526971"/>
                </a:solidFill>
                <a:latin typeface="Arial"/>
                <a:ea typeface="Arial"/>
                <a:cs typeface="Arial"/>
              </a:defRPr>
            </a:lvl5pPr>
            <a:lvl6pPr>
              <a:defRPr sz="2100" b="0">
                <a:solidFill>
                  <a:srgbClr val="526971"/>
                </a:solidFill>
                <a:latin typeface="Arial"/>
                <a:ea typeface="Arial"/>
                <a:cs typeface="Arial"/>
              </a:defRPr>
            </a:lvl6pPr>
            <a:lvl7pPr>
              <a:defRPr sz="2100" b="0">
                <a:solidFill>
                  <a:srgbClr val="526971"/>
                </a:solidFill>
                <a:latin typeface="Arial"/>
                <a:ea typeface="Arial"/>
                <a:cs typeface="Arial"/>
              </a:defRPr>
            </a:lvl7pPr>
            <a:lvl8pPr>
              <a:defRPr sz="2100" b="0">
                <a:solidFill>
                  <a:srgbClr val="526971"/>
                </a:solidFill>
                <a:latin typeface="Arial"/>
                <a:ea typeface="Arial"/>
                <a:cs typeface="Arial"/>
              </a:defRPr>
            </a:lvl8pPr>
            <a:lvl9pPr>
              <a:defRPr sz="2100" b="0">
                <a:solidFill>
                  <a:srgbClr val="526971"/>
                </a:solidFill>
                <a:latin typeface="Arial"/>
                <a:ea typeface="Arial"/>
                <a:cs typeface="Arial"/>
              </a:defRPr>
            </a:lvl9pPr>
          </a:lstStyle>
          <a:p xmlns:a="http://schemas.openxmlformats.org/drawingml/2006/main">
            <a:pPr>
              <a:defRPr sz="2100" b="0">
                <a:solidFill>
                  <a:srgbClr val="526971"/>
                </a:solidFill>
                <a:latin typeface="Arial"/>
                <a:ea typeface="Arial"/>
                <a:cs typeface="Arial"/>
              </a:defRPr>
            </a:pPr>
            <a:r>
              <a:rPr sz="2100" b="0">
                <a:solidFill>
                  <a:srgbClr val="526971"/>
                </a:solidFill>
                <a:latin typeface="Arial"/>
                <a:ea typeface="Arial"/>
                <a:cs typeface="Arial"/>
              </a:rPr>
              <a:t>Full-length protein and controls</a:t>
            </a:r>
          </a:p>
        </p:txBody>
      </p:sp>
      <p:sp>
        <p:nvSpPr>
          <p:cNvPr id="7" name="">
            <a:extLst xmlns:a="http://schemas.openxmlformats.org/drawingml/2006/main">
              <a:ext uri="{FF2B5EF4-FFF2-40B4-BE49-F238E27FC236}">
                <a16:creationId xmlns:a16="http://schemas.microsoft.com/office/drawing/2014/main" id="{44E40D9E-B261-4134-9B78-3A2D7755C27A}"/>
              </a:ext>
            </a:extLst>
          </p:cNvPr>
          <p:cNvSpPr>
            <a:spLocks xmlns:a="http://schemas.openxmlformats.org/drawingml/2006/main" noGrp="1"/>
          </p:cNvSpPr>
          <p:nvPr/>
        </p:nvSpPr>
        <p:spPr>
          <a:xfrm xmlns:a="http://schemas.openxmlformats.org/drawingml/2006/main">
            <a:off x="609600" y="30956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450" b="1">
                <a:solidFill>
                  <a:srgbClr val="176C63"/>
                </a:solidFill>
                <a:latin typeface="Arial"/>
                <a:ea typeface="Arial"/>
                <a:cs typeface="Arial"/>
              </a:defRPr>
            </a:defPPr>
            <a:lvl1pPr>
              <a:defRPr sz="3450" b="1">
                <a:solidFill>
                  <a:srgbClr val="176C63"/>
                </a:solidFill>
                <a:latin typeface="Arial"/>
                <a:ea typeface="Arial"/>
                <a:cs typeface="Arial"/>
              </a:defRPr>
            </a:lvl1pPr>
            <a:lvl2pPr>
              <a:defRPr sz="3450" b="1">
                <a:solidFill>
                  <a:srgbClr val="176C63"/>
                </a:solidFill>
                <a:latin typeface="Arial"/>
                <a:ea typeface="Arial"/>
                <a:cs typeface="Arial"/>
              </a:defRPr>
            </a:lvl2pPr>
            <a:lvl3pPr>
              <a:defRPr sz="3450" b="1">
                <a:solidFill>
                  <a:srgbClr val="176C63"/>
                </a:solidFill>
                <a:latin typeface="Arial"/>
                <a:ea typeface="Arial"/>
                <a:cs typeface="Arial"/>
              </a:defRPr>
            </a:lvl3pPr>
            <a:lvl4pPr>
              <a:defRPr sz="3450" b="1">
                <a:solidFill>
                  <a:srgbClr val="176C63"/>
                </a:solidFill>
                <a:latin typeface="Arial"/>
                <a:ea typeface="Arial"/>
                <a:cs typeface="Arial"/>
              </a:defRPr>
            </a:lvl4pPr>
            <a:lvl5pPr>
              <a:defRPr sz="3450" b="1">
                <a:solidFill>
                  <a:srgbClr val="176C63"/>
                </a:solidFill>
                <a:latin typeface="Arial"/>
                <a:ea typeface="Arial"/>
                <a:cs typeface="Arial"/>
              </a:defRPr>
            </a:lvl5pPr>
            <a:lvl6pPr>
              <a:defRPr sz="3450" b="1">
                <a:solidFill>
                  <a:srgbClr val="176C63"/>
                </a:solidFill>
                <a:latin typeface="Arial"/>
                <a:ea typeface="Arial"/>
                <a:cs typeface="Arial"/>
              </a:defRPr>
            </a:lvl6pPr>
            <a:lvl7pPr>
              <a:defRPr sz="3450" b="1">
                <a:solidFill>
                  <a:srgbClr val="176C63"/>
                </a:solidFill>
                <a:latin typeface="Arial"/>
                <a:ea typeface="Arial"/>
                <a:cs typeface="Arial"/>
              </a:defRPr>
            </a:lvl7pPr>
            <a:lvl8pPr>
              <a:defRPr sz="3450" b="1">
                <a:solidFill>
                  <a:srgbClr val="176C63"/>
                </a:solidFill>
                <a:latin typeface="Arial"/>
                <a:ea typeface="Arial"/>
                <a:cs typeface="Arial"/>
              </a:defRPr>
            </a:lvl8pPr>
            <a:lvl9pPr>
              <a:defRPr sz="3450" b="1">
                <a:solidFill>
                  <a:srgbClr val="176C63"/>
                </a:solidFill>
                <a:latin typeface="Arial"/>
                <a:ea typeface="Arial"/>
                <a:cs typeface="Arial"/>
              </a:defRPr>
            </a:lvl9pPr>
          </a:lstStyle>
          <a:p xmlns:a="http://schemas.openxmlformats.org/drawingml/2006/main">
            <a:pPr>
              <a:defRPr sz="3450" b="1">
                <a:solidFill>
                  <a:srgbClr val="176C63"/>
                </a:solidFill>
                <a:latin typeface="Arial"/>
                <a:ea typeface="Arial"/>
                <a:cs typeface="Arial"/>
              </a:defRPr>
            </a:pPr>
            <a:r>
              <a:rPr sz="3450" b="1">
                <a:solidFill>
                  <a:srgbClr val="176C63"/>
                </a:solidFill>
                <a:latin typeface="Arial"/>
                <a:ea typeface="Arial"/>
                <a:cs typeface="Arial"/>
              </a:rPr>
              <a:t>2</a:t>
            </a:r>
          </a:p>
        </p:txBody>
      </p:sp>
      <p:sp>
        <p:nvSpPr>
          <p:cNvPr id="8" name="">
            <a:extLst xmlns:a="http://schemas.openxmlformats.org/drawingml/2006/main">
              <a:ext uri="{FF2B5EF4-FFF2-40B4-BE49-F238E27FC236}">
                <a16:creationId xmlns:a16="http://schemas.microsoft.com/office/drawing/2014/main" id="{C4014B52-3FB4-497C-89EB-C8D2CB9D833B}"/>
              </a:ext>
            </a:extLst>
          </p:cNvPr>
          <p:cNvSpPr>
            <a:spLocks xmlns:a="http://schemas.openxmlformats.org/drawingml/2006/main" noGrp="1"/>
          </p:cNvSpPr>
          <p:nvPr/>
        </p:nvSpPr>
        <p:spPr>
          <a:xfrm xmlns:a="http://schemas.openxmlformats.org/drawingml/2006/main">
            <a:off x="1571625" y="3095625"/>
            <a:ext cx="9810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1">
                <a:solidFill>
                  <a:srgbClr val="17333E"/>
                </a:solidFill>
                <a:latin typeface="Arial"/>
                <a:ea typeface="Arial"/>
                <a:cs typeface="Arial"/>
              </a:defRPr>
            </a:defPPr>
            <a:lvl1pPr>
              <a:defRPr sz="2550" b="1">
                <a:solidFill>
                  <a:srgbClr val="17333E"/>
                </a:solidFill>
                <a:latin typeface="Arial"/>
                <a:ea typeface="Arial"/>
                <a:cs typeface="Arial"/>
              </a:defRPr>
            </a:lvl1pPr>
            <a:lvl2pPr>
              <a:defRPr sz="2550" b="1">
                <a:solidFill>
                  <a:srgbClr val="17333E"/>
                </a:solidFill>
                <a:latin typeface="Arial"/>
                <a:ea typeface="Arial"/>
                <a:cs typeface="Arial"/>
              </a:defRPr>
            </a:lvl2pPr>
            <a:lvl3pPr>
              <a:defRPr sz="2550" b="1">
                <a:solidFill>
                  <a:srgbClr val="17333E"/>
                </a:solidFill>
                <a:latin typeface="Arial"/>
                <a:ea typeface="Arial"/>
                <a:cs typeface="Arial"/>
              </a:defRPr>
            </a:lvl3pPr>
            <a:lvl4pPr>
              <a:defRPr sz="2550" b="1">
                <a:solidFill>
                  <a:srgbClr val="17333E"/>
                </a:solidFill>
                <a:latin typeface="Arial"/>
                <a:ea typeface="Arial"/>
                <a:cs typeface="Arial"/>
              </a:defRPr>
            </a:lvl4pPr>
            <a:lvl5pPr>
              <a:defRPr sz="2550" b="1">
                <a:solidFill>
                  <a:srgbClr val="17333E"/>
                </a:solidFill>
                <a:latin typeface="Arial"/>
                <a:ea typeface="Arial"/>
                <a:cs typeface="Arial"/>
              </a:defRPr>
            </a:lvl5pPr>
            <a:lvl6pPr>
              <a:defRPr sz="2550" b="1">
                <a:solidFill>
                  <a:srgbClr val="17333E"/>
                </a:solidFill>
                <a:latin typeface="Arial"/>
                <a:ea typeface="Arial"/>
                <a:cs typeface="Arial"/>
              </a:defRPr>
            </a:lvl6pPr>
            <a:lvl7pPr>
              <a:defRPr sz="2550" b="1">
                <a:solidFill>
                  <a:srgbClr val="17333E"/>
                </a:solidFill>
                <a:latin typeface="Arial"/>
                <a:ea typeface="Arial"/>
                <a:cs typeface="Arial"/>
              </a:defRPr>
            </a:lvl7pPr>
            <a:lvl8pPr>
              <a:defRPr sz="2550" b="1">
                <a:solidFill>
                  <a:srgbClr val="17333E"/>
                </a:solidFill>
                <a:latin typeface="Arial"/>
                <a:ea typeface="Arial"/>
                <a:cs typeface="Arial"/>
              </a:defRPr>
            </a:lvl8pPr>
            <a:lvl9pPr>
              <a:defRPr sz="2550" b="1">
                <a:solidFill>
                  <a:srgbClr val="17333E"/>
                </a:solidFill>
                <a:latin typeface="Arial"/>
                <a:ea typeface="Arial"/>
                <a:cs typeface="Arial"/>
              </a:defRPr>
            </a:lvl9pPr>
          </a:lstStyle>
          <a:p xmlns:a="http://schemas.openxmlformats.org/drawingml/2006/main">
            <a:pPr>
              <a:defRPr sz="2550" b="1">
                <a:solidFill>
                  <a:srgbClr val="17333E"/>
                </a:solidFill>
                <a:latin typeface="Arial"/>
                <a:ea typeface="Arial"/>
                <a:cs typeface="Arial"/>
              </a:defRPr>
            </a:pPr>
            <a:r>
              <a:rPr sz="2550" b="1">
                <a:solidFill>
                  <a:srgbClr val="17333E"/>
                </a:solidFill>
                <a:latin typeface="Arial"/>
                <a:ea typeface="Arial"/>
                <a:cs typeface="Arial"/>
              </a:rPr>
              <a:t>Check exposure and response</a:t>
            </a:r>
          </a:p>
        </p:txBody>
      </p:sp>
      <p:sp>
        <p:nvSpPr>
          <p:cNvPr id="9" name="">
            <a:extLst xmlns:a="http://schemas.openxmlformats.org/drawingml/2006/main">
              <a:ext uri="{FF2B5EF4-FFF2-40B4-BE49-F238E27FC236}">
                <a16:creationId xmlns:a16="http://schemas.microsoft.com/office/drawing/2014/main" id="{03845682-3950-4282-9D90-AC542B32BDC8}"/>
              </a:ext>
            </a:extLst>
          </p:cNvPr>
          <p:cNvSpPr>
            <a:spLocks xmlns:a="http://schemas.openxmlformats.org/drawingml/2006/main" noGrp="1"/>
          </p:cNvSpPr>
          <p:nvPr/>
        </p:nvSpPr>
        <p:spPr>
          <a:xfrm xmlns:a="http://schemas.openxmlformats.org/drawingml/2006/main">
            <a:off x="1571625" y="3609975"/>
            <a:ext cx="9810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526971"/>
                </a:solidFill>
                <a:latin typeface="Arial"/>
                <a:ea typeface="Arial"/>
                <a:cs typeface="Arial"/>
              </a:defRPr>
            </a:defPPr>
            <a:lvl1pPr>
              <a:defRPr sz="2100" b="0">
                <a:solidFill>
                  <a:srgbClr val="526971"/>
                </a:solidFill>
                <a:latin typeface="Arial"/>
                <a:ea typeface="Arial"/>
                <a:cs typeface="Arial"/>
              </a:defRPr>
            </a:lvl1pPr>
            <a:lvl2pPr>
              <a:defRPr sz="2100" b="0">
                <a:solidFill>
                  <a:srgbClr val="526971"/>
                </a:solidFill>
                <a:latin typeface="Arial"/>
                <a:ea typeface="Arial"/>
                <a:cs typeface="Arial"/>
              </a:defRPr>
            </a:lvl2pPr>
            <a:lvl3pPr>
              <a:defRPr sz="2100" b="0">
                <a:solidFill>
                  <a:srgbClr val="526971"/>
                </a:solidFill>
                <a:latin typeface="Arial"/>
                <a:ea typeface="Arial"/>
                <a:cs typeface="Arial"/>
              </a:defRPr>
            </a:lvl3pPr>
            <a:lvl4pPr>
              <a:defRPr sz="2100" b="0">
                <a:solidFill>
                  <a:srgbClr val="526971"/>
                </a:solidFill>
                <a:latin typeface="Arial"/>
                <a:ea typeface="Arial"/>
                <a:cs typeface="Arial"/>
              </a:defRPr>
            </a:lvl4pPr>
            <a:lvl5pPr>
              <a:defRPr sz="2100" b="0">
                <a:solidFill>
                  <a:srgbClr val="526971"/>
                </a:solidFill>
                <a:latin typeface="Arial"/>
                <a:ea typeface="Arial"/>
                <a:cs typeface="Arial"/>
              </a:defRPr>
            </a:lvl5pPr>
            <a:lvl6pPr>
              <a:defRPr sz="2100" b="0">
                <a:solidFill>
                  <a:srgbClr val="526971"/>
                </a:solidFill>
                <a:latin typeface="Arial"/>
                <a:ea typeface="Arial"/>
                <a:cs typeface="Arial"/>
              </a:defRPr>
            </a:lvl6pPr>
            <a:lvl7pPr>
              <a:defRPr sz="2100" b="0">
                <a:solidFill>
                  <a:srgbClr val="526971"/>
                </a:solidFill>
                <a:latin typeface="Arial"/>
                <a:ea typeface="Arial"/>
                <a:cs typeface="Arial"/>
              </a:defRPr>
            </a:lvl7pPr>
            <a:lvl8pPr>
              <a:defRPr sz="2100" b="0">
                <a:solidFill>
                  <a:srgbClr val="526971"/>
                </a:solidFill>
                <a:latin typeface="Arial"/>
                <a:ea typeface="Arial"/>
                <a:cs typeface="Arial"/>
              </a:defRPr>
            </a:lvl8pPr>
            <a:lvl9pPr>
              <a:defRPr sz="2100" b="0">
                <a:solidFill>
                  <a:srgbClr val="526971"/>
                </a:solidFill>
                <a:latin typeface="Arial"/>
                <a:ea typeface="Arial"/>
                <a:cs typeface="Arial"/>
              </a:defRPr>
            </a:lvl9pPr>
          </a:lstStyle>
          <a:p xmlns:a="http://schemas.openxmlformats.org/drawingml/2006/main">
            <a:pPr>
              <a:defRPr sz="2100" b="0">
                <a:solidFill>
                  <a:srgbClr val="526971"/>
                </a:solidFill>
                <a:latin typeface="Arial"/>
                <a:ea typeface="Arial"/>
                <a:cs typeface="Arial"/>
              </a:defRPr>
            </a:pPr>
            <a:r>
              <a:rPr sz="2100" b="0">
                <a:solidFill>
                  <a:srgbClr val="526971"/>
                </a:solidFill>
                <a:latin typeface="Arial"/>
                <a:ea typeface="Arial"/>
                <a:cs typeface="Arial"/>
              </a:rPr>
              <a:t>Test the clinically anchored range</a:t>
            </a:r>
          </a:p>
        </p:txBody>
      </p:sp>
      <p:sp>
        <p:nvSpPr>
          <p:cNvPr id="10" name="">
            <a:extLst xmlns:a="http://schemas.openxmlformats.org/drawingml/2006/main">
              <a:ext uri="{FF2B5EF4-FFF2-40B4-BE49-F238E27FC236}">
                <a16:creationId xmlns:a16="http://schemas.microsoft.com/office/drawing/2014/main" id="{11539135-533C-4241-B4C1-D4E2225B08E0}"/>
              </a:ext>
            </a:extLst>
          </p:cNvPr>
          <p:cNvSpPr>
            <a:spLocks xmlns:a="http://schemas.openxmlformats.org/drawingml/2006/main" noGrp="1"/>
          </p:cNvSpPr>
          <p:nvPr/>
        </p:nvSpPr>
        <p:spPr>
          <a:xfrm xmlns:a="http://schemas.openxmlformats.org/drawingml/2006/main">
            <a:off x="609600" y="4286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450" b="1">
                <a:solidFill>
                  <a:srgbClr val="176C63"/>
                </a:solidFill>
                <a:latin typeface="Arial"/>
                <a:ea typeface="Arial"/>
                <a:cs typeface="Arial"/>
              </a:defRPr>
            </a:defPPr>
            <a:lvl1pPr>
              <a:defRPr sz="3450" b="1">
                <a:solidFill>
                  <a:srgbClr val="176C63"/>
                </a:solidFill>
                <a:latin typeface="Arial"/>
                <a:ea typeface="Arial"/>
                <a:cs typeface="Arial"/>
              </a:defRPr>
            </a:lvl1pPr>
            <a:lvl2pPr>
              <a:defRPr sz="3450" b="1">
                <a:solidFill>
                  <a:srgbClr val="176C63"/>
                </a:solidFill>
                <a:latin typeface="Arial"/>
                <a:ea typeface="Arial"/>
                <a:cs typeface="Arial"/>
              </a:defRPr>
            </a:lvl2pPr>
            <a:lvl3pPr>
              <a:defRPr sz="3450" b="1">
                <a:solidFill>
                  <a:srgbClr val="176C63"/>
                </a:solidFill>
                <a:latin typeface="Arial"/>
                <a:ea typeface="Arial"/>
                <a:cs typeface="Arial"/>
              </a:defRPr>
            </a:lvl3pPr>
            <a:lvl4pPr>
              <a:defRPr sz="3450" b="1">
                <a:solidFill>
                  <a:srgbClr val="176C63"/>
                </a:solidFill>
                <a:latin typeface="Arial"/>
                <a:ea typeface="Arial"/>
                <a:cs typeface="Arial"/>
              </a:defRPr>
            </a:lvl4pPr>
            <a:lvl5pPr>
              <a:defRPr sz="3450" b="1">
                <a:solidFill>
                  <a:srgbClr val="176C63"/>
                </a:solidFill>
                <a:latin typeface="Arial"/>
                <a:ea typeface="Arial"/>
                <a:cs typeface="Arial"/>
              </a:defRPr>
            </a:lvl5pPr>
            <a:lvl6pPr>
              <a:defRPr sz="3450" b="1">
                <a:solidFill>
                  <a:srgbClr val="176C63"/>
                </a:solidFill>
                <a:latin typeface="Arial"/>
                <a:ea typeface="Arial"/>
                <a:cs typeface="Arial"/>
              </a:defRPr>
            </a:lvl6pPr>
            <a:lvl7pPr>
              <a:defRPr sz="3450" b="1">
                <a:solidFill>
                  <a:srgbClr val="176C63"/>
                </a:solidFill>
                <a:latin typeface="Arial"/>
                <a:ea typeface="Arial"/>
                <a:cs typeface="Arial"/>
              </a:defRPr>
            </a:lvl7pPr>
            <a:lvl8pPr>
              <a:defRPr sz="3450" b="1">
                <a:solidFill>
                  <a:srgbClr val="176C63"/>
                </a:solidFill>
                <a:latin typeface="Arial"/>
                <a:ea typeface="Arial"/>
                <a:cs typeface="Arial"/>
              </a:defRPr>
            </a:lvl8pPr>
            <a:lvl9pPr>
              <a:defRPr sz="3450" b="1">
                <a:solidFill>
                  <a:srgbClr val="176C63"/>
                </a:solidFill>
                <a:latin typeface="Arial"/>
                <a:ea typeface="Arial"/>
                <a:cs typeface="Arial"/>
              </a:defRPr>
            </a:lvl9pPr>
          </a:lstStyle>
          <a:p xmlns:a="http://schemas.openxmlformats.org/drawingml/2006/main">
            <a:pPr>
              <a:defRPr sz="3450" b="1">
                <a:solidFill>
                  <a:srgbClr val="176C63"/>
                </a:solidFill>
                <a:latin typeface="Arial"/>
                <a:ea typeface="Arial"/>
                <a:cs typeface="Arial"/>
              </a:defRPr>
            </a:pPr>
            <a:r>
              <a:rPr sz="3450" b="1">
                <a:solidFill>
                  <a:srgbClr val="176C63"/>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8D306007-3E83-4301-8A9F-06A527335EA7}"/>
              </a:ext>
            </a:extLst>
          </p:cNvPr>
          <p:cNvSpPr>
            <a:spLocks xmlns:a="http://schemas.openxmlformats.org/drawingml/2006/main" noGrp="1"/>
          </p:cNvSpPr>
          <p:nvPr/>
        </p:nvSpPr>
        <p:spPr>
          <a:xfrm xmlns:a="http://schemas.openxmlformats.org/drawingml/2006/main">
            <a:off x="1571625" y="4286250"/>
            <a:ext cx="9810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1">
                <a:solidFill>
                  <a:srgbClr val="17333E"/>
                </a:solidFill>
                <a:latin typeface="Arial"/>
                <a:ea typeface="Arial"/>
                <a:cs typeface="Arial"/>
              </a:defRPr>
            </a:defPPr>
            <a:lvl1pPr>
              <a:defRPr sz="2550" b="1">
                <a:solidFill>
                  <a:srgbClr val="17333E"/>
                </a:solidFill>
                <a:latin typeface="Arial"/>
                <a:ea typeface="Arial"/>
                <a:cs typeface="Arial"/>
              </a:defRPr>
            </a:lvl1pPr>
            <a:lvl2pPr>
              <a:defRPr sz="2550" b="1">
                <a:solidFill>
                  <a:srgbClr val="17333E"/>
                </a:solidFill>
                <a:latin typeface="Arial"/>
                <a:ea typeface="Arial"/>
                <a:cs typeface="Arial"/>
              </a:defRPr>
            </a:lvl2pPr>
            <a:lvl3pPr>
              <a:defRPr sz="2550" b="1">
                <a:solidFill>
                  <a:srgbClr val="17333E"/>
                </a:solidFill>
                <a:latin typeface="Arial"/>
                <a:ea typeface="Arial"/>
                <a:cs typeface="Arial"/>
              </a:defRPr>
            </a:lvl3pPr>
            <a:lvl4pPr>
              <a:defRPr sz="2550" b="1">
                <a:solidFill>
                  <a:srgbClr val="17333E"/>
                </a:solidFill>
                <a:latin typeface="Arial"/>
                <a:ea typeface="Arial"/>
                <a:cs typeface="Arial"/>
              </a:defRPr>
            </a:lvl4pPr>
            <a:lvl5pPr>
              <a:defRPr sz="2550" b="1">
                <a:solidFill>
                  <a:srgbClr val="17333E"/>
                </a:solidFill>
                <a:latin typeface="Arial"/>
                <a:ea typeface="Arial"/>
                <a:cs typeface="Arial"/>
              </a:defRPr>
            </a:lvl5pPr>
            <a:lvl6pPr>
              <a:defRPr sz="2550" b="1">
                <a:solidFill>
                  <a:srgbClr val="17333E"/>
                </a:solidFill>
                <a:latin typeface="Arial"/>
                <a:ea typeface="Arial"/>
                <a:cs typeface="Arial"/>
              </a:defRPr>
            </a:lvl6pPr>
            <a:lvl7pPr>
              <a:defRPr sz="2550" b="1">
                <a:solidFill>
                  <a:srgbClr val="17333E"/>
                </a:solidFill>
                <a:latin typeface="Arial"/>
                <a:ea typeface="Arial"/>
                <a:cs typeface="Arial"/>
              </a:defRPr>
            </a:lvl7pPr>
            <a:lvl8pPr>
              <a:defRPr sz="2550" b="1">
                <a:solidFill>
                  <a:srgbClr val="17333E"/>
                </a:solidFill>
                <a:latin typeface="Arial"/>
                <a:ea typeface="Arial"/>
                <a:cs typeface="Arial"/>
              </a:defRPr>
            </a:lvl8pPr>
            <a:lvl9pPr>
              <a:defRPr sz="2550" b="1">
                <a:solidFill>
                  <a:srgbClr val="17333E"/>
                </a:solidFill>
                <a:latin typeface="Arial"/>
                <a:ea typeface="Arial"/>
                <a:cs typeface="Arial"/>
              </a:defRPr>
            </a:lvl9pPr>
          </a:lstStyle>
          <a:p xmlns:a="http://schemas.openxmlformats.org/drawingml/2006/main">
            <a:pPr>
              <a:defRPr sz="2550" b="1">
                <a:solidFill>
                  <a:srgbClr val="17333E"/>
                </a:solidFill>
                <a:latin typeface="Arial"/>
                <a:ea typeface="Arial"/>
                <a:cs typeface="Arial"/>
              </a:defRPr>
            </a:pPr>
            <a:r>
              <a:rPr sz="2550" b="1">
                <a:solidFill>
                  <a:srgbClr val="17333E"/>
                </a:solidFill>
                <a:latin typeface="Arial"/>
                <a:ea typeface="Arial"/>
                <a:cs typeface="Arial"/>
              </a:rPr>
              <a:t>Require chromosome-segregation benefit</a:t>
            </a:r>
          </a:p>
        </p:txBody>
      </p:sp>
      <p:sp>
        <p:nvSpPr>
          <p:cNvPr id="12" name="">
            <a:extLst xmlns:a="http://schemas.openxmlformats.org/drawingml/2006/main">
              <a:ext uri="{FF2B5EF4-FFF2-40B4-BE49-F238E27FC236}">
                <a16:creationId xmlns:a16="http://schemas.microsoft.com/office/drawing/2014/main" id="{9FEC8039-ECB6-4A20-9A18-7C3D4A3265D1}"/>
              </a:ext>
            </a:extLst>
          </p:cNvPr>
          <p:cNvSpPr>
            <a:spLocks xmlns:a="http://schemas.openxmlformats.org/drawingml/2006/main" noGrp="1"/>
          </p:cNvSpPr>
          <p:nvPr/>
        </p:nvSpPr>
        <p:spPr>
          <a:xfrm xmlns:a="http://schemas.openxmlformats.org/drawingml/2006/main">
            <a:off x="1571625" y="4800600"/>
            <a:ext cx="9810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526971"/>
                </a:solidFill>
                <a:latin typeface="Arial"/>
                <a:ea typeface="Arial"/>
                <a:cs typeface="Arial"/>
              </a:defRPr>
            </a:defPPr>
            <a:lvl1pPr>
              <a:defRPr sz="2100" b="0">
                <a:solidFill>
                  <a:srgbClr val="526971"/>
                </a:solidFill>
                <a:latin typeface="Arial"/>
                <a:ea typeface="Arial"/>
                <a:cs typeface="Arial"/>
              </a:defRPr>
            </a:lvl1pPr>
            <a:lvl2pPr>
              <a:defRPr sz="2100" b="0">
                <a:solidFill>
                  <a:srgbClr val="526971"/>
                </a:solidFill>
                <a:latin typeface="Arial"/>
                <a:ea typeface="Arial"/>
                <a:cs typeface="Arial"/>
              </a:defRPr>
            </a:lvl2pPr>
            <a:lvl3pPr>
              <a:defRPr sz="2100" b="0">
                <a:solidFill>
                  <a:srgbClr val="526971"/>
                </a:solidFill>
                <a:latin typeface="Arial"/>
                <a:ea typeface="Arial"/>
                <a:cs typeface="Arial"/>
              </a:defRPr>
            </a:lvl3pPr>
            <a:lvl4pPr>
              <a:defRPr sz="2100" b="0">
                <a:solidFill>
                  <a:srgbClr val="526971"/>
                </a:solidFill>
                <a:latin typeface="Arial"/>
                <a:ea typeface="Arial"/>
                <a:cs typeface="Arial"/>
              </a:defRPr>
            </a:lvl4pPr>
            <a:lvl5pPr>
              <a:defRPr sz="2100" b="0">
                <a:solidFill>
                  <a:srgbClr val="526971"/>
                </a:solidFill>
                <a:latin typeface="Arial"/>
                <a:ea typeface="Arial"/>
                <a:cs typeface="Arial"/>
              </a:defRPr>
            </a:lvl5pPr>
            <a:lvl6pPr>
              <a:defRPr sz="2100" b="0">
                <a:solidFill>
                  <a:srgbClr val="526971"/>
                </a:solidFill>
                <a:latin typeface="Arial"/>
                <a:ea typeface="Arial"/>
                <a:cs typeface="Arial"/>
              </a:defRPr>
            </a:lvl6pPr>
            <a:lvl7pPr>
              <a:defRPr sz="2100" b="0">
                <a:solidFill>
                  <a:srgbClr val="526971"/>
                </a:solidFill>
                <a:latin typeface="Arial"/>
                <a:ea typeface="Arial"/>
                <a:cs typeface="Arial"/>
              </a:defRPr>
            </a:lvl7pPr>
            <a:lvl8pPr>
              <a:defRPr sz="2100" b="0">
                <a:solidFill>
                  <a:srgbClr val="526971"/>
                </a:solidFill>
                <a:latin typeface="Arial"/>
                <a:ea typeface="Arial"/>
                <a:cs typeface="Arial"/>
              </a:defRPr>
            </a:lvl8pPr>
            <a:lvl9pPr>
              <a:defRPr sz="2100" b="0">
                <a:solidFill>
                  <a:srgbClr val="526971"/>
                </a:solidFill>
                <a:latin typeface="Arial"/>
                <a:ea typeface="Arial"/>
                <a:cs typeface="Arial"/>
              </a:defRPr>
            </a:lvl9pPr>
          </a:lstStyle>
          <a:p xmlns:a="http://schemas.openxmlformats.org/drawingml/2006/main">
            <a:pPr>
              <a:defRPr sz="2100" b="0">
                <a:solidFill>
                  <a:srgbClr val="526971"/>
                </a:solidFill>
                <a:latin typeface="Arial"/>
                <a:ea typeface="Arial"/>
                <a:cs typeface="Arial"/>
              </a:defRPr>
            </a:pPr>
            <a:r>
              <a:rPr sz="2100" b="0">
                <a:solidFill>
                  <a:srgbClr val="526971"/>
                </a:solidFill>
                <a:latin typeface="Arial"/>
                <a:ea typeface="Arial"/>
                <a:cs typeface="Arial"/>
              </a:rPr>
              <a:t>Track division, survival and selection</a:t>
            </a:r>
          </a:p>
        </p:txBody>
      </p:sp>
      <p:sp>
        <p:nvSpPr>
          <p:cNvPr id="13" name="">
            <a:extLst xmlns:a="http://schemas.openxmlformats.org/drawingml/2006/main">
              <a:ext uri="{FF2B5EF4-FFF2-40B4-BE49-F238E27FC236}">
                <a16:creationId xmlns:a16="http://schemas.microsoft.com/office/drawing/2014/main" id="{DD36833D-E75F-4F0C-8FFF-653152FB61DB}"/>
              </a:ext>
            </a:extLst>
          </p:cNvPr>
          <p:cNvSpPr>
            <a:spLocks xmlns:a="http://schemas.openxmlformats.org/drawingml/2006/main" noGrp="1"/>
          </p:cNvSpPr>
          <p:nvPr/>
        </p:nvSpPr>
        <p:spPr>
          <a:xfrm xmlns:a="http://schemas.openxmlformats.org/drawingml/2006/main">
            <a:off x="609600" y="57150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76C63"/>
                </a:solidFill>
                <a:latin typeface="Arial"/>
                <a:ea typeface="Arial"/>
                <a:cs typeface="Arial"/>
              </a:defRPr>
            </a:defPPr>
            <a:lvl1pPr>
              <a:defRPr sz="1875" b="0">
                <a:solidFill>
                  <a:srgbClr val="176C63"/>
                </a:solidFill>
                <a:latin typeface="Arial"/>
                <a:ea typeface="Arial"/>
                <a:cs typeface="Arial"/>
              </a:defRPr>
            </a:lvl1pPr>
            <a:lvl2pPr>
              <a:defRPr sz="1875" b="0">
                <a:solidFill>
                  <a:srgbClr val="176C63"/>
                </a:solidFill>
                <a:latin typeface="Arial"/>
                <a:ea typeface="Arial"/>
                <a:cs typeface="Arial"/>
              </a:defRPr>
            </a:lvl2pPr>
            <a:lvl3pPr>
              <a:defRPr sz="1875" b="0">
                <a:solidFill>
                  <a:srgbClr val="176C63"/>
                </a:solidFill>
                <a:latin typeface="Arial"/>
                <a:ea typeface="Arial"/>
                <a:cs typeface="Arial"/>
              </a:defRPr>
            </a:lvl3pPr>
            <a:lvl4pPr>
              <a:defRPr sz="1875" b="0">
                <a:solidFill>
                  <a:srgbClr val="176C63"/>
                </a:solidFill>
                <a:latin typeface="Arial"/>
                <a:ea typeface="Arial"/>
                <a:cs typeface="Arial"/>
              </a:defRPr>
            </a:lvl4pPr>
            <a:lvl5pPr>
              <a:defRPr sz="1875" b="0">
                <a:solidFill>
                  <a:srgbClr val="176C63"/>
                </a:solidFill>
                <a:latin typeface="Arial"/>
                <a:ea typeface="Arial"/>
                <a:cs typeface="Arial"/>
              </a:defRPr>
            </a:lvl5pPr>
            <a:lvl6pPr>
              <a:defRPr sz="1875" b="0">
                <a:solidFill>
                  <a:srgbClr val="176C63"/>
                </a:solidFill>
                <a:latin typeface="Arial"/>
                <a:ea typeface="Arial"/>
                <a:cs typeface="Arial"/>
              </a:defRPr>
            </a:lvl6pPr>
            <a:lvl7pPr>
              <a:defRPr sz="1875" b="0">
                <a:solidFill>
                  <a:srgbClr val="176C63"/>
                </a:solidFill>
                <a:latin typeface="Arial"/>
                <a:ea typeface="Arial"/>
                <a:cs typeface="Arial"/>
              </a:defRPr>
            </a:lvl7pPr>
            <a:lvl8pPr>
              <a:defRPr sz="1875" b="0">
                <a:solidFill>
                  <a:srgbClr val="176C63"/>
                </a:solidFill>
                <a:latin typeface="Arial"/>
                <a:ea typeface="Arial"/>
                <a:cs typeface="Arial"/>
              </a:defRPr>
            </a:lvl8pPr>
            <a:lvl9pPr>
              <a:defRPr sz="1875" b="0">
                <a:solidFill>
                  <a:srgbClr val="176C63"/>
                </a:solidFill>
                <a:latin typeface="Arial"/>
                <a:ea typeface="Arial"/>
                <a:cs typeface="Arial"/>
              </a:defRPr>
            </a:lvl9pPr>
          </a:lstStyle>
          <a:p xmlns:a="http://schemas.openxmlformats.org/drawingml/2006/main">
            <a:pPr>
              <a:defRPr sz="1875" b="0">
                <a:solidFill>
                  <a:srgbClr val="176C63"/>
                </a:solidFill>
                <a:latin typeface="Arial"/>
                <a:ea typeface="Arial"/>
                <a:cs typeface="Arial"/>
              </a:defRPr>
            </a:pPr>
            <a:r>
              <a:rPr sz="1875" b="0">
                <a:solidFill>
                  <a:srgbClr val="176C63"/>
                </a:solidFill>
                <a:latin typeface="Arial"/>
                <a:ea typeface="Arial"/>
                <a:cs typeface="Arial"/>
              </a:rPr>
              <a:t>Failed controls: indeterminate. Valid drug negative: stop the tested approach.</a:t>
            </a:r>
          </a:p>
        </p:txBody>
      </p:sp>
    </p:spTree>
    <p:extLst>
      <p:ext uri="{BB962C8B-B14F-4D97-AF65-F5344CB8AC3E}">
        <p14:creationId xmlns:p14="http://schemas.microsoft.com/office/powerpoint/2010/main" val="1319984067"/>
      </p:ext>
    </p:extLst>
  </p:cSld>
</p:sld>
</file>

<file path=ppt/slides/slide4.xml><?xml version="1.0" encoding="utf-8"?>
<p:sld xmlns:p="http://schemas.openxmlformats.org/presentationml/2006/main">
  <p:cSld>
    <p:bg>
      <p:bgPr>
        <a:solidFill xmlns:a="http://schemas.openxmlformats.org/drawingml/2006/main">
          <a:srgbClr val="F2F5F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A4C2374-A9F1-443C-BCD8-51716206D385}"/>
              </a:ext>
            </a:extLst>
          </p:cNvPr>
          <p:cNvSpPr>
            <a:spLocks xmlns:a="http://schemas.openxmlformats.org/drawingml/2006/main" noGrp="1"/>
          </p:cNvSpPr>
          <p:nvPr/>
        </p:nvSpPr>
        <p:spPr>
          <a:xfrm xmlns:a="http://schemas.openxmlformats.org/drawingml/2006/main">
            <a:off x="609600" y="5524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750" b="1">
                <a:solidFill>
                  <a:srgbClr val="17333E"/>
                </a:solidFill>
                <a:latin typeface="Arial"/>
                <a:ea typeface="Arial"/>
                <a:cs typeface="Arial"/>
              </a:defRPr>
            </a:defPPr>
            <a:lvl1pPr>
              <a:defRPr sz="3750" b="1">
                <a:solidFill>
                  <a:srgbClr val="17333E"/>
                </a:solidFill>
                <a:latin typeface="Arial"/>
                <a:ea typeface="Arial"/>
                <a:cs typeface="Arial"/>
              </a:defRPr>
            </a:lvl1pPr>
            <a:lvl2pPr>
              <a:defRPr sz="3750" b="1">
                <a:solidFill>
                  <a:srgbClr val="17333E"/>
                </a:solidFill>
                <a:latin typeface="Arial"/>
                <a:ea typeface="Arial"/>
                <a:cs typeface="Arial"/>
              </a:defRPr>
            </a:lvl2pPr>
            <a:lvl3pPr>
              <a:defRPr sz="3750" b="1">
                <a:solidFill>
                  <a:srgbClr val="17333E"/>
                </a:solidFill>
                <a:latin typeface="Arial"/>
                <a:ea typeface="Arial"/>
                <a:cs typeface="Arial"/>
              </a:defRPr>
            </a:lvl3pPr>
            <a:lvl4pPr>
              <a:defRPr sz="3750" b="1">
                <a:solidFill>
                  <a:srgbClr val="17333E"/>
                </a:solidFill>
                <a:latin typeface="Arial"/>
                <a:ea typeface="Arial"/>
                <a:cs typeface="Arial"/>
              </a:defRPr>
            </a:lvl4pPr>
            <a:lvl5pPr>
              <a:defRPr sz="3750" b="1">
                <a:solidFill>
                  <a:srgbClr val="17333E"/>
                </a:solidFill>
                <a:latin typeface="Arial"/>
                <a:ea typeface="Arial"/>
                <a:cs typeface="Arial"/>
              </a:defRPr>
            </a:lvl5pPr>
            <a:lvl6pPr>
              <a:defRPr sz="3750" b="1">
                <a:solidFill>
                  <a:srgbClr val="17333E"/>
                </a:solidFill>
                <a:latin typeface="Arial"/>
                <a:ea typeface="Arial"/>
                <a:cs typeface="Arial"/>
              </a:defRPr>
            </a:lvl6pPr>
            <a:lvl7pPr>
              <a:defRPr sz="3750" b="1">
                <a:solidFill>
                  <a:srgbClr val="17333E"/>
                </a:solidFill>
                <a:latin typeface="Arial"/>
                <a:ea typeface="Arial"/>
                <a:cs typeface="Arial"/>
              </a:defRPr>
            </a:lvl7pPr>
            <a:lvl8pPr>
              <a:defRPr sz="3750" b="1">
                <a:solidFill>
                  <a:srgbClr val="17333E"/>
                </a:solidFill>
                <a:latin typeface="Arial"/>
                <a:ea typeface="Arial"/>
                <a:cs typeface="Arial"/>
              </a:defRPr>
            </a:lvl8pPr>
            <a:lvl9pPr>
              <a:defRPr sz="3750" b="1">
                <a:solidFill>
                  <a:srgbClr val="17333E"/>
                </a:solidFill>
                <a:latin typeface="Arial"/>
                <a:ea typeface="Arial"/>
                <a:cs typeface="Arial"/>
              </a:defRPr>
            </a:lvl9pPr>
          </a:lstStyle>
          <a:p xmlns:a="http://schemas.openxmlformats.org/drawingml/2006/main">
            <a:pPr>
              <a:defRPr sz="3750" b="1">
                <a:solidFill>
                  <a:srgbClr val="17333E"/>
                </a:solidFill>
                <a:latin typeface="Arial"/>
                <a:ea typeface="Arial"/>
                <a:cs typeface="Arial"/>
              </a:defRPr>
            </a:pPr>
            <a:r>
              <a:rPr sz="3750" b="1">
                <a:solidFill>
                  <a:srgbClr val="17333E"/>
                </a:solidFill>
                <a:latin typeface="Arial"/>
                <a:ea typeface="Arial"/>
                <a:cs typeface="Arial"/>
              </a:rPr>
              <a:t>Gene-to-condition navigator</a:t>
            </a:r>
          </a:p>
        </p:txBody>
      </p:sp>
      <p:sp>
        <p:nvSpPr>
          <p:cNvPr id="2" name="">
            <a:extLst xmlns:a="http://schemas.openxmlformats.org/drawingml/2006/main">
              <a:ext uri="{FF2B5EF4-FFF2-40B4-BE49-F238E27FC236}">
                <a16:creationId xmlns:a16="http://schemas.microsoft.com/office/drawing/2014/main" id="{EBBA75DD-244D-402A-BFC0-7B746125AC1D}"/>
              </a:ext>
            </a:extLst>
          </p:cNvPr>
          <p:cNvSpPr>
            <a:spLocks xmlns:a="http://schemas.openxmlformats.org/drawingml/2006/main" noGrp="1"/>
          </p:cNvSpPr>
          <p:nvPr/>
        </p:nvSpPr>
        <p:spPr>
          <a:xfrm xmlns:a="http://schemas.openxmlformats.org/drawingml/2006/main">
            <a:off x="10953750" y="63436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971"/>
                </a:solidFill>
                <a:latin typeface="Arial"/>
                <a:ea typeface="Arial"/>
                <a:cs typeface="Arial"/>
              </a:defRPr>
            </a:defPPr>
            <a:lvl1pPr>
              <a:defRPr sz="1350" b="0">
                <a:solidFill>
                  <a:srgbClr val="526971"/>
                </a:solidFill>
                <a:latin typeface="Arial"/>
                <a:ea typeface="Arial"/>
                <a:cs typeface="Arial"/>
              </a:defRPr>
            </a:lvl1pPr>
            <a:lvl2pPr>
              <a:defRPr sz="1350" b="0">
                <a:solidFill>
                  <a:srgbClr val="526971"/>
                </a:solidFill>
                <a:latin typeface="Arial"/>
                <a:ea typeface="Arial"/>
                <a:cs typeface="Arial"/>
              </a:defRPr>
            </a:lvl2pPr>
            <a:lvl3pPr>
              <a:defRPr sz="1350" b="0">
                <a:solidFill>
                  <a:srgbClr val="526971"/>
                </a:solidFill>
                <a:latin typeface="Arial"/>
                <a:ea typeface="Arial"/>
                <a:cs typeface="Arial"/>
              </a:defRPr>
            </a:lvl3pPr>
            <a:lvl4pPr>
              <a:defRPr sz="1350" b="0">
                <a:solidFill>
                  <a:srgbClr val="526971"/>
                </a:solidFill>
                <a:latin typeface="Arial"/>
                <a:ea typeface="Arial"/>
                <a:cs typeface="Arial"/>
              </a:defRPr>
            </a:lvl4pPr>
            <a:lvl5pPr>
              <a:defRPr sz="1350" b="0">
                <a:solidFill>
                  <a:srgbClr val="526971"/>
                </a:solidFill>
                <a:latin typeface="Arial"/>
                <a:ea typeface="Arial"/>
                <a:cs typeface="Arial"/>
              </a:defRPr>
            </a:lvl5pPr>
            <a:lvl6pPr>
              <a:defRPr sz="1350" b="0">
                <a:solidFill>
                  <a:srgbClr val="526971"/>
                </a:solidFill>
                <a:latin typeface="Arial"/>
                <a:ea typeface="Arial"/>
                <a:cs typeface="Arial"/>
              </a:defRPr>
            </a:lvl6pPr>
            <a:lvl7pPr>
              <a:defRPr sz="1350" b="0">
                <a:solidFill>
                  <a:srgbClr val="526971"/>
                </a:solidFill>
                <a:latin typeface="Arial"/>
                <a:ea typeface="Arial"/>
                <a:cs typeface="Arial"/>
              </a:defRPr>
            </a:lvl7pPr>
            <a:lvl8pPr>
              <a:defRPr sz="1350" b="0">
                <a:solidFill>
                  <a:srgbClr val="526971"/>
                </a:solidFill>
                <a:latin typeface="Arial"/>
                <a:ea typeface="Arial"/>
                <a:cs typeface="Arial"/>
              </a:defRPr>
            </a:lvl8pPr>
            <a:lvl9pPr>
              <a:defRPr sz="1350" b="0">
                <a:solidFill>
                  <a:srgbClr val="526971"/>
                </a:solidFill>
                <a:latin typeface="Arial"/>
                <a:ea typeface="Arial"/>
                <a:cs typeface="Arial"/>
              </a:defRPr>
            </a:lvl9pPr>
          </a:lstStyle>
          <a:p xmlns:a="http://schemas.openxmlformats.org/drawingml/2006/main">
            <a:pPr>
              <a:defRPr sz="1350" b="0">
                <a:solidFill>
                  <a:srgbClr val="526971"/>
                </a:solidFill>
                <a:latin typeface="Arial"/>
                <a:ea typeface="Arial"/>
                <a:cs typeface="Arial"/>
              </a:defRPr>
            </a:pPr>
            <a:r>
              <a:rPr sz="1350" b="0">
                <a:solidFill>
                  <a:srgbClr val="526971"/>
                </a:solidFill>
                <a:latin typeface="Arial"/>
                <a:ea typeface="Arial"/>
                <a:cs typeface="Arial"/>
              </a:rPr>
              <a:t>4/6</a:t>
            </a:r>
          </a:p>
        </p:txBody>
      </p:sp>
      <p:sp>
        <p:nvSpPr>
          <p:cNvPr id="3" name="">
            <a:extLst xmlns:a="http://schemas.openxmlformats.org/drawingml/2006/main">
              <a:ext uri="{FF2B5EF4-FFF2-40B4-BE49-F238E27FC236}">
                <a16:creationId xmlns:a16="http://schemas.microsoft.com/office/drawing/2014/main" id="{B6FE5B9C-2732-40ED-8999-6CD9C5DE9ABB}"/>
              </a:ext>
            </a:extLst>
          </p:cNvPr>
          <p:cNvSpPr>
            <a:spLocks xmlns:a="http://schemas.openxmlformats.org/drawingml/2006/main" noGrp="1"/>
          </p:cNvSpPr>
          <p:nvPr/>
        </p:nvSpPr>
        <p:spPr>
          <a:xfrm xmlns:a="http://schemas.openxmlformats.org/drawingml/2006/main">
            <a:off x="609600" y="63436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971"/>
                </a:solidFill>
                <a:latin typeface="Arial"/>
                <a:ea typeface="Arial"/>
                <a:cs typeface="Arial"/>
              </a:defRPr>
            </a:defPPr>
            <a:lvl1pPr>
              <a:defRPr sz="1200" b="0">
                <a:solidFill>
                  <a:srgbClr val="526971"/>
                </a:solidFill>
                <a:latin typeface="Arial"/>
                <a:ea typeface="Arial"/>
                <a:cs typeface="Arial"/>
              </a:defRPr>
            </a:lvl1pPr>
            <a:lvl2pPr>
              <a:defRPr sz="1200" b="0">
                <a:solidFill>
                  <a:srgbClr val="526971"/>
                </a:solidFill>
                <a:latin typeface="Arial"/>
                <a:ea typeface="Arial"/>
                <a:cs typeface="Arial"/>
              </a:defRPr>
            </a:lvl2pPr>
            <a:lvl3pPr>
              <a:defRPr sz="1200" b="0">
                <a:solidFill>
                  <a:srgbClr val="526971"/>
                </a:solidFill>
                <a:latin typeface="Arial"/>
                <a:ea typeface="Arial"/>
                <a:cs typeface="Arial"/>
              </a:defRPr>
            </a:lvl3pPr>
            <a:lvl4pPr>
              <a:defRPr sz="1200" b="0">
                <a:solidFill>
                  <a:srgbClr val="526971"/>
                </a:solidFill>
                <a:latin typeface="Arial"/>
                <a:ea typeface="Arial"/>
                <a:cs typeface="Arial"/>
              </a:defRPr>
            </a:lvl4pPr>
            <a:lvl5pPr>
              <a:defRPr sz="1200" b="0">
                <a:solidFill>
                  <a:srgbClr val="526971"/>
                </a:solidFill>
                <a:latin typeface="Arial"/>
                <a:ea typeface="Arial"/>
                <a:cs typeface="Arial"/>
              </a:defRPr>
            </a:lvl5pPr>
            <a:lvl6pPr>
              <a:defRPr sz="1200" b="0">
                <a:solidFill>
                  <a:srgbClr val="526971"/>
                </a:solidFill>
                <a:latin typeface="Arial"/>
                <a:ea typeface="Arial"/>
                <a:cs typeface="Arial"/>
              </a:defRPr>
            </a:lvl6pPr>
            <a:lvl7pPr>
              <a:defRPr sz="1200" b="0">
                <a:solidFill>
                  <a:srgbClr val="526971"/>
                </a:solidFill>
                <a:latin typeface="Arial"/>
                <a:ea typeface="Arial"/>
                <a:cs typeface="Arial"/>
              </a:defRPr>
            </a:lvl7pPr>
            <a:lvl8pPr>
              <a:defRPr sz="1200" b="0">
                <a:solidFill>
                  <a:srgbClr val="526971"/>
                </a:solidFill>
                <a:latin typeface="Arial"/>
                <a:ea typeface="Arial"/>
                <a:cs typeface="Arial"/>
              </a:defRPr>
            </a:lvl8pPr>
            <a:lvl9pPr>
              <a:defRPr sz="1200" b="0">
                <a:solidFill>
                  <a:srgbClr val="526971"/>
                </a:solidFill>
                <a:latin typeface="Arial"/>
                <a:ea typeface="Arial"/>
                <a:cs typeface="Arial"/>
              </a:defRPr>
            </a:lvl9pPr>
          </a:lstStyle>
          <a:p xmlns:a="http://schemas.openxmlformats.org/drawingml/2006/main">
            <a:pPr>
              <a:defRPr sz="1200" b="0">
                <a:solidFill>
                  <a:srgbClr val="526971"/>
                </a:solidFill>
                <a:latin typeface="Arial"/>
                <a:ea typeface="Arial"/>
                <a:cs typeface="Arial"/>
              </a:defRPr>
            </a:pPr>
            <a:r>
              <a:rPr sz="1200" b="0">
                <a:solidFill>
                  <a:srgbClr val="526971"/>
                </a:solidFill>
                <a:latin typeface="Arial"/>
                <a:ea typeface="Arial"/>
                <a:cs typeface="Arial"/>
              </a:rPr>
              <a:t>HFEA workbook 2026-08-05  /  hashed mapping sources</a:t>
            </a:r>
          </a:p>
        </p:txBody>
      </p:sp>
      <p:pic>
        <p:nvPicPr>
          <p:cNvPr id="4" name="">
            <a:extLst xmlns:a="http://schemas.openxmlformats.org/drawingml/2006/main">
              <a:ext uri="{FF2B5EF4-FFF2-40B4-BE49-F238E27FC236}">
                <a16:creationId xmlns:a16="http://schemas.microsoft.com/office/drawing/2014/main" id="{F181680B-8BB7-4CD7-BB44-6E36FD41DB30}"/>
              </a:ext>
            </a:extLst>
          </p:cNvPr>
          <p:cNvPicPr>
            <a:picLocks xmlns:a="http://schemas.openxmlformats.org/drawingml/2006/main" noChangeAspect="1"/>
          </p:cNvPicPr>
          <p:nvPr/>
        </p:nvPicPr>
        <p:blipFill>
          <a:blip xmlns:r="http://schemas.openxmlformats.org/officeDocument/2006/relationships" xmlns:a="http://schemas.openxmlformats.org/drawingml/2006/main" r:embed="R3127376f20c947ed"/>
          <a:stretch xmlns:a="http://schemas.openxmlformats.org/drawingml/2006/main"/>
        </p:blipFill>
        <p:spPr>
          <a:xfrm xmlns:a="http://schemas.openxmlformats.org/drawingml/2006/main">
            <a:off x="990600" y="1638300"/>
            <a:ext cx="6286500" cy="4572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BC9EB1C-4DFB-462B-8051-A4446A6A9869}"/>
              </a:ext>
            </a:extLst>
          </p:cNvPr>
          <p:cNvSpPr>
            <a:spLocks xmlns:a="http://schemas.openxmlformats.org/drawingml/2006/main" noGrp="1"/>
          </p:cNvSpPr>
          <p:nvPr/>
        </p:nvSpPr>
        <p:spPr>
          <a:xfrm xmlns:a="http://schemas.openxmlformats.org/drawingml/2006/main">
            <a:off x="8048625" y="2047875"/>
            <a:ext cx="3476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76C63"/>
                </a:solidFill>
                <a:latin typeface="Arial"/>
                <a:ea typeface="Arial"/>
                <a:cs typeface="Arial"/>
              </a:defRPr>
            </a:defPPr>
            <a:lvl1pPr>
              <a:defRPr sz="3150" b="1">
                <a:solidFill>
                  <a:srgbClr val="176C63"/>
                </a:solidFill>
                <a:latin typeface="Arial"/>
                <a:ea typeface="Arial"/>
                <a:cs typeface="Arial"/>
              </a:defRPr>
            </a:lvl1pPr>
            <a:lvl2pPr>
              <a:defRPr sz="3150" b="1">
                <a:solidFill>
                  <a:srgbClr val="176C63"/>
                </a:solidFill>
                <a:latin typeface="Arial"/>
                <a:ea typeface="Arial"/>
                <a:cs typeface="Arial"/>
              </a:defRPr>
            </a:lvl2pPr>
            <a:lvl3pPr>
              <a:defRPr sz="3150" b="1">
                <a:solidFill>
                  <a:srgbClr val="176C63"/>
                </a:solidFill>
                <a:latin typeface="Arial"/>
                <a:ea typeface="Arial"/>
                <a:cs typeface="Arial"/>
              </a:defRPr>
            </a:lvl3pPr>
            <a:lvl4pPr>
              <a:defRPr sz="3150" b="1">
                <a:solidFill>
                  <a:srgbClr val="176C63"/>
                </a:solidFill>
                <a:latin typeface="Arial"/>
                <a:ea typeface="Arial"/>
                <a:cs typeface="Arial"/>
              </a:defRPr>
            </a:lvl4pPr>
            <a:lvl5pPr>
              <a:defRPr sz="3150" b="1">
                <a:solidFill>
                  <a:srgbClr val="176C63"/>
                </a:solidFill>
                <a:latin typeface="Arial"/>
                <a:ea typeface="Arial"/>
                <a:cs typeface="Arial"/>
              </a:defRPr>
            </a:lvl5pPr>
            <a:lvl6pPr>
              <a:defRPr sz="3150" b="1">
                <a:solidFill>
                  <a:srgbClr val="176C63"/>
                </a:solidFill>
                <a:latin typeface="Arial"/>
                <a:ea typeface="Arial"/>
                <a:cs typeface="Arial"/>
              </a:defRPr>
            </a:lvl6pPr>
            <a:lvl7pPr>
              <a:defRPr sz="3150" b="1">
                <a:solidFill>
                  <a:srgbClr val="176C63"/>
                </a:solidFill>
                <a:latin typeface="Arial"/>
                <a:ea typeface="Arial"/>
                <a:cs typeface="Arial"/>
              </a:defRPr>
            </a:lvl7pPr>
            <a:lvl8pPr>
              <a:defRPr sz="3150" b="1">
                <a:solidFill>
                  <a:srgbClr val="176C63"/>
                </a:solidFill>
                <a:latin typeface="Arial"/>
                <a:ea typeface="Arial"/>
                <a:cs typeface="Arial"/>
              </a:defRPr>
            </a:lvl8pPr>
            <a:lvl9pPr>
              <a:defRPr sz="3150" b="1">
                <a:solidFill>
                  <a:srgbClr val="176C63"/>
                </a:solidFill>
                <a:latin typeface="Arial"/>
                <a:ea typeface="Arial"/>
                <a:cs typeface="Arial"/>
              </a:defRPr>
            </a:lvl9pPr>
          </a:lstStyle>
          <a:p xmlns:a="http://schemas.openxmlformats.org/drawingml/2006/main">
            <a:pPr>
              <a:defRPr sz="3150" b="1">
                <a:solidFill>
                  <a:srgbClr val="176C63"/>
                </a:solidFill>
                <a:latin typeface="Arial"/>
                <a:ea typeface="Arial"/>
                <a:cs typeface="Arial"/>
              </a:defRPr>
            </a:pPr>
            <a:r>
              <a:rPr sz="3150" b="1">
                <a:solidFill>
                  <a:srgbClr val="176C63"/>
                </a:solidFill>
                <a:latin typeface="Arial"/>
                <a:ea typeface="Arial"/>
                <a:cs typeface="Arial"/>
              </a:rPr>
              <a:t>2,063 rows</a:t>
            </a:r>
          </a:p>
        </p:txBody>
      </p:sp>
      <p:sp>
        <p:nvSpPr>
          <p:cNvPr id="6" name="">
            <a:extLst xmlns:a="http://schemas.openxmlformats.org/drawingml/2006/main">
              <a:ext uri="{FF2B5EF4-FFF2-40B4-BE49-F238E27FC236}">
                <a16:creationId xmlns:a16="http://schemas.microsoft.com/office/drawing/2014/main" id="{A0386C30-A5F4-41FB-A68D-4129467B735C}"/>
              </a:ext>
            </a:extLst>
          </p:cNvPr>
          <p:cNvSpPr>
            <a:spLocks xmlns:a="http://schemas.openxmlformats.org/drawingml/2006/main" noGrp="1"/>
          </p:cNvSpPr>
          <p:nvPr/>
        </p:nvSpPr>
        <p:spPr>
          <a:xfrm xmlns:a="http://schemas.openxmlformats.org/drawingml/2006/main">
            <a:off x="8048625" y="3048000"/>
            <a:ext cx="338137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7333E"/>
                </a:solidFill>
                <a:latin typeface="Arial"/>
                <a:ea typeface="Arial"/>
                <a:cs typeface="Arial"/>
              </a:defRPr>
            </a:defPPr>
            <a:lvl1pPr>
              <a:defRPr sz="2175" b="0">
                <a:solidFill>
                  <a:srgbClr val="17333E"/>
                </a:solidFill>
                <a:latin typeface="Arial"/>
                <a:ea typeface="Arial"/>
                <a:cs typeface="Arial"/>
              </a:defRPr>
            </a:lvl1pPr>
            <a:lvl2pPr>
              <a:defRPr sz="2175" b="0">
                <a:solidFill>
                  <a:srgbClr val="17333E"/>
                </a:solidFill>
                <a:latin typeface="Arial"/>
                <a:ea typeface="Arial"/>
                <a:cs typeface="Arial"/>
              </a:defRPr>
            </a:lvl2pPr>
            <a:lvl3pPr>
              <a:defRPr sz="2175" b="0">
                <a:solidFill>
                  <a:srgbClr val="17333E"/>
                </a:solidFill>
                <a:latin typeface="Arial"/>
                <a:ea typeface="Arial"/>
                <a:cs typeface="Arial"/>
              </a:defRPr>
            </a:lvl3pPr>
            <a:lvl4pPr>
              <a:defRPr sz="2175" b="0">
                <a:solidFill>
                  <a:srgbClr val="17333E"/>
                </a:solidFill>
                <a:latin typeface="Arial"/>
                <a:ea typeface="Arial"/>
                <a:cs typeface="Arial"/>
              </a:defRPr>
            </a:lvl4pPr>
            <a:lvl5pPr>
              <a:defRPr sz="2175" b="0">
                <a:solidFill>
                  <a:srgbClr val="17333E"/>
                </a:solidFill>
                <a:latin typeface="Arial"/>
                <a:ea typeface="Arial"/>
                <a:cs typeface="Arial"/>
              </a:defRPr>
            </a:lvl5pPr>
            <a:lvl6pPr>
              <a:defRPr sz="2175" b="0">
                <a:solidFill>
                  <a:srgbClr val="17333E"/>
                </a:solidFill>
                <a:latin typeface="Arial"/>
                <a:ea typeface="Arial"/>
                <a:cs typeface="Arial"/>
              </a:defRPr>
            </a:lvl6pPr>
            <a:lvl7pPr>
              <a:defRPr sz="2175" b="0">
                <a:solidFill>
                  <a:srgbClr val="17333E"/>
                </a:solidFill>
                <a:latin typeface="Arial"/>
                <a:ea typeface="Arial"/>
                <a:cs typeface="Arial"/>
              </a:defRPr>
            </a:lvl7pPr>
            <a:lvl8pPr>
              <a:defRPr sz="2175" b="0">
                <a:solidFill>
                  <a:srgbClr val="17333E"/>
                </a:solidFill>
                <a:latin typeface="Arial"/>
                <a:ea typeface="Arial"/>
                <a:cs typeface="Arial"/>
              </a:defRPr>
            </a:lvl8pPr>
            <a:lvl9pPr>
              <a:defRPr sz="2175" b="0">
                <a:solidFill>
                  <a:srgbClr val="17333E"/>
                </a:solidFill>
                <a:latin typeface="Arial"/>
                <a:ea typeface="Arial"/>
                <a:cs typeface="Arial"/>
              </a:defRPr>
            </a:lvl9pPr>
          </a:lstStyle>
          <a:p xmlns:a="http://schemas.openxmlformats.org/drawingml/2006/main">
            <a:pPr>
              <a:defRPr sz="2175" b="0">
                <a:solidFill>
                  <a:srgbClr val="17333E"/>
                </a:solidFill>
                <a:latin typeface="Arial"/>
                <a:ea typeface="Arial"/>
                <a:cs typeface="Arial"/>
              </a:defRPr>
            </a:pPr>
            <a:r>
              <a:rPr sz="2175" b="0">
                <a:solidFill>
                  <a:srgbClr val="17333E"/>
                </a:solidFill>
                <a:latin typeface="Arial"/>
                <a:ea typeface="Arial"/>
                <a:cs typeface="Arial"/>
              </a:rPr>
              <a:t>35 unmapped</a:t>
            </a:r>
          </a:p>
          <a:p xmlns:a="http://schemas.openxmlformats.org/drawingml/2006/main">
            <a:pPr>
              <a:defRPr sz="2175" b="0">
                <a:solidFill>
                  <a:srgbClr val="17333E"/>
                </a:solidFill>
                <a:latin typeface="Arial"/>
                <a:ea typeface="Arial"/>
                <a:cs typeface="Arial"/>
              </a:defRPr>
            </a:pPr>
            <a:r>
              <a:rPr sz="2175" b="0">
                <a:solidFill>
                  <a:srgbClr val="17333E"/>
                </a:solidFill>
                <a:latin typeface="Arial"/>
                <a:ea typeface="Arial"/>
                <a:cs typeface="Arial"/>
              </a:rPr>
              <a:t>Source disagreements visible</a:t>
            </a:r>
          </a:p>
          <a:p xmlns:a="http://schemas.openxmlformats.org/drawingml/2006/main">
            <a:pPr>
              <a:defRPr sz="2175" b="0">
                <a:solidFill>
                  <a:srgbClr val="17333E"/>
                </a:solidFill>
                <a:latin typeface="Arial"/>
                <a:ea typeface="Arial"/>
                <a:cs typeface="Arial"/>
              </a:defRPr>
            </a:pPr>
            <a:r>
              <a:rPr sz="2175" b="0">
                <a:solidFill>
                  <a:srgbClr val="17333E"/>
                </a:solidFill>
                <a:latin typeface="Arial"/>
                <a:ea typeface="Arial"/>
                <a:cs typeface="Arial"/>
              </a:rPr>
              <a:t>Queries stay on device</a:t>
            </a:r>
          </a:p>
        </p:txBody>
      </p:sp>
      <p:sp>
        <p:nvSpPr>
          <p:cNvPr id="7" name="">
            <a:extLst xmlns:a="http://schemas.openxmlformats.org/drawingml/2006/main">
              <a:ext uri="{FF2B5EF4-FFF2-40B4-BE49-F238E27FC236}">
                <a16:creationId xmlns:a16="http://schemas.microsoft.com/office/drawing/2014/main" id="{A96ADB55-4218-4156-B600-0A30C7317F49}"/>
              </a:ext>
            </a:extLst>
          </p:cNvPr>
          <p:cNvSpPr>
            <a:spLocks xmlns:a="http://schemas.openxmlformats.org/drawingml/2006/main" noGrp="1"/>
          </p:cNvSpPr>
          <p:nvPr/>
        </p:nvSpPr>
        <p:spPr>
          <a:xfrm xmlns:a="http://schemas.openxmlformats.org/drawingml/2006/main">
            <a:off x="8048625" y="5143500"/>
            <a:ext cx="33813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526971"/>
                </a:solidFill>
                <a:latin typeface="Arial"/>
                <a:ea typeface="Arial"/>
                <a:cs typeface="Arial"/>
              </a:defRPr>
            </a:defPPr>
            <a:lvl1pPr>
              <a:defRPr sz="2100" b="0">
                <a:solidFill>
                  <a:srgbClr val="526971"/>
                </a:solidFill>
                <a:latin typeface="Arial"/>
                <a:ea typeface="Arial"/>
                <a:cs typeface="Arial"/>
              </a:defRPr>
            </a:lvl1pPr>
            <a:lvl2pPr>
              <a:defRPr sz="2100" b="0">
                <a:solidFill>
                  <a:srgbClr val="526971"/>
                </a:solidFill>
                <a:latin typeface="Arial"/>
                <a:ea typeface="Arial"/>
                <a:cs typeface="Arial"/>
              </a:defRPr>
            </a:lvl2pPr>
            <a:lvl3pPr>
              <a:defRPr sz="2100" b="0">
                <a:solidFill>
                  <a:srgbClr val="526971"/>
                </a:solidFill>
                <a:latin typeface="Arial"/>
                <a:ea typeface="Arial"/>
                <a:cs typeface="Arial"/>
              </a:defRPr>
            </a:lvl3pPr>
            <a:lvl4pPr>
              <a:defRPr sz="2100" b="0">
                <a:solidFill>
                  <a:srgbClr val="526971"/>
                </a:solidFill>
                <a:latin typeface="Arial"/>
                <a:ea typeface="Arial"/>
                <a:cs typeface="Arial"/>
              </a:defRPr>
            </a:lvl4pPr>
            <a:lvl5pPr>
              <a:defRPr sz="2100" b="0">
                <a:solidFill>
                  <a:srgbClr val="526971"/>
                </a:solidFill>
                <a:latin typeface="Arial"/>
                <a:ea typeface="Arial"/>
                <a:cs typeface="Arial"/>
              </a:defRPr>
            </a:lvl5pPr>
            <a:lvl6pPr>
              <a:defRPr sz="2100" b="0">
                <a:solidFill>
                  <a:srgbClr val="526971"/>
                </a:solidFill>
                <a:latin typeface="Arial"/>
                <a:ea typeface="Arial"/>
                <a:cs typeface="Arial"/>
              </a:defRPr>
            </a:lvl6pPr>
            <a:lvl7pPr>
              <a:defRPr sz="2100" b="0">
                <a:solidFill>
                  <a:srgbClr val="526971"/>
                </a:solidFill>
                <a:latin typeface="Arial"/>
                <a:ea typeface="Arial"/>
                <a:cs typeface="Arial"/>
              </a:defRPr>
            </a:lvl7pPr>
            <a:lvl8pPr>
              <a:defRPr sz="2100" b="0">
                <a:solidFill>
                  <a:srgbClr val="526971"/>
                </a:solidFill>
                <a:latin typeface="Arial"/>
                <a:ea typeface="Arial"/>
                <a:cs typeface="Arial"/>
              </a:defRPr>
            </a:lvl8pPr>
            <a:lvl9pPr>
              <a:defRPr sz="2100" b="0">
                <a:solidFill>
                  <a:srgbClr val="526971"/>
                </a:solidFill>
                <a:latin typeface="Arial"/>
                <a:ea typeface="Arial"/>
                <a:cs typeface="Arial"/>
              </a:defRPr>
            </a:lvl9pPr>
          </a:lstStyle>
          <a:p xmlns:a="http://schemas.openxmlformats.org/drawingml/2006/main">
            <a:pPr>
              <a:defRPr sz="2100" b="0">
                <a:solidFill>
                  <a:srgbClr val="526971"/>
                </a:solidFill>
                <a:latin typeface="Arial"/>
                <a:ea typeface="Arial"/>
                <a:cs typeface="Arial"/>
              </a:defRPr>
            </a:pPr>
            <a:r>
              <a:rPr sz="2100" b="0">
                <a:solidFill>
                  <a:srgbClr val="526971"/>
                </a:solidFill>
                <a:latin typeface="Arial"/>
                <a:ea typeface="Arial"/>
                <a:cs typeface="Arial"/>
              </a:rPr>
              <a:t>Confirm eligibility</a:t>
            </a:r>
          </a:p>
          <a:p xmlns:a="http://schemas.openxmlformats.org/drawingml/2006/main">
            <a:pPr>
              <a:defRPr sz="2100" b="0">
                <a:solidFill>
                  <a:srgbClr val="526971"/>
                </a:solidFill>
                <a:latin typeface="Arial"/>
                <a:ea typeface="Arial"/>
                <a:cs typeface="Arial"/>
              </a:defRPr>
            </a:pPr>
            <a:r>
              <a:rPr sz="2100" b="0">
                <a:solidFill>
                  <a:srgbClr val="526971"/>
                </a:solidFill>
                <a:latin typeface="Arial"/>
                <a:ea typeface="Arial"/>
                <a:cs typeface="Arial"/>
              </a:rPr>
              <a:t>with the clinic.</a:t>
            </a:r>
          </a:p>
        </p:txBody>
      </p:sp>
    </p:spTree>
    <p:extLst>
      <p:ext uri="{BB962C8B-B14F-4D97-AF65-F5344CB8AC3E}">
        <p14:creationId xmlns:p14="http://schemas.microsoft.com/office/powerpoint/2010/main" val="1764304328"/>
      </p:ext>
    </p:extLst>
  </p:cSld>
</p:sld>
</file>

<file path=ppt/slides/slide5.xml><?xml version="1.0" encoding="utf-8"?>
<p:sld xmlns:p="http://schemas.openxmlformats.org/presentationml/2006/main">
  <p:cSld>
    <p:bg>
      <p:bgPr>
        <a:solidFill xmlns:a="http://schemas.openxmlformats.org/drawingml/2006/main">
          <a:srgbClr val="F2F5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6CB65B3-4CA2-465C-B1AE-C71011499843}"/>
              </a:ext>
            </a:extLst>
          </p:cNvPr>
          <p:cNvSpPr>
            <a:spLocks xmlns:a="http://schemas.openxmlformats.org/drawingml/2006/main" noGrp="1"/>
          </p:cNvSpPr>
          <p:nvPr/>
        </p:nvSpPr>
        <p:spPr>
          <a:xfrm xmlns:a="http://schemas.openxmlformats.org/drawingml/2006/main">
            <a:off x="609600" y="5524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750" b="1">
                <a:solidFill>
                  <a:srgbClr val="17333E"/>
                </a:solidFill>
                <a:latin typeface="Arial"/>
                <a:ea typeface="Arial"/>
                <a:cs typeface="Arial"/>
              </a:defRPr>
            </a:defPPr>
            <a:lvl1pPr>
              <a:defRPr sz="3750" b="1">
                <a:solidFill>
                  <a:srgbClr val="17333E"/>
                </a:solidFill>
                <a:latin typeface="Arial"/>
                <a:ea typeface="Arial"/>
                <a:cs typeface="Arial"/>
              </a:defRPr>
            </a:lvl1pPr>
            <a:lvl2pPr>
              <a:defRPr sz="3750" b="1">
                <a:solidFill>
                  <a:srgbClr val="17333E"/>
                </a:solidFill>
                <a:latin typeface="Arial"/>
                <a:ea typeface="Arial"/>
                <a:cs typeface="Arial"/>
              </a:defRPr>
            </a:lvl2pPr>
            <a:lvl3pPr>
              <a:defRPr sz="3750" b="1">
                <a:solidFill>
                  <a:srgbClr val="17333E"/>
                </a:solidFill>
                <a:latin typeface="Arial"/>
                <a:ea typeface="Arial"/>
                <a:cs typeface="Arial"/>
              </a:defRPr>
            </a:lvl3pPr>
            <a:lvl4pPr>
              <a:defRPr sz="3750" b="1">
                <a:solidFill>
                  <a:srgbClr val="17333E"/>
                </a:solidFill>
                <a:latin typeface="Arial"/>
                <a:ea typeface="Arial"/>
                <a:cs typeface="Arial"/>
              </a:defRPr>
            </a:lvl4pPr>
            <a:lvl5pPr>
              <a:defRPr sz="3750" b="1">
                <a:solidFill>
                  <a:srgbClr val="17333E"/>
                </a:solidFill>
                <a:latin typeface="Arial"/>
                <a:ea typeface="Arial"/>
                <a:cs typeface="Arial"/>
              </a:defRPr>
            </a:lvl5pPr>
            <a:lvl6pPr>
              <a:defRPr sz="3750" b="1">
                <a:solidFill>
                  <a:srgbClr val="17333E"/>
                </a:solidFill>
                <a:latin typeface="Arial"/>
                <a:ea typeface="Arial"/>
                <a:cs typeface="Arial"/>
              </a:defRPr>
            </a:lvl6pPr>
            <a:lvl7pPr>
              <a:defRPr sz="3750" b="1">
                <a:solidFill>
                  <a:srgbClr val="17333E"/>
                </a:solidFill>
                <a:latin typeface="Arial"/>
                <a:ea typeface="Arial"/>
                <a:cs typeface="Arial"/>
              </a:defRPr>
            </a:lvl7pPr>
            <a:lvl8pPr>
              <a:defRPr sz="3750" b="1">
                <a:solidFill>
                  <a:srgbClr val="17333E"/>
                </a:solidFill>
                <a:latin typeface="Arial"/>
                <a:ea typeface="Arial"/>
                <a:cs typeface="Arial"/>
              </a:defRPr>
            </a:lvl8pPr>
            <a:lvl9pPr>
              <a:defRPr sz="3750" b="1">
                <a:solidFill>
                  <a:srgbClr val="17333E"/>
                </a:solidFill>
                <a:latin typeface="Arial"/>
                <a:ea typeface="Arial"/>
                <a:cs typeface="Arial"/>
              </a:defRPr>
            </a:lvl9pPr>
          </a:lstStyle>
          <a:p xmlns:a="http://schemas.openxmlformats.org/drawingml/2006/main">
            <a:pPr>
              <a:defRPr sz="3750" b="1">
                <a:solidFill>
                  <a:srgbClr val="17333E"/>
                </a:solidFill>
                <a:latin typeface="Arial"/>
                <a:ea typeface="Arial"/>
                <a:cs typeface="Arial"/>
              </a:defRPr>
            </a:pPr>
            <a:r>
              <a:rPr sz="3750" b="1">
                <a:solidFill>
                  <a:srgbClr val="17333E"/>
                </a:solidFill>
                <a:latin typeface="Arial"/>
                <a:ea typeface="Arial"/>
                <a:cs typeface="Arial"/>
              </a:rPr>
              <a:t>Six model controls passed</a:t>
            </a:r>
          </a:p>
        </p:txBody>
      </p:sp>
      <p:sp>
        <p:nvSpPr>
          <p:cNvPr id="2" name="">
            <a:extLst xmlns:a="http://schemas.openxmlformats.org/drawingml/2006/main">
              <a:ext uri="{FF2B5EF4-FFF2-40B4-BE49-F238E27FC236}">
                <a16:creationId xmlns:a16="http://schemas.microsoft.com/office/drawing/2014/main" id="{9B6A8B4C-9F3E-4460-BA06-E7D6A071C912}"/>
              </a:ext>
            </a:extLst>
          </p:cNvPr>
          <p:cNvSpPr>
            <a:spLocks xmlns:a="http://schemas.openxmlformats.org/drawingml/2006/main" noGrp="1"/>
          </p:cNvSpPr>
          <p:nvPr/>
        </p:nvSpPr>
        <p:spPr>
          <a:xfrm xmlns:a="http://schemas.openxmlformats.org/drawingml/2006/main">
            <a:off x="10953750" y="63436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971"/>
                </a:solidFill>
                <a:latin typeface="Arial"/>
                <a:ea typeface="Arial"/>
                <a:cs typeface="Arial"/>
              </a:defRPr>
            </a:defPPr>
            <a:lvl1pPr>
              <a:defRPr sz="1350" b="0">
                <a:solidFill>
                  <a:srgbClr val="526971"/>
                </a:solidFill>
                <a:latin typeface="Arial"/>
                <a:ea typeface="Arial"/>
                <a:cs typeface="Arial"/>
              </a:defRPr>
            </a:lvl1pPr>
            <a:lvl2pPr>
              <a:defRPr sz="1350" b="0">
                <a:solidFill>
                  <a:srgbClr val="526971"/>
                </a:solidFill>
                <a:latin typeface="Arial"/>
                <a:ea typeface="Arial"/>
                <a:cs typeface="Arial"/>
              </a:defRPr>
            </a:lvl2pPr>
            <a:lvl3pPr>
              <a:defRPr sz="1350" b="0">
                <a:solidFill>
                  <a:srgbClr val="526971"/>
                </a:solidFill>
                <a:latin typeface="Arial"/>
                <a:ea typeface="Arial"/>
                <a:cs typeface="Arial"/>
              </a:defRPr>
            </a:lvl3pPr>
            <a:lvl4pPr>
              <a:defRPr sz="1350" b="0">
                <a:solidFill>
                  <a:srgbClr val="526971"/>
                </a:solidFill>
                <a:latin typeface="Arial"/>
                <a:ea typeface="Arial"/>
                <a:cs typeface="Arial"/>
              </a:defRPr>
            </a:lvl4pPr>
            <a:lvl5pPr>
              <a:defRPr sz="1350" b="0">
                <a:solidFill>
                  <a:srgbClr val="526971"/>
                </a:solidFill>
                <a:latin typeface="Arial"/>
                <a:ea typeface="Arial"/>
                <a:cs typeface="Arial"/>
              </a:defRPr>
            </a:lvl5pPr>
            <a:lvl6pPr>
              <a:defRPr sz="1350" b="0">
                <a:solidFill>
                  <a:srgbClr val="526971"/>
                </a:solidFill>
                <a:latin typeface="Arial"/>
                <a:ea typeface="Arial"/>
                <a:cs typeface="Arial"/>
              </a:defRPr>
            </a:lvl6pPr>
            <a:lvl7pPr>
              <a:defRPr sz="1350" b="0">
                <a:solidFill>
                  <a:srgbClr val="526971"/>
                </a:solidFill>
                <a:latin typeface="Arial"/>
                <a:ea typeface="Arial"/>
                <a:cs typeface="Arial"/>
              </a:defRPr>
            </a:lvl7pPr>
            <a:lvl8pPr>
              <a:defRPr sz="1350" b="0">
                <a:solidFill>
                  <a:srgbClr val="526971"/>
                </a:solidFill>
                <a:latin typeface="Arial"/>
                <a:ea typeface="Arial"/>
                <a:cs typeface="Arial"/>
              </a:defRPr>
            </a:lvl8pPr>
            <a:lvl9pPr>
              <a:defRPr sz="1350" b="0">
                <a:solidFill>
                  <a:srgbClr val="526971"/>
                </a:solidFill>
                <a:latin typeface="Arial"/>
                <a:ea typeface="Arial"/>
                <a:cs typeface="Arial"/>
              </a:defRPr>
            </a:lvl9pPr>
          </a:lstStyle>
          <a:p xmlns:a="http://schemas.openxmlformats.org/drawingml/2006/main">
            <a:pPr>
              <a:defRPr sz="1350" b="0">
                <a:solidFill>
                  <a:srgbClr val="526971"/>
                </a:solidFill>
                <a:latin typeface="Arial"/>
                <a:ea typeface="Arial"/>
                <a:cs typeface="Arial"/>
              </a:defRPr>
            </a:pPr>
            <a:r>
              <a:rPr sz="1350" b="0">
                <a:solidFill>
                  <a:srgbClr val="526971"/>
                </a:solidFill>
                <a:latin typeface="Arial"/>
                <a:ea typeface="Arial"/>
                <a:cs typeface="Arial"/>
              </a:rPr>
              <a:t>5/6</a:t>
            </a:r>
          </a:p>
        </p:txBody>
      </p:sp>
      <p:sp>
        <p:nvSpPr>
          <p:cNvPr id="3" name="">
            <a:extLst xmlns:a="http://schemas.openxmlformats.org/drawingml/2006/main">
              <a:ext uri="{FF2B5EF4-FFF2-40B4-BE49-F238E27FC236}">
                <a16:creationId xmlns:a16="http://schemas.microsoft.com/office/drawing/2014/main" id="{023F6515-FA28-4606-9B1D-76712BDB6E5A}"/>
              </a:ext>
            </a:extLst>
          </p:cNvPr>
          <p:cNvSpPr>
            <a:spLocks xmlns:a="http://schemas.openxmlformats.org/drawingml/2006/main" noGrp="1"/>
          </p:cNvSpPr>
          <p:nvPr/>
        </p:nvSpPr>
        <p:spPr>
          <a:xfrm xmlns:a="http://schemas.openxmlformats.org/drawingml/2006/main">
            <a:off x="609600" y="63436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971"/>
                </a:solidFill>
                <a:latin typeface="Arial"/>
                <a:ea typeface="Arial"/>
                <a:cs typeface="Arial"/>
              </a:defRPr>
            </a:defPPr>
            <a:lvl1pPr>
              <a:defRPr sz="1200" b="0">
                <a:solidFill>
                  <a:srgbClr val="526971"/>
                </a:solidFill>
                <a:latin typeface="Arial"/>
                <a:ea typeface="Arial"/>
                <a:cs typeface="Arial"/>
              </a:defRPr>
            </a:lvl1pPr>
            <a:lvl2pPr>
              <a:defRPr sz="1200" b="0">
                <a:solidFill>
                  <a:srgbClr val="526971"/>
                </a:solidFill>
                <a:latin typeface="Arial"/>
                <a:ea typeface="Arial"/>
                <a:cs typeface="Arial"/>
              </a:defRPr>
            </a:lvl2pPr>
            <a:lvl3pPr>
              <a:defRPr sz="1200" b="0">
                <a:solidFill>
                  <a:srgbClr val="526971"/>
                </a:solidFill>
                <a:latin typeface="Arial"/>
                <a:ea typeface="Arial"/>
                <a:cs typeface="Arial"/>
              </a:defRPr>
            </a:lvl3pPr>
            <a:lvl4pPr>
              <a:defRPr sz="1200" b="0">
                <a:solidFill>
                  <a:srgbClr val="526971"/>
                </a:solidFill>
                <a:latin typeface="Arial"/>
                <a:ea typeface="Arial"/>
                <a:cs typeface="Arial"/>
              </a:defRPr>
            </a:lvl4pPr>
            <a:lvl5pPr>
              <a:defRPr sz="1200" b="0">
                <a:solidFill>
                  <a:srgbClr val="526971"/>
                </a:solidFill>
                <a:latin typeface="Arial"/>
                <a:ea typeface="Arial"/>
                <a:cs typeface="Arial"/>
              </a:defRPr>
            </a:lvl5pPr>
            <a:lvl6pPr>
              <a:defRPr sz="1200" b="0">
                <a:solidFill>
                  <a:srgbClr val="526971"/>
                </a:solidFill>
                <a:latin typeface="Arial"/>
                <a:ea typeface="Arial"/>
                <a:cs typeface="Arial"/>
              </a:defRPr>
            </a:lvl6pPr>
            <a:lvl7pPr>
              <a:defRPr sz="1200" b="0">
                <a:solidFill>
                  <a:srgbClr val="526971"/>
                </a:solidFill>
                <a:latin typeface="Arial"/>
                <a:ea typeface="Arial"/>
                <a:cs typeface="Arial"/>
              </a:defRPr>
            </a:lvl7pPr>
            <a:lvl8pPr>
              <a:defRPr sz="1200" b="0">
                <a:solidFill>
                  <a:srgbClr val="526971"/>
                </a:solidFill>
                <a:latin typeface="Arial"/>
                <a:ea typeface="Arial"/>
                <a:cs typeface="Arial"/>
              </a:defRPr>
            </a:lvl8pPr>
            <a:lvl9pPr>
              <a:defRPr sz="1200" b="0">
                <a:solidFill>
                  <a:srgbClr val="526971"/>
                </a:solidFill>
                <a:latin typeface="Arial"/>
                <a:ea typeface="Arial"/>
                <a:cs typeface="Arial"/>
              </a:defRPr>
            </a:lvl9pPr>
          </a:lstStyle>
          <a:p xmlns:a="http://schemas.openxmlformats.org/drawingml/2006/main">
            <a:pPr>
              <a:defRPr sz="1200" b="0">
                <a:solidFill>
                  <a:srgbClr val="526971"/>
                </a:solidFill>
                <a:latin typeface="Arial"/>
                <a:ea typeface="Arial"/>
                <a:cs typeface="Arial"/>
              </a:defRPr>
            </a:pPr>
            <a:r>
              <a:rPr sz="1200" b="0">
                <a:solidFill>
                  <a:srgbClr val="526971"/>
                </a:solidFill>
                <a:latin typeface="Arial"/>
                <a:ea typeface="Arial"/>
                <a:cs typeface="Arial"/>
              </a:rPr>
              <a:t>Measured SpliceAI output 2026-10-23  /  public HG002 smoke test</a:t>
            </a:r>
          </a:p>
        </p:txBody>
      </p:sp>
      <p:sp>
        <p:nvSpPr>
          <p:cNvPr id="4" name="">
            <a:extLst xmlns:a="http://schemas.openxmlformats.org/drawingml/2006/main">
              <a:ext uri="{FF2B5EF4-FFF2-40B4-BE49-F238E27FC236}">
                <a16:creationId xmlns:a16="http://schemas.microsoft.com/office/drawing/2014/main" id="{E291F26E-FBA0-411C-AA08-9FE7DD8BBCED}"/>
              </a:ext>
            </a:extLst>
          </p:cNvPr>
          <p:cNvSpPr>
            <a:spLocks xmlns:a="http://schemas.openxmlformats.org/drawingml/2006/main" noGrp="1"/>
          </p:cNvSpPr>
          <p:nvPr/>
        </p:nvSpPr>
        <p:spPr>
          <a:xfrm xmlns:a="http://schemas.openxmlformats.org/drawingml/2006/main">
            <a:off x="609600" y="16192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526971"/>
                </a:solidFill>
                <a:latin typeface="Arial"/>
                <a:ea typeface="Arial"/>
                <a:cs typeface="Arial"/>
              </a:defRPr>
            </a:defPPr>
            <a:lvl1pPr>
              <a:defRPr sz="2400" b="0">
                <a:solidFill>
                  <a:srgbClr val="526971"/>
                </a:solidFill>
                <a:latin typeface="Arial"/>
                <a:ea typeface="Arial"/>
                <a:cs typeface="Arial"/>
              </a:defRPr>
            </a:lvl1pPr>
            <a:lvl2pPr>
              <a:defRPr sz="2400" b="0">
                <a:solidFill>
                  <a:srgbClr val="526971"/>
                </a:solidFill>
                <a:latin typeface="Arial"/>
                <a:ea typeface="Arial"/>
                <a:cs typeface="Arial"/>
              </a:defRPr>
            </a:lvl2pPr>
            <a:lvl3pPr>
              <a:defRPr sz="2400" b="0">
                <a:solidFill>
                  <a:srgbClr val="526971"/>
                </a:solidFill>
                <a:latin typeface="Arial"/>
                <a:ea typeface="Arial"/>
                <a:cs typeface="Arial"/>
              </a:defRPr>
            </a:lvl3pPr>
            <a:lvl4pPr>
              <a:defRPr sz="2400" b="0">
                <a:solidFill>
                  <a:srgbClr val="526971"/>
                </a:solidFill>
                <a:latin typeface="Arial"/>
                <a:ea typeface="Arial"/>
                <a:cs typeface="Arial"/>
              </a:defRPr>
            </a:lvl4pPr>
            <a:lvl5pPr>
              <a:defRPr sz="2400" b="0">
                <a:solidFill>
                  <a:srgbClr val="526971"/>
                </a:solidFill>
                <a:latin typeface="Arial"/>
                <a:ea typeface="Arial"/>
                <a:cs typeface="Arial"/>
              </a:defRPr>
            </a:lvl5pPr>
            <a:lvl6pPr>
              <a:defRPr sz="2400" b="0">
                <a:solidFill>
                  <a:srgbClr val="526971"/>
                </a:solidFill>
                <a:latin typeface="Arial"/>
                <a:ea typeface="Arial"/>
                <a:cs typeface="Arial"/>
              </a:defRPr>
            </a:lvl6pPr>
            <a:lvl7pPr>
              <a:defRPr sz="2400" b="0">
                <a:solidFill>
                  <a:srgbClr val="526971"/>
                </a:solidFill>
                <a:latin typeface="Arial"/>
                <a:ea typeface="Arial"/>
                <a:cs typeface="Arial"/>
              </a:defRPr>
            </a:lvl7pPr>
            <a:lvl8pPr>
              <a:defRPr sz="2400" b="0">
                <a:solidFill>
                  <a:srgbClr val="526971"/>
                </a:solidFill>
                <a:latin typeface="Arial"/>
                <a:ea typeface="Arial"/>
                <a:cs typeface="Arial"/>
              </a:defRPr>
            </a:lvl8pPr>
            <a:lvl9pPr>
              <a:defRPr sz="2400" b="0">
                <a:solidFill>
                  <a:srgbClr val="526971"/>
                </a:solidFill>
                <a:latin typeface="Arial"/>
                <a:ea typeface="Arial"/>
                <a:cs typeface="Arial"/>
              </a:defRPr>
            </a:lvl9pPr>
          </a:lstStyle>
          <a:p xmlns:a="http://schemas.openxmlformats.org/drawingml/2006/main">
            <a:pPr>
              <a:defRPr sz="2400" b="0">
                <a:solidFill>
                  <a:srgbClr val="526971"/>
                </a:solidFill>
                <a:latin typeface="Arial"/>
                <a:ea typeface="Arial"/>
                <a:cs typeface="Arial"/>
              </a:defRPr>
            </a:pPr>
            <a:r>
              <a:rPr sz="2400" b="0">
                <a:solidFill>
                  <a:srgbClr val="526971"/>
                </a:solidFill>
                <a:latin typeface="Arial"/>
                <a:ea typeface="Arial"/>
                <a:cs typeface="Arial"/>
              </a:rPr>
              <a:t>Real SpliceAI inference</a:t>
            </a:r>
          </a:p>
        </p:txBody>
      </p:sp>
      <p:sp>
        <p:nvSpPr>
          <p:cNvPr id="5" name="">
            <a:extLst xmlns:a="http://schemas.openxmlformats.org/drawingml/2006/main">
              <a:ext uri="{FF2B5EF4-FFF2-40B4-BE49-F238E27FC236}">
                <a16:creationId xmlns:a16="http://schemas.microsoft.com/office/drawing/2014/main" id="{E660D5CB-3BF0-4832-98A7-65DDBB4F7A7F}"/>
              </a:ext>
            </a:extLst>
          </p:cNvPr>
          <p:cNvSpPr>
            <a:spLocks xmlns:a="http://schemas.openxmlformats.org/drawingml/2006/main" noGrp="1"/>
          </p:cNvSpPr>
          <p:nvPr/>
        </p:nvSpPr>
        <p:spPr>
          <a:xfrm xmlns:a="http://schemas.openxmlformats.org/drawingml/2006/main">
            <a:off x="609600" y="2667000"/>
            <a:ext cx="2476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9750" b="1">
                <a:solidFill>
                  <a:srgbClr val="176C63"/>
                </a:solidFill>
                <a:latin typeface="Arial"/>
                <a:ea typeface="Arial"/>
                <a:cs typeface="Arial"/>
              </a:defRPr>
            </a:defPPr>
            <a:lvl1pPr>
              <a:defRPr sz="9750" b="1">
                <a:solidFill>
                  <a:srgbClr val="176C63"/>
                </a:solidFill>
                <a:latin typeface="Arial"/>
                <a:ea typeface="Arial"/>
                <a:cs typeface="Arial"/>
              </a:defRPr>
            </a:lvl1pPr>
            <a:lvl2pPr>
              <a:defRPr sz="9750" b="1">
                <a:solidFill>
                  <a:srgbClr val="176C63"/>
                </a:solidFill>
                <a:latin typeface="Arial"/>
                <a:ea typeface="Arial"/>
                <a:cs typeface="Arial"/>
              </a:defRPr>
            </a:lvl2pPr>
            <a:lvl3pPr>
              <a:defRPr sz="9750" b="1">
                <a:solidFill>
                  <a:srgbClr val="176C63"/>
                </a:solidFill>
                <a:latin typeface="Arial"/>
                <a:ea typeface="Arial"/>
                <a:cs typeface="Arial"/>
              </a:defRPr>
            </a:lvl3pPr>
            <a:lvl4pPr>
              <a:defRPr sz="9750" b="1">
                <a:solidFill>
                  <a:srgbClr val="176C63"/>
                </a:solidFill>
                <a:latin typeface="Arial"/>
                <a:ea typeface="Arial"/>
                <a:cs typeface="Arial"/>
              </a:defRPr>
            </a:lvl4pPr>
            <a:lvl5pPr>
              <a:defRPr sz="9750" b="1">
                <a:solidFill>
                  <a:srgbClr val="176C63"/>
                </a:solidFill>
                <a:latin typeface="Arial"/>
                <a:ea typeface="Arial"/>
                <a:cs typeface="Arial"/>
              </a:defRPr>
            </a:lvl5pPr>
            <a:lvl6pPr>
              <a:defRPr sz="9750" b="1">
                <a:solidFill>
                  <a:srgbClr val="176C63"/>
                </a:solidFill>
                <a:latin typeface="Arial"/>
                <a:ea typeface="Arial"/>
                <a:cs typeface="Arial"/>
              </a:defRPr>
            </a:lvl6pPr>
            <a:lvl7pPr>
              <a:defRPr sz="9750" b="1">
                <a:solidFill>
                  <a:srgbClr val="176C63"/>
                </a:solidFill>
                <a:latin typeface="Arial"/>
                <a:ea typeface="Arial"/>
                <a:cs typeface="Arial"/>
              </a:defRPr>
            </a:lvl7pPr>
            <a:lvl8pPr>
              <a:defRPr sz="9750" b="1">
                <a:solidFill>
                  <a:srgbClr val="176C63"/>
                </a:solidFill>
                <a:latin typeface="Arial"/>
                <a:ea typeface="Arial"/>
                <a:cs typeface="Arial"/>
              </a:defRPr>
            </a:lvl8pPr>
            <a:lvl9pPr>
              <a:defRPr sz="9750" b="1">
                <a:solidFill>
                  <a:srgbClr val="176C63"/>
                </a:solidFill>
                <a:latin typeface="Arial"/>
                <a:ea typeface="Arial"/>
                <a:cs typeface="Arial"/>
              </a:defRPr>
            </a:lvl9pPr>
          </a:lstStyle>
          <a:p xmlns:a="http://schemas.openxmlformats.org/drawingml/2006/main">
            <a:pPr>
              <a:defRPr sz="9750" b="1">
                <a:solidFill>
                  <a:srgbClr val="176C63"/>
                </a:solidFill>
                <a:latin typeface="Arial"/>
                <a:ea typeface="Arial"/>
                <a:cs typeface="Arial"/>
              </a:defRPr>
            </a:pPr>
            <a:r>
              <a:rPr sz="9750" b="1">
                <a:solidFill>
                  <a:srgbClr val="176C63"/>
                </a:solidFill>
                <a:latin typeface="Arial"/>
                <a:ea typeface="Arial"/>
                <a:cs typeface="Arial"/>
              </a:rPr>
              <a:t>6</a:t>
            </a:r>
          </a:p>
        </p:txBody>
      </p:sp>
      <p:sp>
        <p:nvSpPr>
          <p:cNvPr id="6" name="">
            <a:extLst xmlns:a="http://schemas.openxmlformats.org/drawingml/2006/main">
              <a:ext uri="{FF2B5EF4-FFF2-40B4-BE49-F238E27FC236}">
                <a16:creationId xmlns:a16="http://schemas.microsoft.com/office/drawing/2014/main" id="{1B3E0DD4-35A1-4BF1-8308-48311D1958CC}"/>
              </a:ext>
            </a:extLst>
          </p:cNvPr>
          <p:cNvSpPr>
            <a:spLocks xmlns:a="http://schemas.openxmlformats.org/drawingml/2006/main" noGrp="1"/>
          </p:cNvSpPr>
          <p:nvPr/>
        </p:nvSpPr>
        <p:spPr>
          <a:xfrm xmlns:a="http://schemas.openxmlformats.org/drawingml/2006/main">
            <a:off x="3143250" y="2857500"/>
            <a:ext cx="7620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000" b="0">
                <a:solidFill>
                  <a:srgbClr val="17333E"/>
                </a:solidFill>
                <a:latin typeface="Arial"/>
                <a:ea typeface="Arial"/>
                <a:cs typeface="Arial"/>
              </a:defRPr>
            </a:defPPr>
            <a:lvl1pPr>
              <a:defRPr sz="3000" b="0">
                <a:solidFill>
                  <a:srgbClr val="17333E"/>
                </a:solidFill>
                <a:latin typeface="Arial"/>
                <a:ea typeface="Arial"/>
                <a:cs typeface="Arial"/>
              </a:defRPr>
            </a:lvl1pPr>
            <a:lvl2pPr>
              <a:defRPr sz="3000" b="0">
                <a:solidFill>
                  <a:srgbClr val="17333E"/>
                </a:solidFill>
                <a:latin typeface="Arial"/>
                <a:ea typeface="Arial"/>
                <a:cs typeface="Arial"/>
              </a:defRPr>
            </a:lvl2pPr>
            <a:lvl3pPr>
              <a:defRPr sz="3000" b="0">
                <a:solidFill>
                  <a:srgbClr val="17333E"/>
                </a:solidFill>
                <a:latin typeface="Arial"/>
                <a:ea typeface="Arial"/>
                <a:cs typeface="Arial"/>
              </a:defRPr>
            </a:lvl3pPr>
            <a:lvl4pPr>
              <a:defRPr sz="3000" b="0">
                <a:solidFill>
                  <a:srgbClr val="17333E"/>
                </a:solidFill>
                <a:latin typeface="Arial"/>
                <a:ea typeface="Arial"/>
                <a:cs typeface="Arial"/>
              </a:defRPr>
            </a:lvl4pPr>
            <a:lvl5pPr>
              <a:defRPr sz="3000" b="0">
                <a:solidFill>
                  <a:srgbClr val="17333E"/>
                </a:solidFill>
                <a:latin typeface="Arial"/>
                <a:ea typeface="Arial"/>
                <a:cs typeface="Arial"/>
              </a:defRPr>
            </a:lvl5pPr>
            <a:lvl6pPr>
              <a:defRPr sz="3000" b="0">
                <a:solidFill>
                  <a:srgbClr val="17333E"/>
                </a:solidFill>
                <a:latin typeface="Arial"/>
                <a:ea typeface="Arial"/>
                <a:cs typeface="Arial"/>
              </a:defRPr>
            </a:lvl6pPr>
            <a:lvl7pPr>
              <a:defRPr sz="3000" b="0">
                <a:solidFill>
                  <a:srgbClr val="17333E"/>
                </a:solidFill>
                <a:latin typeface="Arial"/>
                <a:ea typeface="Arial"/>
                <a:cs typeface="Arial"/>
              </a:defRPr>
            </a:lvl7pPr>
            <a:lvl8pPr>
              <a:defRPr sz="3000" b="0">
                <a:solidFill>
                  <a:srgbClr val="17333E"/>
                </a:solidFill>
                <a:latin typeface="Arial"/>
                <a:ea typeface="Arial"/>
                <a:cs typeface="Arial"/>
              </a:defRPr>
            </a:lvl8pPr>
            <a:lvl9pPr>
              <a:defRPr sz="3000" b="0">
                <a:solidFill>
                  <a:srgbClr val="17333E"/>
                </a:solidFill>
                <a:latin typeface="Arial"/>
                <a:ea typeface="Arial"/>
                <a:cs typeface="Arial"/>
              </a:defRPr>
            </a:lvl9pPr>
          </a:lstStyle>
          <a:p xmlns:a="http://schemas.openxmlformats.org/drawingml/2006/main">
            <a:pPr>
              <a:defRPr sz="3000" b="0">
                <a:solidFill>
                  <a:srgbClr val="17333E"/>
                </a:solidFill>
                <a:latin typeface="Arial"/>
                <a:ea typeface="Arial"/>
                <a:cs typeface="Arial"/>
              </a:defRPr>
            </a:pPr>
            <a:r>
              <a:rPr sz="3000" b="0">
                <a:solidFill>
                  <a:srgbClr val="17333E"/>
                </a:solidFill>
                <a:latin typeface="Arial"/>
                <a:ea typeface="Arial"/>
                <a:cs typeface="Arial"/>
              </a:rPr>
              <a:t>positive and negative</a:t>
            </a:r>
          </a:p>
          <a:p xmlns:a="http://schemas.openxmlformats.org/drawingml/2006/main">
            <a:pPr>
              <a:defRPr sz="3000" b="0">
                <a:solidFill>
                  <a:srgbClr val="17333E"/>
                </a:solidFill>
                <a:latin typeface="Arial"/>
                <a:ea typeface="Arial"/>
                <a:cs typeface="Arial"/>
              </a:defRPr>
            </a:pPr>
            <a:r>
              <a:rPr sz="3000" b="0">
                <a:solidFill>
                  <a:srgbClr val="17333E"/>
                </a:solidFill>
                <a:latin typeface="Arial"/>
                <a:ea typeface="Arial"/>
                <a:cs typeface="Arial"/>
              </a:rPr>
              <a:t>model controls</a:t>
            </a:r>
          </a:p>
        </p:txBody>
      </p:sp>
      <p:sp>
        <p:nvSpPr>
          <p:cNvPr id="7" name="">
            <a:extLst xmlns:a="http://schemas.openxmlformats.org/drawingml/2006/main">
              <a:ext uri="{FF2B5EF4-FFF2-40B4-BE49-F238E27FC236}">
                <a16:creationId xmlns:a16="http://schemas.microsoft.com/office/drawing/2014/main" id="{85DE068E-2829-4C20-B726-501D38596083}"/>
              </a:ext>
            </a:extLst>
          </p:cNvPr>
          <p:cNvSpPr>
            <a:spLocks xmlns:a="http://schemas.openxmlformats.org/drawingml/2006/main" noGrp="1"/>
          </p:cNvSpPr>
          <p:nvPr/>
        </p:nvSpPr>
        <p:spPr>
          <a:xfrm xmlns:a="http://schemas.openxmlformats.org/drawingml/2006/main">
            <a:off x="609600" y="471487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7333E"/>
                </a:solidFill>
                <a:latin typeface="Arial"/>
                <a:ea typeface="Arial"/>
                <a:cs typeface="Arial"/>
              </a:defRPr>
            </a:defPPr>
            <a:lvl1pPr>
              <a:defRPr sz="2550" b="0">
                <a:solidFill>
                  <a:srgbClr val="17333E"/>
                </a:solidFill>
                <a:latin typeface="Arial"/>
                <a:ea typeface="Arial"/>
                <a:cs typeface="Arial"/>
              </a:defRPr>
            </a:lvl1pPr>
            <a:lvl2pPr>
              <a:defRPr sz="2550" b="0">
                <a:solidFill>
                  <a:srgbClr val="17333E"/>
                </a:solidFill>
                <a:latin typeface="Arial"/>
                <a:ea typeface="Arial"/>
                <a:cs typeface="Arial"/>
              </a:defRPr>
            </a:lvl2pPr>
            <a:lvl3pPr>
              <a:defRPr sz="2550" b="0">
                <a:solidFill>
                  <a:srgbClr val="17333E"/>
                </a:solidFill>
                <a:latin typeface="Arial"/>
                <a:ea typeface="Arial"/>
                <a:cs typeface="Arial"/>
              </a:defRPr>
            </a:lvl3pPr>
            <a:lvl4pPr>
              <a:defRPr sz="2550" b="0">
                <a:solidFill>
                  <a:srgbClr val="17333E"/>
                </a:solidFill>
                <a:latin typeface="Arial"/>
                <a:ea typeface="Arial"/>
                <a:cs typeface="Arial"/>
              </a:defRPr>
            </a:lvl4pPr>
            <a:lvl5pPr>
              <a:defRPr sz="2550" b="0">
                <a:solidFill>
                  <a:srgbClr val="17333E"/>
                </a:solidFill>
                <a:latin typeface="Arial"/>
                <a:ea typeface="Arial"/>
                <a:cs typeface="Arial"/>
              </a:defRPr>
            </a:lvl5pPr>
            <a:lvl6pPr>
              <a:defRPr sz="2550" b="0">
                <a:solidFill>
                  <a:srgbClr val="17333E"/>
                </a:solidFill>
                <a:latin typeface="Arial"/>
                <a:ea typeface="Arial"/>
                <a:cs typeface="Arial"/>
              </a:defRPr>
            </a:lvl6pPr>
            <a:lvl7pPr>
              <a:defRPr sz="2550" b="0">
                <a:solidFill>
                  <a:srgbClr val="17333E"/>
                </a:solidFill>
                <a:latin typeface="Arial"/>
                <a:ea typeface="Arial"/>
                <a:cs typeface="Arial"/>
              </a:defRPr>
            </a:lvl7pPr>
            <a:lvl8pPr>
              <a:defRPr sz="2550" b="0">
                <a:solidFill>
                  <a:srgbClr val="17333E"/>
                </a:solidFill>
                <a:latin typeface="Arial"/>
                <a:ea typeface="Arial"/>
                <a:cs typeface="Arial"/>
              </a:defRPr>
            </a:lvl8pPr>
            <a:lvl9pPr>
              <a:defRPr sz="2550" b="0">
                <a:solidFill>
                  <a:srgbClr val="17333E"/>
                </a:solidFill>
                <a:latin typeface="Arial"/>
                <a:ea typeface="Arial"/>
                <a:cs typeface="Arial"/>
              </a:defRPr>
            </a:lvl9pPr>
          </a:lstStyle>
          <a:p xmlns:a="http://schemas.openxmlformats.org/drawingml/2006/main">
            <a:pPr>
              <a:defRPr sz="2550" b="0">
                <a:solidFill>
                  <a:srgbClr val="17333E"/>
                </a:solidFill>
                <a:latin typeface="Arial"/>
                <a:ea typeface="Arial"/>
                <a:cs typeface="Arial"/>
              </a:defRPr>
            </a:pPr>
            <a:r>
              <a:rPr sz="2550" b="0">
                <a:solidFill>
                  <a:srgbClr val="17333E"/>
                </a:solidFill>
                <a:latin typeface="Arial"/>
                <a:ea typeface="Arial"/>
                <a:cs typeface="Arial"/>
              </a:rPr>
              <a:t>9 injected failures rejected by a separate checker self-test</a:t>
            </a:r>
          </a:p>
        </p:txBody>
      </p:sp>
      <p:sp>
        <p:nvSpPr>
          <p:cNvPr id="8" name="">
            <a:extLst xmlns:a="http://schemas.openxmlformats.org/drawingml/2006/main">
              <a:ext uri="{FF2B5EF4-FFF2-40B4-BE49-F238E27FC236}">
                <a16:creationId xmlns:a16="http://schemas.microsoft.com/office/drawing/2014/main" id="{38A0DDFC-D1B1-46F7-B6F7-BA0BE2CFD66F}"/>
              </a:ext>
            </a:extLst>
          </p:cNvPr>
          <p:cNvSpPr>
            <a:spLocks xmlns:a="http://schemas.openxmlformats.org/drawingml/2006/main" noGrp="1"/>
          </p:cNvSpPr>
          <p:nvPr/>
        </p:nvSpPr>
        <p:spPr>
          <a:xfrm xmlns:a="http://schemas.openxmlformats.org/drawingml/2006/main">
            <a:off x="609600" y="57150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526971"/>
                </a:solidFill>
                <a:latin typeface="Arial"/>
                <a:ea typeface="Arial"/>
                <a:cs typeface="Arial"/>
              </a:defRPr>
            </a:defPPr>
            <a:lvl1pPr>
              <a:defRPr sz="1875" b="0">
                <a:solidFill>
                  <a:srgbClr val="526971"/>
                </a:solidFill>
                <a:latin typeface="Arial"/>
                <a:ea typeface="Arial"/>
                <a:cs typeface="Arial"/>
              </a:defRPr>
            </a:lvl1pPr>
            <a:lvl2pPr>
              <a:defRPr sz="1875" b="0">
                <a:solidFill>
                  <a:srgbClr val="526971"/>
                </a:solidFill>
                <a:latin typeface="Arial"/>
                <a:ea typeface="Arial"/>
                <a:cs typeface="Arial"/>
              </a:defRPr>
            </a:lvl2pPr>
            <a:lvl3pPr>
              <a:defRPr sz="1875" b="0">
                <a:solidFill>
                  <a:srgbClr val="526971"/>
                </a:solidFill>
                <a:latin typeface="Arial"/>
                <a:ea typeface="Arial"/>
                <a:cs typeface="Arial"/>
              </a:defRPr>
            </a:lvl3pPr>
            <a:lvl4pPr>
              <a:defRPr sz="1875" b="0">
                <a:solidFill>
                  <a:srgbClr val="526971"/>
                </a:solidFill>
                <a:latin typeface="Arial"/>
                <a:ea typeface="Arial"/>
                <a:cs typeface="Arial"/>
              </a:defRPr>
            </a:lvl4pPr>
            <a:lvl5pPr>
              <a:defRPr sz="1875" b="0">
                <a:solidFill>
                  <a:srgbClr val="526971"/>
                </a:solidFill>
                <a:latin typeface="Arial"/>
                <a:ea typeface="Arial"/>
                <a:cs typeface="Arial"/>
              </a:defRPr>
            </a:lvl5pPr>
            <a:lvl6pPr>
              <a:defRPr sz="1875" b="0">
                <a:solidFill>
                  <a:srgbClr val="526971"/>
                </a:solidFill>
                <a:latin typeface="Arial"/>
                <a:ea typeface="Arial"/>
                <a:cs typeface="Arial"/>
              </a:defRPr>
            </a:lvl6pPr>
            <a:lvl7pPr>
              <a:defRPr sz="1875" b="0">
                <a:solidFill>
                  <a:srgbClr val="526971"/>
                </a:solidFill>
                <a:latin typeface="Arial"/>
                <a:ea typeface="Arial"/>
                <a:cs typeface="Arial"/>
              </a:defRPr>
            </a:lvl7pPr>
            <a:lvl8pPr>
              <a:defRPr sz="1875" b="0">
                <a:solidFill>
                  <a:srgbClr val="526971"/>
                </a:solidFill>
                <a:latin typeface="Arial"/>
                <a:ea typeface="Arial"/>
                <a:cs typeface="Arial"/>
              </a:defRPr>
            </a:lvl8pPr>
            <a:lvl9pPr>
              <a:defRPr sz="1875" b="0">
                <a:solidFill>
                  <a:srgbClr val="526971"/>
                </a:solidFill>
                <a:latin typeface="Arial"/>
                <a:ea typeface="Arial"/>
                <a:cs typeface="Arial"/>
              </a:defRPr>
            </a:lvl9pPr>
          </a:lstStyle>
          <a:p xmlns:a="http://schemas.openxmlformats.org/drawingml/2006/main">
            <a:pPr>
              <a:defRPr sz="1875" b="0">
                <a:solidFill>
                  <a:srgbClr val="526971"/>
                </a:solidFill>
                <a:latin typeface="Arial"/>
                <a:ea typeface="Arial"/>
                <a:cs typeface="Arial"/>
              </a:defRPr>
            </a:pPr>
            <a:r>
              <a:rPr sz="1875" b="0">
                <a:solidFill>
                  <a:srgbClr val="526971"/>
                </a:solidFill>
                <a:latin typeface="Arial"/>
                <a:ea typeface="Arial"/>
                <a:cs typeface="Arial"/>
              </a:rPr>
              <a:t>Missing inputs return NOT RUN. These checks do not measure clinical accuracy.</a:t>
            </a:r>
          </a:p>
        </p:txBody>
      </p:sp>
    </p:spTree>
    <p:extLst>
      <p:ext uri="{BB962C8B-B14F-4D97-AF65-F5344CB8AC3E}">
        <p14:creationId xmlns:p14="http://schemas.microsoft.com/office/powerpoint/2010/main" val="2123343537"/>
      </p:ext>
    </p:extLst>
  </p:cSld>
</p:sld>
</file>

<file path=ppt/slides/slide6.xml><?xml version="1.0" encoding="utf-8"?>
<p:sld xmlns:p="http://schemas.openxmlformats.org/presentationml/2006/main">
  <p:cSld>
    <p:bg>
      <p:bgPr>
        <a:solidFill xmlns:a="http://schemas.openxmlformats.org/drawingml/2006/main">
          <a:srgbClr val="F2F5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DA3F263-58BC-4E93-A5EF-B03AED03BA09}"/>
              </a:ext>
            </a:extLst>
          </p:cNvPr>
          <p:cNvSpPr>
            <a:spLocks xmlns:a="http://schemas.openxmlformats.org/drawingml/2006/main" noGrp="1"/>
          </p:cNvSpPr>
          <p:nvPr/>
        </p:nvSpPr>
        <p:spPr>
          <a:xfrm xmlns:a="http://schemas.openxmlformats.org/drawingml/2006/main">
            <a:off x="609600" y="5524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750" b="1">
                <a:solidFill>
                  <a:srgbClr val="17333E"/>
                </a:solidFill>
                <a:latin typeface="Arial"/>
                <a:ea typeface="Arial"/>
                <a:cs typeface="Arial"/>
              </a:defRPr>
            </a:defPPr>
            <a:lvl1pPr>
              <a:defRPr sz="3750" b="1">
                <a:solidFill>
                  <a:srgbClr val="17333E"/>
                </a:solidFill>
                <a:latin typeface="Arial"/>
                <a:ea typeface="Arial"/>
                <a:cs typeface="Arial"/>
              </a:defRPr>
            </a:lvl1pPr>
            <a:lvl2pPr>
              <a:defRPr sz="3750" b="1">
                <a:solidFill>
                  <a:srgbClr val="17333E"/>
                </a:solidFill>
                <a:latin typeface="Arial"/>
                <a:ea typeface="Arial"/>
                <a:cs typeface="Arial"/>
              </a:defRPr>
            </a:lvl2pPr>
            <a:lvl3pPr>
              <a:defRPr sz="3750" b="1">
                <a:solidFill>
                  <a:srgbClr val="17333E"/>
                </a:solidFill>
                <a:latin typeface="Arial"/>
                <a:ea typeface="Arial"/>
                <a:cs typeface="Arial"/>
              </a:defRPr>
            </a:lvl3pPr>
            <a:lvl4pPr>
              <a:defRPr sz="3750" b="1">
                <a:solidFill>
                  <a:srgbClr val="17333E"/>
                </a:solidFill>
                <a:latin typeface="Arial"/>
                <a:ea typeface="Arial"/>
                <a:cs typeface="Arial"/>
              </a:defRPr>
            </a:lvl4pPr>
            <a:lvl5pPr>
              <a:defRPr sz="3750" b="1">
                <a:solidFill>
                  <a:srgbClr val="17333E"/>
                </a:solidFill>
                <a:latin typeface="Arial"/>
                <a:ea typeface="Arial"/>
                <a:cs typeface="Arial"/>
              </a:defRPr>
            </a:lvl5pPr>
            <a:lvl6pPr>
              <a:defRPr sz="3750" b="1">
                <a:solidFill>
                  <a:srgbClr val="17333E"/>
                </a:solidFill>
                <a:latin typeface="Arial"/>
                <a:ea typeface="Arial"/>
                <a:cs typeface="Arial"/>
              </a:defRPr>
            </a:lvl6pPr>
            <a:lvl7pPr>
              <a:defRPr sz="3750" b="1">
                <a:solidFill>
                  <a:srgbClr val="17333E"/>
                </a:solidFill>
                <a:latin typeface="Arial"/>
                <a:ea typeface="Arial"/>
                <a:cs typeface="Arial"/>
              </a:defRPr>
            </a:lvl7pPr>
            <a:lvl8pPr>
              <a:defRPr sz="3750" b="1">
                <a:solidFill>
                  <a:srgbClr val="17333E"/>
                </a:solidFill>
                <a:latin typeface="Arial"/>
                <a:ea typeface="Arial"/>
                <a:cs typeface="Arial"/>
              </a:defRPr>
            </a:lvl8pPr>
            <a:lvl9pPr>
              <a:defRPr sz="3750" b="1">
                <a:solidFill>
                  <a:srgbClr val="17333E"/>
                </a:solidFill>
                <a:latin typeface="Arial"/>
                <a:ea typeface="Arial"/>
                <a:cs typeface="Arial"/>
              </a:defRPr>
            </a:lvl9pPr>
          </a:lstStyle>
          <a:p xmlns:a="http://schemas.openxmlformats.org/drawingml/2006/main">
            <a:pPr>
              <a:defRPr sz="3750" b="1">
                <a:solidFill>
                  <a:srgbClr val="17333E"/>
                </a:solidFill>
                <a:latin typeface="Arial"/>
                <a:ea typeface="Arial"/>
                <a:cs typeface="Arial"/>
              </a:defRPr>
            </a:pPr>
            <a:r>
              <a:rPr sz="3750" b="1">
                <a:solidFill>
                  <a:srgbClr val="17333E"/>
                </a:solidFill>
                <a:latin typeface="Arial"/>
                <a:ea typeface="Arial"/>
                <a:cs typeface="Arial"/>
              </a:rPr>
              <a:t>The next experiment</a:t>
            </a:r>
          </a:p>
        </p:txBody>
      </p:sp>
      <p:sp>
        <p:nvSpPr>
          <p:cNvPr id="2" name="">
            <a:extLst xmlns:a="http://schemas.openxmlformats.org/drawingml/2006/main">
              <a:ext uri="{FF2B5EF4-FFF2-40B4-BE49-F238E27FC236}">
                <a16:creationId xmlns:a16="http://schemas.microsoft.com/office/drawing/2014/main" id="{3FEACB47-71E6-4F64-B52E-656C525D95C7}"/>
              </a:ext>
            </a:extLst>
          </p:cNvPr>
          <p:cNvSpPr>
            <a:spLocks xmlns:a="http://schemas.openxmlformats.org/drawingml/2006/main" noGrp="1"/>
          </p:cNvSpPr>
          <p:nvPr/>
        </p:nvSpPr>
        <p:spPr>
          <a:xfrm xmlns:a="http://schemas.openxmlformats.org/drawingml/2006/main">
            <a:off x="10953750" y="63436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971"/>
                </a:solidFill>
                <a:latin typeface="Arial"/>
                <a:ea typeface="Arial"/>
                <a:cs typeface="Arial"/>
              </a:defRPr>
            </a:defPPr>
            <a:lvl1pPr>
              <a:defRPr sz="1350" b="0">
                <a:solidFill>
                  <a:srgbClr val="526971"/>
                </a:solidFill>
                <a:latin typeface="Arial"/>
                <a:ea typeface="Arial"/>
                <a:cs typeface="Arial"/>
              </a:defRPr>
            </a:lvl1pPr>
            <a:lvl2pPr>
              <a:defRPr sz="1350" b="0">
                <a:solidFill>
                  <a:srgbClr val="526971"/>
                </a:solidFill>
                <a:latin typeface="Arial"/>
                <a:ea typeface="Arial"/>
                <a:cs typeface="Arial"/>
              </a:defRPr>
            </a:lvl2pPr>
            <a:lvl3pPr>
              <a:defRPr sz="1350" b="0">
                <a:solidFill>
                  <a:srgbClr val="526971"/>
                </a:solidFill>
                <a:latin typeface="Arial"/>
                <a:ea typeface="Arial"/>
                <a:cs typeface="Arial"/>
              </a:defRPr>
            </a:lvl3pPr>
            <a:lvl4pPr>
              <a:defRPr sz="1350" b="0">
                <a:solidFill>
                  <a:srgbClr val="526971"/>
                </a:solidFill>
                <a:latin typeface="Arial"/>
                <a:ea typeface="Arial"/>
                <a:cs typeface="Arial"/>
              </a:defRPr>
            </a:lvl4pPr>
            <a:lvl5pPr>
              <a:defRPr sz="1350" b="0">
                <a:solidFill>
                  <a:srgbClr val="526971"/>
                </a:solidFill>
                <a:latin typeface="Arial"/>
                <a:ea typeface="Arial"/>
                <a:cs typeface="Arial"/>
              </a:defRPr>
            </a:lvl5pPr>
            <a:lvl6pPr>
              <a:defRPr sz="1350" b="0">
                <a:solidFill>
                  <a:srgbClr val="526971"/>
                </a:solidFill>
                <a:latin typeface="Arial"/>
                <a:ea typeface="Arial"/>
                <a:cs typeface="Arial"/>
              </a:defRPr>
            </a:lvl6pPr>
            <a:lvl7pPr>
              <a:defRPr sz="1350" b="0">
                <a:solidFill>
                  <a:srgbClr val="526971"/>
                </a:solidFill>
                <a:latin typeface="Arial"/>
                <a:ea typeface="Arial"/>
                <a:cs typeface="Arial"/>
              </a:defRPr>
            </a:lvl7pPr>
            <a:lvl8pPr>
              <a:defRPr sz="1350" b="0">
                <a:solidFill>
                  <a:srgbClr val="526971"/>
                </a:solidFill>
                <a:latin typeface="Arial"/>
                <a:ea typeface="Arial"/>
                <a:cs typeface="Arial"/>
              </a:defRPr>
            </a:lvl8pPr>
            <a:lvl9pPr>
              <a:defRPr sz="1350" b="0">
                <a:solidFill>
                  <a:srgbClr val="526971"/>
                </a:solidFill>
                <a:latin typeface="Arial"/>
                <a:ea typeface="Arial"/>
                <a:cs typeface="Arial"/>
              </a:defRPr>
            </a:lvl9pPr>
          </a:lstStyle>
          <a:p xmlns:a="http://schemas.openxmlformats.org/drawingml/2006/main">
            <a:pPr>
              <a:defRPr sz="1350" b="0">
                <a:solidFill>
                  <a:srgbClr val="526971"/>
                </a:solidFill>
                <a:latin typeface="Arial"/>
                <a:ea typeface="Arial"/>
                <a:cs typeface="Arial"/>
              </a:defRPr>
            </a:pPr>
            <a:r>
              <a:rPr sz="1350" b="0">
                <a:solidFill>
                  <a:srgbClr val="526971"/>
                </a:solidFill>
                <a:latin typeface="Arial"/>
                <a:ea typeface="Arial"/>
                <a:cs typeface="Arial"/>
              </a:rPr>
              <a:t>6/6</a:t>
            </a:r>
          </a:p>
        </p:txBody>
      </p:sp>
      <p:sp>
        <p:nvSpPr>
          <p:cNvPr id="3" name="">
            <a:extLst xmlns:a="http://schemas.openxmlformats.org/drawingml/2006/main">
              <a:ext uri="{FF2B5EF4-FFF2-40B4-BE49-F238E27FC236}">
                <a16:creationId xmlns:a16="http://schemas.microsoft.com/office/drawing/2014/main" id="{0382ADFD-672E-403B-86C1-6FA07DC1A740}"/>
              </a:ext>
            </a:extLst>
          </p:cNvPr>
          <p:cNvSpPr>
            <a:spLocks xmlns:a="http://schemas.openxmlformats.org/drawingml/2006/main" noGrp="1"/>
          </p:cNvSpPr>
          <p:nvPr/>
        </p:nvSpPr>
        <p:spPr>
          <a:xfrm xmlns:a="http://schemas.openxmlformats.org/drawingml/2006/main">
            <a:off x="609600" y="63436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971"/>
                </a:solidFill>
                <a:latin typeface="Arial"/>
                <a:ea typeface="Arial"/>
                <a:cs typeface="Arial"/>
              </a:defRPr>
            </a:defPPr>
            <a:lvl1pPr>
              <a:defRPr sz="1200" b="0">
                <a:solidFill>
                  <a:srgbClr val="526971"/>
                </a:solidFill>
                <a:latin typeface="Arial"/>
                <a:ea typeface="Arial"/>
                <a:cs typeface="Arial"/>
              </a:defRPr>
            </a:lvl1pPr>
            <a:lvl2pPr>
              <a:defRPr sz="1200" b="0">
                <a:solidFill>
                  <a:srgbClr val="526971"/>
                </a:solidFill>
                <a:latin typeface="Arial"/>
                <a:ea typeface="Arial"/>
                <a:cs typeface="Arial"/>
              </a:defRPr>
            </a:lvl2pPr>
            <a:lvl3pPr>
              <a:defRPr sz="1200" b="0">
                <a:solidFill>
                  <a:srgbClr val="526971"/>
                </a:solidFill>
                <a:latin typeface="Arial"/>
                <a:ea typeface="Arial"/>
                <a:cs typeface="Arial"/>
              </a:defRPr>
            </a:lvl3pPr>
            <a:lvl4pPr>
              <a:defRPr sz="1200" b="0">
                <a:solidFill>
                  <a:srgbClr val="526971"/>
                </a:solidFill>
                <a:latin typeface="Arial"/>
                <a:ea typeface="Arial"/>
                <a:cs typeface="Arial"/>
              </a:defRPr>
            </a:lvl4pPr>
            <a:lvl5pPr>
              <a:defRPr sz="1200" b="0">
                <a:solidFill>
                  <a:srgbClr val="526971"/>
                </a:solidFill>
                <a:latin typeface="Arial"/>
                <a:ea typeface="Arial"/>
                <a:cs typeface="Arial"/>
              </a:defRPr>
            </a:lvl5pPr>
            <a:lvl6pPr>
              <a:defRPr sz="1200" b="0">
                <a:solidFill>
                  <a:srgbClr val="526971"/>
                </a:solidFill>
                <a:latin typeface="Arial"/>
                <a:ea typeface="Arial"/>
                <a:cs typeface="Arial"/>
              </a:defRPr>
            </a:lvl6pPr>
            <a:lvl7pPr>
              <a:defRPr sz="1200" b="0">
                <a:solidFill>
                  <a:srgbClr val="526971"/>
                </a:solidFill>
                <a:latin typeface="Arial"/>
                <a:ea typeface="Arial"/>
                <a:cs typeface="Arial"/>
              </a:defRPr>
            </a:lvl7pPr>
            <a:lvl8pPr>
              <a:defRPr sz="1200" b="0">
                <a:solidFill>
                  <a:srgbClr val="526971"/>
                </a:solidFill>
                <a:latin typeface="Arial"/>
                <a:ea typeface="Arial"/>
                <a:cs typeface="Arial"/>
              </a:defRPr>
            </a:lvl8pPr>
            <a:lvl9pPr>
              <a:defRPr sz="1200" b="0">
                <a:solidFill>
                  <a:srgbClr val="526971"/>
                </a:solidFill>
                <a:latin typeface="Arial"/>
                <a:ea typeface="Arial"/>
                <a:cs typeface="Arial"/>
              </a:defRPr>
            </a:lvl9pPr>
          </a:lstStyle>
          <a:p xmlns:a="http://schemas.openxmlformats.org/drawingml/2006/main">
            <a:pPr>
              <a:defRPr sz="1200" b="0">
                <a:solidFill>
                  <a:srgbClr val="526971"/>
                </a:solidFill>
                <a:latin typeface="Arial"/>
                <a:ea typeface="Arial"/>
                <a:cs typeface="Arial"/>
              </a:defRPr>
            </a:pPr>
            <a:r>
              <a:rPr sz="1200" b="0">
                <a:solidFill>
                  <a:srgbClr val="526971"/>
                </a:solidFill>
                <a:latin typeface="Arial"/>
                <a:ea typeface="Arial"/>
                <a:cs typeface="Arial"/>
              </a:rPr>
              <a:t>adriamasnou  /  MVA Hackathon 2026</a:t>
            </a:r>
          </a:p>
        </p:txBody>
      </p:sp>
      <p:sp>
        <p:nvSpPr>
          <p:cNvPr id="4" name="">
            <a:extLst xmlns:a="http://schemas.openxmlformats.org/drawingml/2006/main">
              <a:ext uri="{FF2B5EF4-FFF2-40B4-BE49-F238E27FC236}">
                <a16:creationId xmlns:a16="http://schemas.microsoft.com/office/drawing/2014/main" id="{C8282A43-CE61-4DC9-933D-B4C502930E1B}"/>
              </a:ext>
            </a:extLst>
          </p:cNvPr>
          <p:cNvSpPr>
            <a:spLocks xmlns:a="http://schemas.openxmlformats.org/drawingml/2006/main" noGrp="1"/>
          </p:cNvSpPr>
          <p:nvPr/>
        </p:nvSpPr>
        <p:spPr>
          <a:xfrm xmlns:a="http://schemas.openxmlformats.org/drawingml/2006/main">
            <a:off x="609600" y="1905000"/>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900" b="1">
                <a:solidFill>
                  <a:srgbClr val="176C63"/>
                </a:solidFill>
                <a:latin typeface="Arial"/>
                <a:ea typeface="Arial"/>
                <a:cs typeface="Arial"/>
              </a:defRPr>
            </a:defPPr>
            <a:lvl1pPr>
              <a:defRPr sz="3900" b="1">
                <a:solidFill>
                  <a:srgbClr val="176C63"/>
                </a:solidFill>
                <a:latin typeface="Arial"/>
                <a:ea typeface="Arial"/>
                <a:cs typeface="Arial"/>
              </a:defRPr>
            </a:lvl1pPr>
            <a:lvl2pPr>
              <a:defRPr sz="3900" b="1">
                <a:solidFill>
                  <a:srgbClr val="176C63"/>
                </a:solidFill>
                <a:latin typeface="Arial"/>
                <a:ea typeface="Arial"/>
                <a:cs typeface="Arial"/>
              </a:defRPr>
            </a:lvl2pPr>
            <a:lvl3pPr>
              <a:defRPr sz="3900" b="1">
                <a:solidFill>
                  <a:srgbClr val="176C63"/>
                </a:solidFill>
                <a:latin typeface="Arial"/>
                <a:ea typeface="Arial"/>
                <a:cs typeface="Arial"/>
              </a:defRPr>
            </a:lvl3pPr>
            <a:lvl4pPr>
              <a:defRPr sz="3900" b="1">
                <a:solidFill>
                  <a:srgbClr val="176C63"/>
                </a:solidFill>
                <a:latin typeface="Arial"/>
                <a:ea typeface="Arial"/>
                <a:cs typeface="Arial"/>
              </a:defRPr>
            </a:lvl4pPr>
            <a:lvl5pPr>
              <a:defRPr sz="3900" b="1">
                <a:solidFill>
                  <a:srgbClr val="176C63"/>
                </a:solidFill>
                <a:latin typeface="Arial"/>
                <a:ea typeface="Arial"/>
                <a:cs typeface="Arial"/>
              </a:defRPr>
            </a:lvl5pPr>
            <a:lvl6pPr>
              <a:defRPr sz="3900" b="1">
                <a:solidFill>
                  <a:srgbClr val="176C63"/>
                </a:solidFill>
                <a:latin typeface="Arial"/>
                <a:ea typeface="Arial"/>
                <a:cs typeface="Arial"/>
              </a:defRPr>
            </a:lvl6pPr>
            <a:lvl7pPr>
              <a:defRPr sz="3900" b="1">
                <a:solidFill>
                  <a:srgbClr val="176C63"/>
                </a:solidFill>
                <a:latin typeface="Arial"/>
                <a:ea typeface="Arial"/>
                <a:cs typeface="Arial"/>
              </a:defRPr>
            </a:lvl7pPr>
            <a:lvl8pPr>
              <a:defRPr sz="3900" b="1">
                <a:solidFill>
                  <a:srgbClr val="176C63"/>
                </a:solidFill>
                <a:latin typeface="Arial"/>
                <a:ea typeface="Arial"/>
                <a:cs typeface="Arial"/>
              </a:defRPr>
            </a:lvl8pPr>
            <a:lvl9pPr>
              <a:defRPr sz="3900" b="1">
                <a:solidFill>
                  <a:srgbClr val="176C63"/>
                </a:solidFill>
                <a:latin typeface="Arial"/>
                <a:ea typeface="Arial"/>
                <a:cs typeface="Arial"/>
              </a:defRPr>
            </a:lvl9pPr>
          </a:lstStyle>
          <a:p xmlns:a="http://schemas.openxmlformats.org/drawingml/2006/main">
            <a:pPr>
              <a:defRPr sz="3900" b="1">
                <a:solidFill>
                  <a:srgbClr val="176C63"/>
                </a:solidFill>
                <a:latin typeface="Arial"/>
                <a:ea typeface="Arial"/>
                <a:cs typeface="Arial"/>
              </a:defRPr>
            </a:pPr>
            <a:r>
              <a:rPr sz="3900" b="1">
                <a:solidFill>
                  <a:srgbClr val="176C63"/>
                </a:solidFill>
                <a:latin typeface="Arial"/>
                <a:ea typeface="Arial"/>
                <a:cs typeface="Arial"/>
              </a:rPr>
              <a:t>Does N1002K retain function</a:t>
            </a:r>
          </a:p>
          <a:p xmlns:a="http://schemas.openxmlformats.org/drawingml/2006/main">
            <a:pPr>
              <a:defRPr sz="3900" b="1">
                <a:solidFill>
                  <a:srgbClr val="176C63"/>
                </a:solidFill>
                <a:latin typeface="Arial"/>
                <a:ea typeface="Arial"/>
                <a:cs typeface="Arial"/>
              </a:defRPr>
            </a:pPr>
            <a:r>
              <a:rPr sz="3900" b="1">
                <a:solidFill>
                  <a:srgbClr val="176C63"/>
                </a:solidFill>
                <a:latin typeface="Arial"/>
                <a:ea typeface="Arial"/>
                <a:cs typeface="Arial"/>
              </a:rPr>
              <a:t>that arimoclomol can rescue?</a:t>
            </a:r>
          </a:p>
        </p:txBody>
      </p:sp>
      <p:sp>
        <p:nvSpPr>
          <p:cNvPr id="5" name="">
            <a:extLst xmlns:a="http://schemas.openxmlformats.org/drawingml/2006/main">
              <a:ext uri="{FF2B5EF4-FFF2-40B4-BE49-F238E27FC236}">
                <a16:creationId xmlns:a16="http://schemas.microsoft.com/office/drawing/2014/main" id="{6A473AAB-27FB-4F1A-85E8-A14FC2D1517C}"/>
              </a:ext>
            </a:extLst>
          </p:cNvPr>
          <p:cNvSpPr>
            <a:spLocks xmlns:a="http://schemas.openxmlformats.org/drawingml/2006/main" noGrp="1"/>
          </p:cNvSpPr>
          <p:nvPr/>
        </p:nvSpPr>
        <p:spPr>
          <a:xfrm xmlns:a="http://schemas.openxmlformats.org/drawingml/2006/main">
            <a:off x="609600" y="3952875"/>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1">
                <a:solidFill>
                  <a:srgbClr val="17333E"/>
                </a:solidFill>
                <a:latin typeface="Arial"/>
                <a:ea typeface="Arial"/>
                <a:cs typeface="Arial"/>
              </a:defRPr>
            </a:defPPr>
            <a:lvl1pPr>
              <a:defRPr sz="2550" b="1">
                <a:solidFill>
                  <a:srgbClr val="17333E"/>
                </a:solidFill>
                <a:latin typeface="Arial"/>
                <a:ea typeface="Arial"/>
                <a:cs typeface="Arial"/>
              </a:defRPr>
            </a:lvl1pPr>
            <a:lvl2pPr>
              <a:defRPr sz="2550" b="1">
                <a:solidFill>
                  <a:srgbClr val="17333E"/>
                </a:solidFill>
                <a:latin typeface="Arial"/>
                <a:ea typeface="Arial"/>
                <a:cs typeface="Arial"/>
              </a:defRPr>
            </a:lvl2pPr>
            <a:lvl3pPr>
              <a:defRPr sz="2550" b="1">
                <a:solidFill>
                  <a:srgbClr val="17333E"/>
                </a:solidFill>
                <a:latin typeface="Arial"/>
                <a:ea typeface="Arial"/>
                <a:cs typeface="Arial"/>
              </a:defRPr>
            </a:lvl3pPr>
            <a:lvl4pPr>
              <a:defRPr sz="2550" b="1">
                <a:solidFill>
                  <a:srgbClr val="17333E"/>
                </a:solidFill>
                <a:latin typeface="Arial"/>
                <a:ea typeface="Arial"/>
                <a:cs typeface="Arial"/>
              </a:defRPr>
            </a:lvl4pPr>
            <a:lvl5pPr>
              <a:defRPr sz="2550" b="1">
                <a:solidFill>
                  <a:srgbClr val="17333E"/>
                </a:solidFill>
                <a:latin typeface="Arial"/>
                <a:ea typeface="Arial"/>
                <a:cs typeface="Arial"/>
              </a:defRPr>
            </a:lvl5pPr>
            <a:lvl6pPr>
              <a:defRPr sz="2550" b="1">
                <a:solidFill>
                  <a:srgbClr val="17333E"/>
                </a:solidFill>
                <a:latin typeface="Arial"/>
                <a:ea typeface="Arial"/>
                <a:cs typeface="Arial"/>
              </a:defRPr>
            </a:lvl6pPr>
            <a:lvl7pPr>
              <a:defRPr sz="2550" b="1">
                <a:solidFill>
                  <a:srgbClr val="17333E"/>
                </a:solidFill>
                <a:latin typeface="Arial"/>
                <a:ea typeface="Arial"/>
                <a:cs typeface="Arial"/>
              </a:defRPr>
            </a:lvl7pPr>
            <a:lvl8pPr>
              <a:defRPr sz="2550" b="1">
                <a:solidFill>
                  <a:srgbClr val="17333E"/>
                </a:solidFill>
                <a:latin typeface="Arial"/>
                <a:ea typeface="Arial"/>
                <a:cs typeface="Arial"/>
              </a:defRPr>
            </a:lvl8pPr>
            <a:lvl9pPr>
              <a:defRPr sz="2550" b="1">
                <a:solidFill>
                  <a:srgbClr val="17333E"/>
                </a:solidFill>
                <a:latin typeface="Arial"/>
                <a:ea typeface="Arial"/>
                <a:cs typeface="Arial"/>
              </a:defRPr>
            </a:lvl9pPr>
          </a:lstStyle>
          <a:p xmlns:a="http://schemas.openxmlformats.org/drawingml/2006/main">
            <a:pPr>
              <a:defRPr sz="2550" b="1">
                <a:solidFill>
                  <a:srgbClr val="17333E"/>
                </a:solidFill>
                <a:latin typeface="Arial"/>
                <a:ea typeface="Arial"/>
                <a:cs typeface="Arial"/>
              </a:defRPr>
            </a:pPr>
            <a:r>
              <a:rPr sz="2550" b="1">
                <a:solidFill>
                  <a:srgbClr val="17333E"/>
                </a:solidFill>
                <a:latin typeface="Arial"/>
                <a:ea typeface="Arial"/>
                <a:cs typeface="Arial"/>
              </a:rPr>
              <a:t>Delivered now</a:t>
            </a:r>
          </a:p>
        </p:txBody>
      </p:sp>
      <p:sp>
        <p:nvSpPr>
          <p:cNvPr id="6" name="">
            <a:extLst xmlns:a="http://schemas.openxmlformats.org/drawingml/2006/main">
              <a:ext uri="{FF2B5EF4-FFF2-40B4-BE49-F238E27FC236}">
                <a16:creationId xmlns:a16="http://schemas.microsoft.com/office/drawing/2014/main" id="{E0EB1513-8980-49DC-A425-6015282F326F}"/>
              </a:ext>
            </a:extLst>
          </p:cNvPr>
          <p:cNvSpPr>
            <a:spLocks xmlns:a="http://schemas.openxmlformats.org/drawingml/2006/main" noGrp="1"/>
          </p:cNvSpPr>
          <p:nvPr/>
        </p:nvSpPr>
        <p:spPr>
          <a:xfrm xmlns:a="http://schemas.openxmlformats.org/drawingml/2006/main">
            <a:off x="609600" y="4572000"/>
            <a:ext cx="5048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7333E"/>
                </a:solidFill>
                <a:latin typeface="Arial"/>
                <a:ea typeface="Arial"/>
                <a:cs typeface="Arial"/>
              </a:defRPr>
            </a:defPPr>
            <a:lvl1pPr>
              <a:defRPr sz="2250" b="0">
                <a:solidFill>
                  <a:srgbClr val="17333E"/>
                </a:solidFill>
                <a:latin typeface="Arial"/>
                <a:ea typeface="Arial"/>
                <a:cs typeface="Arial"/>
              </a:defRPr>
            </a:lvl1pPr>
            <a:lvl2pPr>
              <a:defRPr sz="2250" b="0">
                <a:solidFill>
                  <a:srgbClr val="17333E"/>
                </a:solidFill>
                <a:latin typeface="Arial"/>
                <a:ea typeface="Arial"/>
                <a:cs typeface="Arial"/>
              </a:defRPr>
            </a:lvl2pPr>
            <a:lvl3pPr>
              <a:defRPr sz="2250" b="0">
                <a:solidFill>
                  <a:srgbClr val="17333E"/>
                </a:solidFill>
                <a:latin typeface="Arial"/>
                <a:ea typeface="Arial"/>
                <a:cs typeface="Arial"/>
              </a:defRPr>
            </a:lvl3pPr>
            <a:lvl4pPr>
              <a:defRPr sz="2250" b="0">
                <a:solidFill>
                  <a:srgbClr val="17333E"/>
                </a:solidFill>
                <a:latin typeface="Arial"/>
                <a:ea typeface="Arial"/>
                <a:cs typeface="Arial"/>
              </a:defRPr>
            </a:lvl4pPr>
            <a:lvl5pPr>
              <a:defRPr sz="2250" b="0">
                <a:solidFill>
                  <a:srgbClr val="17333E"/>
                </a:solidFill>
                <a:latin typeface="Arial"/>
                <a:ea typeface="Arial"/>
                <a:cs typeface="Arial"/>
              </a:defRPr>
            </a:lvl5pPr>
            <a:lvl6pPr>
              <a:defRPr sz="2250" b="0">
                <a:solidFill>
                  <a:srgbClr val="17333E"/>
                </a:solidFill>
                <a:latin typeface="Arial"/>
                <a:ea typeface="Arial"/>
                <a:cs typeface="Arial"/>
              </a:defRPr>
            </a:lvl6pPr>
            <a:lvl7pPr>
              <a:defRPr sz="2250" b="0">
                <a:solidFill>
                  <a:srgbClr val="17333E"/>
                </a:solidFill>
                <a:latin typeface="Arial"/>
                <a:ea typeface="Arial"/>
                <a:cs typeface="Arial"/>
              </a:defRPr>
            </a:lvl7pPr>
            <a:lvl8pPr>
              <a:defRPr sz="2250" b="0">
                <a:solidFill>
                  <a:srgbClr val="17333E"/>
                </a:solidFill>
                <a:latin typeface="Arial"/>
                <a:ea typeface="Arial"/>
                <a:cs typeface="Arial"/>
              </a:defRPr>
            </a:lvl8pPr>
            <a:lvl9pPr>
              <a:defRPr sz="2250" b="0">
                <a:solidFill>
                  <a:srgbClr val="17333E"/>
                </a:solidFill>
                <a:latin typeface="Arial"/>
                <a:ea typeface="Arial"/>
                <a:cs typeface="Arial"/>
              </a:defRPr>
            </a:lvl9pPr>
          </a:lstStyle>
          <a:p xmlns:a="http://schemas.openxmlformats.org/drawingml/2006/main">
            <a:pPr>
              <a:defRPr sz="2250" b="0">
                <a:solidFill>
                  <a:srgbClr val="17333E"/>
                </a:solidFill>
                <a:latin typeface="Arial"/>
                <a:ea typeface="Arial"/>
                <a:cs typeface="Arial"/>
              </a:defRPr>
            </a:pPr>
            <a:r>
              <a:rPr sz="2250" b="0">
                <a:solidFill>
                  <a:srgbClr val="17333E"/>
                </a:solidFill>
                <a:latin typeface="Arial"/>
                <a:ea typeface="Arial"/>
                <a:cs typeface="Arial"/>
              </a:rPr>
              <a:t>Code, source trail and</a:t>
            </a:r>
          </a:p>
          <a:p xmlns:a="http://schemas.openxmlformats.org/drawingml/2006/main">
            <a:pPr>
              <a:defRPr sz="2250" b="0">
                <a:solidFill>
                  <a:srgbClr val="17333E"/>
                </a:solidFill>
                <a:latin typeface="Arial"/>
                <a:ea typeface="Arial"/>
                <a:cs typeface="Arial"/>
              </a:defRPr>
            </a:pPr>
            <a:r>
              <a:rPr sz="2250" b="0">
                <a:solidFill>
                  <a:srgbClr val="17333E"/>
                </a:solidFill>
                <a:latin typeface="Arial"/>
                <a:ea typeface="Arial"/>
                <a:cs typeface="Arial"/>
              </a:rPr>
              <a:t>a proposed laboratory protocol</a:t>
            </a:r>
          </a:p>
        </p:txBody>
      </p:sp>
      <p:sp>
        <p:nvSpPr>
          <p:cNvPr id="7" name="">
            <a:extLst xmlns:a="http://schemas.openxmlformats.org/drawingml/2006/main">
              <a:ext uri="{FF2B5EF4-FFF2-40B4-BE49-F238E27FC236}">
                <a16:creationId xmlns:a16="http://schemas.microsoft.com/office/drawing/2014/main" id="{E9897986-353D-45A1-9DFE-8CF319399A2B}"/>
              </a:ext>
            </a:extLst>
          </p:cNvPr>
          <p:cNvSpPr>
            <a:spLocks xmlns:a="http://schemas.openxmlformats.org/drawingml/2006/main" noGrp="1"/>
          </p:cNvSpPr>
          <p:nvPr/>
        </p:nvSpPr>
        <p:spPr>
          <a:xfrm xmlns:a="http://schemas.openxmlformats.org/drawingml/2006/main">
            <a:off x="6477000" y="3952875"/>
            <a:ext cx="5048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1">
                <a:solidFill>
                  <a:srgbClr val="17333E"/>
                </a:solidFill>
                <a:latin typeface="Arial"/>
                <a:ea typeface="Arial"/>
                <a:cs typeface="Arial"/>
              </a:defRPr>
            </a:defPPr>
            <a:lvl1pPr>
              <a:defRPr sz="2550" b="1">
                <a:solidFill>
                  <a:srgbClr val="17333E"/>
                </a:solidFill>
                <a:latin typeface="Arial"/>
                <a:ea typeface="Arial"/>
                <a:cs typeface="Arial"/>
              </a:defRPr>
            </a:lvl1pPr>
            <a:lvl2pPr>
              <a:defRPr sz="2550" b="1">
                <a:solidFill>
                  <a:srgbClr val="17333E"/>
                </a:solidFill>
                <a:latin typeface="Arial"/>
                <a:ea typeface="Arial"/>
                <a:cs typeface="Arial"/>
              </a:defRPr>
            </a:lvl2pPr>
            <a:lvl3pPr>
              <a:defRPr sz="2550" b="1">
                <a:solidFill>
                  <a:srgbClr val="17333E"/>
                </a:solidFill>
                <a:latin typeface="Arial"/>
                <a:ea typeface="Arial"/>
                <a:cs typeface="Arial"/>
              </a:defRPr>
            </a:lvl3pPr>
            <a:lvl4pPr>
              <a:defRPr sz="2550" b="1">
                <a:solidFill>
                  <a:srgbClr val="17333E"/>
                </a:solidFill>
                <a:latin typeface="Arial"/>
                <a:ea typeface="Arial"/>
                <a:cs typeface="Arial"/>
              </a:defRPr>
            </a:lvl4pPr>
            <a:lvl5pPr>
              <a:defRPr sz="2550" b="1">
                <a:solidFill>
                  <a:srgbClr val="17333E"/>
                </a:solidFill>
                <a:latin typeface="Arial"/>
                <a:ea typeface="Arial"/>
                <a:cs typeface="Arial"/>
              </a:defRPr>
            </a:lvl5pPr>
            <a:lvl6pPr>
              <a:defRPr sz="2550" b="1">
                <a:solidFill>
                  <a:srgbClr val="17333E"/>
                </a:solidFill>
                <a:latin typeface="Arial"/>
                <a:ea typeface="Arial"/>
                <a:cs typeface="Arial"/>
              </a:defRPr>
            </a:lvl6pPr>
            <a:lvl7pPr>
              <a:defRPr sz="2550" b="1">
                <a:solidFill>
                  <a:srgbClr val="17333E"/>
                </a:solidFill>
                <a:latin typeface="Arial"/>
                <a:ea typeface="Arial"/>
                <a:cs typeface="Arial"/>
              </a:defRPr>
            </a:lvl7pPr>
            <a:lvl8pPr>
              <a:defRPr sz="2550" b="1">
                <a:solidFill>
                  <a:srgbClr val="17333E"/>
                </a:solidFill>
                <a:latin typeface="Arial"/>
                <a:ea typeface="Arial"/>
                <a:cs typeface="Arial"/>
              </a:defRPr>
            </a:lvl8pPr>
            <a:lvl9pPr>
              <a:defRPr sz="2550" b="1">
                <a:solidFill>
                  <a:srgbClr val="17333E"/>
                </a:solidFill>
                <a:latin typeface="Arial"/>
                <a:ea typeface="Arial"/>
                <a:cs typeface="Arial"/>
              </a:defRPr>
            </a:lvl9pPr>
          </a:lstStyle>
          <a:p xmlns:a="http://schemas.openxmlformats.org/drawingml/2006/main">
            <a:pPr>
              <a:defRPr sz="2550" b="1">
                <a:solidFill>
                  <a:srgbClr val="17333E"/>
                </a:solidFill>
                <a:latin typeface="Arial"/>
                <a:ea typeface="Arial"/>
                <a:cs typeface="Arial"/>
              </a:defRPr>
            </a:pPr>
            <a:r>
              <a:rPr sz="2550" b="1">
                <a:solidFill>
                  <a:srgbClr val="17333E"/>
                </a:solidFill>
                <a:latin typeface="Arial"/>
                <a:ea typeface="Arial"/>
                <a:cs typeface="Arial"/>
              </a:rPr>
              <a:t>Evidence still needed</a:t>
            </a:r>
          </a:p>
        </p:txBody>
      </p:sp>
      <p:sp>
        <p:nvSpPr>
          <p:cNvPr id="8" name="">
            <a:extLst xmlns:a="http://schemas.openxmlformats.org/drawingml/2006/main">
              <a:ext uri="{FF2B5EF4-FFF2-40B4-BE49-F238E27FC236}">
                <a16:creationId xmlns:a16="http://schemas.microsoft.com/office/drawing/2014/main" id="{B225B3AD-8A3A-4357-95AE-2C69EB7D5FD5}"/>
              </a:ext>
            </a:extLst>
          </p:cNvPr>
          <p:cNvSpPr>
            <a:spLocks xmlns:a="http://schemas.openxmlformats.org/drawingml/2006/main" noGrp="1"/>
          </p:cNvSpPr>
          <p:nvPr/>
        </p:nvSpPr>
        <p:spPr>
          <a:xfrm xmlns:a="http://schemas.openxmlformats.org/drawingml/2006/main">
            <a:off x="6477000" y="4572000"/>
            <a:ext cx="5048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7333E"/>
                </a:solidFill>
                <a:latin typeface="Arial"/>
                <a:ea typeface="Arial"/>
                <a:cs typeface="Arial"/>
              </a:defRPr>
            </a:defPPr>
            <a:lvl1pPr>
              <a:defRPr sz="2250" b="0">
                <a:solidFill>
                  <a:srgbClr val="17333E"/>
                </a:solidFill>
                <a:latin typeface="Arial"/>
                <a:ea typeface="Arial"/>
                <a:cs typeface="Arial"/>
              </a:defRPr>
            </a:lvl1pPr>
            <a:lvl2pPr>
              <a:defRPr sz="2250" b="0">
                <a:solidFill>
                  <a:srgbClr val="17333E"/>
                </a:solidFill>
                <a:latin typeface="Arial"/>
                <a:ea typeface="Arial"/>
                <a:cs typeface="Arial"/>
              </a:defRPr>
            </a:lvl2pPr>
            <a:lvl3pPr>
              <a:defRPr sz="2250" b="0">
                <a:solidFill>
                  <a:srgbClr val="17333E"/>
                </a:solidFill>
                <a:latin typeface="Arial"/>
                <a:ea typeface="Arial"/>
                <a:cs typeface="Arial"/>
              </a:defRPr>
            </a:lvl3pPr>
            <a:lvl4pPr>
              <a:defRPr sz="2250" b="0">
                <a:solidFill>
                  <a:srgbClr val="17333E"/>
                </a:solidFill>
                <a:latin typeface="Arial"/>
                <a:ea typeface="Arial"/>
                <a:cs typeface="Arial"/>
              </a:defRPr>
            </a:lvl4pPr>
            <a:lvl5pPr>
              <a:defRPr sz="2250" b="0">
                <a:solidFill>
                  <a:srgbClr val="17333E"/>
                </a:solidFill>
                <a:latin typeface="Arial"/>
                <a:ea typeface="Arial"/>
                <a:cs typeface="Arial"/>
              </a:defRPr>
            </a:lvl5pPr>
            <a:lvl6pPr>
              <a:defRPr sz="2250" b="0">
                <a:solidFill>
                  <a:srgbClr val="17333E"/>
                </a:solidFill>
                <a:latin typeface="Arial"/>
                <a:ea typeface="Arial"/>
                <a:cs typeface="Arial"/>
              </a:defRPr>
            </a:lvl6pPr>
            <a:lvl7pPr>
              <a:defRPr sz="2250" b="0">
                <a:solidFill>
                  <a:srgbClr val="17333E"/>
                </a:solidFill>
                <a:latin typeface="Arial"/>
                <a:ea typeface="Arial"/>
                <a:cs typeface="Arial"/>
              </a:defRPr>
            </a:lvl7pPr>
            <a:lvl8pPr>
              <a:defRPr sz="2250" b="0">
                <a:solidFill>
                  <a:srgbClr val="17333E"/>
                </a:solidFill>
                <a:latin typeface="Arial"/>
                <a:ea typeface="Arial"/>
                <a:cs typeface="Arial"/>
              </a:defRPr>
            </a:lvl8pPr>
            <a:lvl9pPr>
              <a:defRPr sz="2250" b="0">
                <a:solidFill>
                  <a:srgbClr val="17333E"/>
                </a:solidFill>
                <a:latin typeface="Arial"/>
                <a:ea typeface="Arial"/>
                <a:cs typeface="Arial"/>
              </a:defRPr>
            </a:lvl9pPr>
          </a:lstStyle>
          <a:p xmlns:a="http://schemas.openxmlformats.org/drawingml/2006/main">
            <a:pPr>
              <a:defRPr sz="2250" b="0">
                <a:solidFill>
                  <a:srgbClr val="17333E"/>
                </a:solidFill>
                <a:latin typeface="Arial"/>
                <a:ea typeface="Arial"/>
                <a:cs typeface="Arial"/>
              </a:defRPr>
            </a:pPr>
            <a:r>
              <a:rPr sz="2250" b="0">
                <a:solidFill>
                  <a:srgbClr val="17333E"/>
                </a:solidFill>
                <a:latin typeface="Arial"/>
                <a:ea typeface="Arial"/>
                <a:cs typeface="Arial"/>
              </a:rPr>
              <a:t>Independent functional rescue</a:t>
            </a:r>
          </a:p>
          <a:p xmlns:a="http://schemas.openxmlformats.org/drawingml/2006/main">
            <a:pPr>
              <a:defRPr sz="2250" b="0">
                <a:solidFill>
                  <a:srgbClr val="17333E"/>
                </a:solidFill>
                <a:latin typeface="Arial"/>
                <a:ea typeface="Arial"/>
                <a:cs typeface="Arial"/>
              </a:defRPr>
            </a:pPr>
            <a:r>
              <a:rPr sz="2250" b="0">
                <a:solidFill>
                  <a:srgbClr val="17333E"/>
                </a:solidFill>
                <a:latin typeface="Arial"/>
                <a:ea typeface="Arial"/>
                <a:cs typeface="Arial"/>
              </a:rPr>
              <a:t>at relevant exposure</a:t>
            </a:r>
          </a:p>
        </p:txBody>
      </p:sp>
    </p:spTree>
    <p:extLst>
      <p:ext uri="{BB962C8B-B14F-4D97-AF65-F5344CB8AC3E}">
        <p14:creationId xmlns:p14="http://schemas.microsoft.com/office/powerpoint/2010/main" val="8147170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2026-10-23T19:10:27.0720000Z</dcterms:created>
  <dcterms:modified xsi:type="dcterms:W3CDTF">2026-10-23T19:10:27.0720000Z</dcterms:modified>
</coreProperties>
</file>